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افتتاح العرض، تحديد الهوية المؤسسية للمشروع، وإبراز التكامل بين مركزي تاجوراء وبنغازي تحت مظلة مؤسسة الطاقة الذرية.</a:t>
            </a:r>
          </a:p>
          <a:p/>
          <a:p>
            <a:r>
              <a:t>⏱️ التوقيت الموصى به: 00:30</a:t>
            </a:r>
          </a:p>
          <a:p/>
          <a:p>
            <a:r>
              <a:t>🎙️ نص الإلقاء المقترح (Script):</a:t>
            </a:r>
          </a:p>
          <a:p>
            <a:r>
              <a:t>السيد رئيس وأعضاء اللجنة العلمية المحترمون، السلام عليكم ورحمة الله وبركاته. يعرض هذا المشروع مساراً مؤسسياً موحداً يجمع بين تطوير البنية الفنية والمترولوجية للمعايرة بالتوازي مع بناء منظومات رقمية رصينة للتوثيق والتحقق وحصر المصادر المشعة وتتبعها، كعمل مشترك يربط بين مركز البحوث النووية بتاجوراء ومركز القياسات الإشعاعية والتدريب ببنغازي.</a:t>
            </a:r>
          </a:p>
          <a:p/>
          <a:p>
            <a:r>
              <a:t>🔑 الرسالة المحورية: مشروع مؤسسي تكاملي ذو مسارين: مسار فني مترولوجي ومسار رقمي لحوكمة المعايرة والمصادر.</a:t>
            </a:r>
          </a:p>
          <a:p/>
          <a:p>
            <a:r>
              <a:t>➡️ الانتقال للشريحة التالية: الانتقال إلى استعراض نطاق المشروع والبنية التحتية الفنية القائمة في قسم المعايرة.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إبراز أن المشروع يستند إلى بنية فنية متكاملة تغطي المعايرة، الجرعات الشخصية، والتوثيق، وليس مجرد تطبيق برمجي معزول.</a:t>
            </a:r>
          </a:p>
          <a:p/>
          <a:p>
            <a:r>
              <a:t>⏱️ التوقيت الموصى به: 00:40</a:t>
            </a:r>
          </a:p>
          <a:p/>
          <a:p>
            <a:r>
              <a:t>🎙️ نص الإلقاء المقترح (Script):</a:t>
            </a:r>
          </a:p>
          <a:p>
            <a:r>
              <a:t>يقوم هذا المشروع على قاعدة فنية قائمة بقسم المعايرة وقياس وتقدير الجرعات الشخصية بمركز البحوث النووية، والذي يضم وحدتين أساسيتين: وحدة المعايرة بمكوناتها الفنية، ووحدة الجرعات الشخصية المعتمدة على تقنية TLD، بالإضافة إلى محور التوثيق وإدارة السجلات الفنية. نطاق المشروع هنا يغطي الدورة التشغيلية الكاملة لهذه الركائز.</a:t>
            </a:r>
          </a:p>
          <a:p/>
          <a:p>
            <a:r>
              <a:t>🔑 الرسالة المحورية: المشروع يغطي منظومة عمل مترولوجية كاملة تجمع بين دقة القياس، الوقاية، والتوثيق.</a:t>
            </a:r>
          </a:p>
          <a:p/>
          <a:p>
            <a:r>
              <a:t>➡️ الانتقال للشريحة التالية: الانتقال إلى توضيح الدور المرجعي للمختبر الوطني للمعايرة.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ترسيخ الدور المرجعي لمختبر SSDL وأهمية التتبع المترولوجي كأساس لا غنى عنه قبل أي مشروع رقمي.</a:t>
            </a:r>
          </a:p>
          <a:p/>
          <a:p>
            <a:r>
              <a:t>⏱️ التوقيت الموصى به: 00:45</a:t>
            </a:r>
          </a:p>
          <a:p/>
          <a:p>
            <a:r>
              <a:t>🎙️ نص الإلقاء المقترح (Script):</a:t>
            </a:r>
          </a:p>
          <a:p>
            <a:r>
              <a:t>يمثل مختبر المعايير الثانوية للجرعات SSDL الركيزة الوطنية الأساسية للقياسات الإشعاعية. والرسالة الجوهرية هنا هي أن أي تحول رقمي لا قيمة تشغيلية له ما لم يكن مبنياً على عملية قياس مرجعية موثوقة وقابلة للتتبع المترولوجي Traceability وبالتعاون الوثيق مع معايير الوكالة الدولية للطاقة الذرية IAEA.</a:t>
            </a:r>
          </a:p>
          <a:p/>
          <a:p>
            <a:r>
              <a:t>🔑 الرسالة المحورية: الرقمنة الموثوقة تبدأ من قياس فيزيائي مرجعي وقابل للتتبع.</a:t>
            </a:r>
          </a:p>
          <a:p/>
          <a:p>
            <a:r>
              <a:t>➡️ الانتقال للشريحة التالية: الانتقال إلى الإمكانات والتجهيزات الفعلية للمختبر.</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إثبات توفر الإمكانات المخبرية الحقيقية على أرض الواقع بالصور الواقعية دون إغراق اللجنة بمواصفات تقنية معقدة.</a:t>
            </a:r>
          </a:p>
          <a:p/>
          <a:p>
            <a:r>
              <a:t>⏱️ التوقيت الموصى به: 00:45</a:t>
            </a:r>
          </a:p>
          <a:p/>
          <a:p>
            <a:r>
              <a:t>🎙️ نص الإلقاء المقترح (Script):</a:t>
            </a:r>
          </a:p>
          <a:p>
            <a:r>
              <a:t>يمتلك المختبر تجهيزات متقدمة ومكتملة تشمل جهاز PTW UNIDOS لقياس التأين المرجعي، ومسار المعايرة الميكانيكي المجهز بأشعة الليزر لوحدة الكوبالت-60، بالإضافة إلى فانتوم الماء المعياري وكواشف المسح الميداني. هذه التجهيزات تمثل الأساس المادي الذي بُني عليه التطوير الإجرائي والرقمي.</a:t>
            </a:r>
          </a:p>
          <a:p/>
          <a:p>
            <a:r>
              <a:t>🔑 الرسالة المحورية: المختبر يمتلك بنية تحتية مادية متقدمة جاهزة للمعايرة والقياس المرجعي.</a:t>
            </a:r>
          </a:p>
          <a:p/>
          <a:p>
            <a:r>
              <a:t>➡️ الانتقال للشريحة التالية: الانتقال إلى تشخيص الفجوات التشغيلية التي استهدفها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تشخيص علمي هادئ وموضوعي للفجوات التشغيلية السابقة دون لغة سلبية مبالغ فيها، لبناء مبرر صلب للحلول المنفذة.</a:t>
            </a:r>
          </a:p>
          <a:p/>
          <a:p>
            <a:r>
              <a:t>⏱️ التوقيت الموصى به: 00:50</a:t>
            </a:r>
          </a:p>
          <a:p/>
          <a:p>
            <a:r>
              <a:t>🎙️ نص الإلقاء المقترح (Script):</a:t>
            </a:r>
          </a:p>
          <a:p>
            <a:r>
              <a:t>انطلق مشروع التطوير من تشخيص واقعي لخمس فجوات تشغيلية رئيسية: تشتت السجلات الورقية، بطء الاسترجاع التقليدي، صعوبة التحقق الميداني الفوري من الشهادات الصادرة، غياب الإنذار المبكر للأجهزة منتهية المعايرة، والحاجة لنظام رقمي محكم لتتبع المصادر المشعة وحساب نشاطها آلياً. معالجة هذه التحديات كانت نقطة الانطلاق للتطوير الفني والرقمي.</a:t>
            </a:r>
          </a:p>
          <a:p/>
          <a:p>
            <a:r>
              <a:t>🔑 الرسالة المحورية: التشخيص الدقيق للفجوات هو الذي حدد مخرجات التطوير الفني والرقمي.</a:t>
            </a:r>
          </a:p>
          <a:p/>
          <a:p>
            <a:r>
              <a:t>➡️ الانتقال للشريحة التالية: الانتقال إلى الخطوة الأولى في الحل: إعادة هندسة دورة شهادة المعايرة.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توضيح النقلة النوعية في إعادة هندسة دورة الشهادة قبل بناء المنظومة الرقمية، مع الالتزام بالصياغة الدقيقة حول ISO/IEC 17025.</a:t>
            </a:r>
          </a:p>
          <a:p/>
          <a:p>
            <a:r>
              <a:t>⏱️ التوقيت الموصى به: 00:55</a:t>
            </a:r>
          </a:p>
          <a:p/>
          <a:p>
            <a:r>
              <a:t>🎙️ نص الإلقاء المقترح (Script):</a:t>
            </a:r>
          </a:p>
          <a:p>
            <a:r>
              <a:t>قبل الشروع في أي كتابة برمجية، بدأنا بإعادة هندسة شهادة المعايرة نفسها من الناحية العلمية والمترولوجية: تنظيم بيانات الأجهزة، توحيد جداول النتائج ومعاملات التصحيح، وتهيئة البنية الفنية والوثائقية لتتوافق مع متطلبات المواصفة الدولية ISO/IEC 17025:2017. هذا التطوير حوّل الشهادة من مجرد ورقة مطبوعة منفصلة إلى وثيقة رقمية موحدة ذات هوية فريدة وقابلة للتحقق المباشر.</a:t>
            </a:r>
          </a:p>
          <a:p/>
          <a:p>
            <a:r>
              <a:t>🔑 الرسالة المحورية: تطوير الشهادة فكرياً وعلمياً كان الأساس المتين الذي بنيت عليه المنظومة الرقمية.</a:t>
            </a:r>
          </a:p>
          <a:p/>
          <a:p>
            <a:r>
              <a:t>➡️ الانتقال للشريحة التالية: الانتقال إلى تطوير القدرات المرجعية لمعايرة أنظمة العلاج الإشعاعي.</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إبراز التقدم الملموس في إعادة تأهيل وتجهيز وحدة معايرة العلاج الإشعاعي بعد توفير غرفة فارمر، مع استخدام الصياغة الدقيقة 'إعادة التأهيل والتجهيز'.</a:t>
            </a:r>
          </a:p>
          <a:p/>
          <a:p>
            <a:r>
              <a:t>⏱️ التوقيت الموصى به: 00:50</a:t>
            </a:r>
          </a:p>
          <a:p/>
          <a:p>
            <a:r>
              <a:t>🎙️ نص الإلقاء المقترح (Script):</a:t>
            </a:r>
          </a:p>
          <a:p>
            <a:r>
              <a:t>شهد الجانب المترولوجي إنجازاً هاماً تمثل في إعادة تأهيل وتجهيز وحدة معايرة أنظمة العلاج الإشعاعي، بعد أن كانت متوقفة لعدم توفر غرفة التأين المرجعية Farmer Chamber. بعد توفير هذه الغرفة المعيارية، تم استكمال سلسلة القياس المرجعية بربط فانتوم الماء وغرفة التأين وجهاز الإلكتروميتر ومسار الليزر، ومواءمة بروتوكولات الفحص الفني تمهيداً لإعادة التشغيل الكامل للوحدة.</a:t>
            </a:r>
          </a:p>
          <a:p/>
          <a:p>
            <a:r>
              <a:t>🔑 الرسالة المحورية: اكتمال سلسلة التجهيزات المرجعية لمعايرة العلاج الإشعاعي يمثل استعادة لقدرة وطنية حيوية.</a:t>
            </a:r>
          </a:p>
          <a:p/>
          <a:p>
            <a:r>
              <a:t>➡️ الانتقال للشريحة التالية: تسليم الكلمة والانتقال إلى محور العرض المركزي: التحول الرقمي.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الشريحة المحورية في العرض: تسليم الحديث بطريقة مهنية مدروسة وربط الجانب المترولوجي بالجانب الرقمي.</a:t>
            </a:r>
          </a:p>
          <a:p/>
          <a:p>
            <a:r>
              <a:t>⏱️ التوقيت الموصى به: 00:25</a:t>
            </a:r>
          </a:p>
          <a:p/>
          <a:p>
            <a:r>
              <a:t>🎙️ نص الإلقاء المقترح (Script):</a:t>
            </a:r>
          </a:p>
          <a:p>
            <a:r>
              <a:t>م. رضا يختم حديثه قائلاً: «بعد أن قمنا بتطوير الجانب الفني والمرجعي للمعايرة وإعادة هندسة الشهادة، أصبح التحدي التالي هو: كيف نحافظ على هذه القيمة داخل دورة عمل رقمية موثوقة وقابلة للتتبع والتحقق؟ وهنا بدأ التعاون المشترك مع الزميل م. إدريس فتح الله الهري لبناء المنظومات الرقمية.»</a:t>
            </a:r>
          </a:p>
          <a:p/>
          <a:p>
            <a:r>
              <a:t>ثم يبدأ م. إدريس مباشرة: «من هنا بدأت المرحلة الرقمية للمشروع، بتحويل إجراءات المعايرة وحصر المصادر من عمليات ورقية متفرقة إلى منظومات رقمية مترابطة تضمن سيادة البيانات وموثوقيتها.»</a:t>
            </a:r>
          </a:p>
          <a:p/>
          <a:p>
            <a:r>
              <a:t>🔑 الرسالة المحورية: نحن لا نرقمن ورقة، بل نرقمن دورة العمل كاملة من القياس إلى التحقق والتتبع.</a:t>
            </a:r>
          </a:p>
          <a:p/>
          <a:p>
            <a:r>
              <a:t>➡️ الانتقال للشريحة التالية: بدء استعراض منظومة CAL-QR مع المهندس إدريس.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تقديم منظومة CAL-QR كحل متكامل لدورة حياة الشهادة يركز على (إنشاء - توثيق - إصدار - تحقق - أرشفة).</a:t>
            </a:r>
          </a:p>
          <a:p/>
          <a:p>
            <a:r>
              <a:t>⏱️ التوقيت الموصى به: 00:50</a:t>
            </a:r>
          </a:p>
          <a:p/>
          <a:p>
            <a:r>
              <a:t>🎙️ نص الإلقاء المقترح (Script):</a:t>
            </a:r>
          </a:p>
          <a:p>
            <a:r>
              <a:t>تم تصميم وتطوير منظومة CAL-QR كمنصة رقمية متخصصة لمعالجة دورة حياة شهادة المعايرة بالكامل. المنظومة تجيب على التحدي التشغيلي الأكبر: الورق يثبت ما طُبع، لكنه لا يكشف ما تغير بعده. من خلال CAL-QR، نقوم بإدخال البيانات وحساب النتائج، إصدار نسخة تاريخية محمية، وأرشفة الشهادة مع رمز QR يتيح التحقق الفوري في الميدان دون الحاجة للاعتماد على وثائق ورقية متفرقة.</a:t>
            </a:r>
          </a:p>
          <a:p/>
          <a:p>
            <a:r>
              <a:t>🔑 الرسالة المحورية: منظومة CAL-QR تدير دورة حياة الشهادة من الإدخال الفني إلى التحقق الميداني الفوري.</a:t>
            </a:r>
          </a:p>
          <a:p/>
          <a:p>
            <a:r>
              <a:t>➡️ الانتقال للشريحة التالية: الانتقال إلى مسار العمل التشغيلي (Workflow) داخل المنظومة.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استعراض مسار العمل التشغيلي الشامل بسلاسة ووضوح دون الخوض في تفاصيل كود أو برمجة.</a:t>
            </a:r>
          </a:p>
          <a:p/>
          <a:p>
            <a:r>
              <a:t>⏱️ التوقيت الموصى به: 00:55</a:t>
            </a:r>
          </a:p>
          <a:p/>
          <a:p>
            <a:r>
              <a:t>🎙️ نص الإلقاء المقترح (Script):</a:t>
            </a:r>
          </a:p>
          <a:p>
            <a:r>
              <a:t>يوضح هذا المخطط مسار العمل الرقمي المعتمد داخل المنظومة: تبدأ دورة الجهاز باستلامه وتسجيل بياناته، ثم إتمام المعايرة المعملية، وإدخال النتائج الفنية وحساب معاملات التصحيح. تلي ذلك مرحلة المراجعة الفنية والاعتماد، ثم إصدار الشهادة وأرشفتها في قاعدة البيانات، وتوليد رمز QR المشفر ولصقه على الجهاز. والنتيجة: قدرة أي مفتش في الميدان على التحقق الفوري من سريان المعايرة بمجرد مسح الرمز.</a:t>
            </a:r>
          </a:p>
          <a:p/>
          <a:p>
            <a:r>
              <a:t>🔑 الرسالة المحورية: دورة عمل رقمية منضبطة تنقل الإجراء الفني مباشرة إلى نتيجة معتمدة ومحمية.</a:t>
            </a:r>
          </a:p>
          <a:p/>
          <a:p>
            <a:r>
              <a:t>➡️ الانتقال للشريحة التالية: الانتقال إلى طبقات الأمان وسلامة البيانات في المنظومة.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إبراز طبقات الأمان الأربعة (الهوية، سلامة البيانات، الحالة الآنية، وسجل التدقيق) لبيان رصانة النظام دون تحويل العرض لمؤتمر تشفير.</a:t>
            </a:r>
          </a:p>
          <a:p/>
          <a:p>
            <a:r>
              <a:t>⏱️ التوقيت الموصى به: 00:50</a:t>
            </a:r>
          </a:p>
          <a:p/>
          <a:p>
            <a:r>
              <a:t>🎙️ نص الإلقاء المقترح (Script):</a:t>
            </a:r>
          </a:p>
          <a:p>
            <a:r>
              <a:t>الثقة في الشهادة الرقمية الصادرة عن CAL-QR ليست مبنية على مجرد وجود رمز QR، بل على أربع طبقات أمنية متكاملة: أولاً الهوية الرقمية الفريدة للشهادة، ثانياً سلامة البيانات عبر توقيع رقمي مشفر HMAC يكشف أي تلاعب، ثالثاً التحقق من الحالة اللحظية للشهادة، ورابعاً سجل التدقيق الذي يسجل كل حركة ومستخدم. هذه المعمارية تضمن أن أي شهادة تخرج من مركز البحوث النووية تكون محصنة تماماً وغير قابلة للتزوير.</a:t>
            </a:r>
          </a:p>
          <a:p/>
          <a:p>
            <a:r>
              <a:t>🔑 الرسالة المحورية: قوة النظام تأتي من ترابط طبقات التحقق والأمان الأربعة وليس من الرمز الشكلي.</a:t>
            </a:r>
          </a:p>
          <a:p/>
          <a:p>
            <a:r>
              <a:t>➡️ الانتقال للشريحة التالية: الانتقال إلى الشق الثاني من التحول الرقمي: منظومة مصادر المشعة.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تقديم منظومة مصادر وإبراز دورها في إدارة دورة حياة المصادر المشعة والأمان والرقابة الوطنية.</a:t>
            </a:r>
          </a:p>
          <a:p/>
          <a:p>
            <a:r>
              <a:t>⏱️ التوقيت الموصى به: 00:50</a:t>
            </a:r>
          </a:p>
          <a:p/>
          <a:p>
            <a:r>
              <a:t>🎙️ نص الإلقاء المقترح (Script):</a:t>
            </a:r>
          </a:p>
          <a:p>
            <a:r>
              <a:t>بالتوازي مع منظومة المعايرة، طُوّرت منظومة مصادر (SOURCES) كمنظومة رقمية متخصصة لحصر وتتبع وإدارة دورة حياة المصادر المشعة والنظائر المرجعية والمصادر النيترونية. المنظومة تحقق مبدأ السيادة والرقابة الصارمة، بحيث تجيب في أي لحظة عن الأسئلة الحيوية: أين يوجد المصدر؟ من يتولى حيازته حالياً؟ ما مقدار نشاطه الإشعاعي اللحظي؟ وهل هو مجاز ومفحوص؟ هذا التحول ينقل إدارة المصادر من السجلات الورقية إلى الجاهزية الرقابية الدائمة.</a:t>
            </a:r>
          </a:p>
          <a:p/>
          <a:p>
            <a:r>
              <a:t>🔑 الرسالة المحورية: منظومة مصادر توفر رقابة لحظية وسجلاً تتبعياً محكماً لكافة المصادر المشعة.</a:t>
            </a:r>
          </a:p>
          <a:p/>
          <a:p>
            <a:r>
              <a:t>➡️ الانتقال للشريحة التالية: الانتقال إلى استعراض المحرك التشغيلي والوظائف المتقدمة لمنظومة مصادر.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إبراز القيمة المؤسسية والفيزيائية المتقدمة لمنظومة مصادر عبر 6 ركائز تنفيذية محكمة.</a:t>
            </a:r>
          </a:p>
          <a:p/>
          <a:p>
            <a:r>
              <a:t>⏱️ التوقيت الموصى به: 00:55</a:t>
            </a:r>
          </a:p>
          <a:p/>
          <a:p>
            <a:r>
              <a:t>🎙️ نص الإلقاء المقترح (Script):</a:t>
            </a:r>
          </a:p>
          <a:p>
            <a:r>
              <a:t>يعمل المحرك التشغيلي لمنظومة مصادر على ستة محاور تنفيذية: حفظ وسرية البيانات محلياً، التتبع المكاني لجميع الحركات، حوكمة دورة الاستعارة من الطلب حتى الإرجاع، الحساب التلقائي اللحظي للاضمحلال والنشاط الإشعاعي، تصنيف المصادر وفق معايير الوكالة الدولية مع التنبيه الاستباقي لاختبارات التسريب الدورية، وسجل التدقيق الذي يوفر جاهزية كاملة لتقارير التفتيش الدولي في أي وقت.</a:t>
            </a:r>
          </a:p>
          <a:p/>
          <a:p>
            <a:r>
              <a:t>🔑 الرسالة المحورية: أتمتة الفيزياء والحوكمة الميدانية تنقل إدارة المصادر المشعة إلى أعلى درجات الأمان والجاهزية الرقابية.</a:t>
            </a:r>
          </a:p>
          <a:p/>
          <a:p>
            <a:r>
              <a:t>➡️ الانتقال للشريحة التالية: الانتقال إلى ختام العرض: تلخيص النتيجة المؤسسية الشاملة.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خاتمة تنفيذية قوية ورصينة توجز الأثر الاستراتيجي وتترك انطباعاً حاسماً لدى اللجنة دون أي طلب مباشر.</a:t>
            </a:r>
          </a:p>
          <a:p/>
          <a:p>
            <a:r>
              <a:t>⏱️ التوقيت الموصى به: 00:45</a:t>
            </a:r>
          </a:p>
          <a:p/>
          <a:p>
            <a:r>
              <a:t>🎙️ نص الإلقاء المقترح (Script):</a:t>
            </a:r>
          </a:p>
          <a:p>
            <a:r>
              <a:t>السيد رئيس وأعضاء اللجنة العلمية المحترمون: ما تم عرضه اليوم ليس مجرد رقمنة لشهادة أو استبدال سجل ورقي، بل هو تأسيس لسلسلة مؤسسية متكاملة تبدأ من القياس المرجعي الدقيق وتمر بالتوثيق والتحقق وتنتهي بالحصر والتتبع الرقابي. هذه البنية التحتية الفنية والرقمية تمثل نموذجاً واقعياً قابلاً للتوسع المؤسسي وخدمة كافة مراكز المؤسسة في دولة ليبيا. نشكركم على حسن استماعكم، ونسعد بتلقي ملاحظاتكم وأسئلتكم الموقرة.</a:t>
            </a:r>
          </a:p>
          <a:p/>
          <a:p>
            <a:r>
              <a:t>🔑 الرسالة المحورية: ما تحقق هو سلسلة عمل مؤسسية متكاملة وقابلة للتوسع الوطني المستمر.</a:t>
            </a:r>
          </a:p>
          <a:p/>
          <a:p>
            <a:r>
              <a:t>➡️ الانتقال للشريحة التالية: انتهاء العرض التقديمي وبدء جلسة الأسئلة والنقاش.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المعمارية البرمجية لمنظومة CAL-QR.</a:t>
            </a:r>
          </a:p>
          <a:p/>
          <a:p>
            <a:r>
              <a:t>⏱️ التوقيت الموصى به: عند الطلب</a:t>
            </a:r>
          </a:p>
          <a:p/>
          <a:p>
            <a:r>
              <a:t>🎙️ نص الإلقاء المقترح (Script):</a:t>
            </a:r>
          </a:p>
          <a:p>
            <a:r>
              <a:t>هذه الشريحة مخصصة للإسناد الفني في حال سؤال اللجنة حول المعمارية البرمجية لمنظومة CAL-QR. تتضمن التفاصيل المعمارية والهندسية الدقيقة التي تدعم ما عُرض في الشرائح الرئيسية.</a:t>
            </a:r>
          </a:p>
          <a:p/>
          <a:p>
            <a:r>
              <a:t>🔑 الرسالة المحورية: بيان عمق البناء الهندسي والعلمي لمنظومة المعمارية البرمجية لمنظومة CAL-QR.</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آليات الأمان والتوقيع الرقمي المشفر.</a:t>
            </a:r>
          </a:p>
          <a:p/>
          <a:p>
            <a:r>
              <a:t>⏱️ التوقيت الموصى به: عند الطلب</a:t>
            </a:r>
          </a:p>
          <a:p/>
          <a:p>
            <a:r>
              <a:t>🎙️ نص الإلقاء المقترح (Script):</a:t>
            </a:r>
          </a:p>
          <a:p>
            <a:r>
              <a:t>هذه الشريحة مخصصة للإسناد الفني في حال سؤال اللجنة حول آليات الأمان والتوقيع الرقمي المشفر. تتضمن التفاصيل المعمارية والهندسية الدقيقة التي تدعم ما عُرض في الشرائح الرئيسية.</a:t>
            </a:r>
          </a:p>
          <a:p/>
          <a:p>
            <a:r>
              <a:t>🔑 الرسالة المحورية: بيان عمق البناء الهندسي والعلمي لمنظومة آليات الأمان والتوقيع الرقمي المشفر.</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المعمارية التقنية لمنظومة مصادر.</a:t>
            </a:r>
          </a:p>
          <a:p/>
          <a:p>
            <a:r>
              <a:t>⏱️ التوقيت الموصى به: عند الطلب</a:t>
            </a:r>
          </a:p>
          <a:p/>
          <a:p>
            <a:r>
              <a:t>🎙️ نص الإلقاء المقترح (Script):</a:t>
            </a:r>
          </a:p>
          <a:p>
            <a:r>
              <a:t>هذه الشريحة مخصصة للإسناد الفني في حال سؤال اللجنة حول المعمارية التقنية لمنظومة مصادر. تتضمن التفاصيل المعمارية والهندسية الدقيقة التي تدعم ما عُرض في الشرائح الرئيسية.</a:t>
            </a:r>
          </a:p>
          <a:p/>
          <a:p>
            <a:r>
              <a:t>🔑 الرسالة المحورية: بيان عمق البناء الهندسي والعلمي لمنظومة المعمارية التقنية لمنظومة مصادر.</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محرك حساب الاضمحلال الإشعاعي الفيزيائي.</a:t>
            </a:r>
          </a:p>
          <a:p/>
          <a:p>
            <a:r>
              <a:t>⏱️ التوقيت الموصى به: عند الطلب</a:t>
            </a:r>
          </a:p>
          <a:p/>
          <a:p>
            <a:r>
              <a:t>🎙️ نص الإلقاء المقترح (Script):</a:t>
            </a:r>
          </a:p>
          <a:p>
            <a:r>
              <a:t>هذه الشريحة مخصصة للإسناد الفني في حال سؤال اللجنة حول محرك حساب الاضمحلال الإشعاعي الفيزيائي. تتضمن التفاصيل المعمارية والهندسية الدقيقة التي تدعم ما عُرض في الشرائح الرئيسية.</a:t>
            </a:r>
          </a:p>
          <a:p/>
          <a:p>
            <a:r>
              <a:t>🔑 الرسالة المحورية: بيان عمق البناء الهندسي والعلمي لمنظومة محرك حساب الاضمحلال الإشعاعي الفيزيائي.</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مصفوفة تصنيف المصادر المشعة (IAEA).</a:t>
            </a:r>
          </a:p>
          <a:p/>
          <a:p>
            <a:r>
              <a:t>⏱️ التوقيت الموصى به: عند الطلب</a:t>
            </a:r>
          </a:p>
          <a:p/>
          <a:p>
            <a:r>
              <a:t>🎙️ نص الإلقاء المقترح (Script):</a:t>
            </a:r>
          </a:p>
          <a:p>
            <a:r>
              <a:t>هذه الشريحة مخصصة للإسناد الفني في حال سؤال اللجنة حول مصفوفة تصنيف المصادر المشعة (IAEA). تتضمن التفاصيل المعمارية والهندسية الدقيقة التي تدعم ما عُرض في الشرائح الرئيسية.</a:t>
            </a:r>
          </a:p>
          <a:p/>
          <a:p>
            <a:r>
              <a:t>🔑 الرسالة المحورية: بيان عمق البناء الهندسي والعلمي لمنظومة مصفوفة تصنيف المصادر المشعة (IAEA).</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نموذج ومكونات شهادة المعايرة المطورة.</a:t>
            </a:r>
          </a:p>
          <a:p/>
          <a:p>
            <a:r>
              <a:t>⏱️ التوقيت الموصى به: عند الطلب</a:t>
            </a:r>
          </a:p>
          <a:p/>
          <a:p>
            <a:r>
              <a:t>🎙️ نص الإلقاء المقترح (Script):</a:t>
            </a:r>
          </a:p>
          <a:p>
            <a:r>
              <a:t>هذه الشريحة مخصصة للإسناد الفني في حال سؤال اللجنة حول نموذج ومكونات شهادة المعايرة المطورة. تتضمن التفاصيل المعمارية والهندسية الدقيقة التي تدعم ما عُرض في الشرائح الرئيسية.</a:t>
            </a:r>
          </a:p>
          <a:p/>
          <a:p>
            <a:r>
              <a:t>🔑 الرسالة المحورية: بيان عمق البناء الهندسي والعلمي لمنظومة نموذج ومكونات شهادة المعايرة المطورة.</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التجهيزات المرجعية الكاملة لمختبر SSDL.</a:t>
            </a:r>
          </a:p>
          <a:p/>
          <a:p>
            <a:r>
              <a:t>⏱️ التوقيت الموصى به: عند الطلب</a:t>
            </a:r>
          </a:p>
          <a:p/>
          <a:p>
            <a:r>
              <a:t>🎙️ نص الإلقاء المقترح (Script):</a:t>
            </a:r>
          </a:p>
          <a:p>
            <a:r>
              <a:t>هذه الشريحة مخصصة للإسناد الفني في حال سؤال اللجنة حول التجهيزات المرجعية الكاملة لمختبر SSDL. تتضمن التفاصيل المعمارية والهندسية الدقيقة التي تدعم ما عُرض في الشرائح الرئيسية.</a:t>
            </a:r>
          </a:p>
          <a:p/>
          <a:p>
            <a:r>
              <a:t>🔑 الرسالة المحورية: بيان عمق البناء الهندسي والعلمي لمنظومة التجهيزات المرجعية الكاملة لمختبر SSDL.</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الهدف: شريحة دعم فني للإجابة عن الأسئلة المتخصصة لأعضاء اللجنة العلمية حول خارطة طريق التكامل والربط المؤسسي المستقبلي.</a:t>
            </a:r>
          </a:p>
          <a:p/>
          <a:p>
            <a:r>
              <a:t>⏱️ التوقيت الموصى به: عند الطلب</a:t>
            </a:r>
          </a:p>
          <a:p/>
          <a:p>
            <a:r>
              <a:t>🎙️ نص الإلقاء المقترح (Script):</a:t>
            </a:r>
          </a:p>
          <a:p>
            <a:r>
              <a:t>هذه الشريحة مخصصة للإسناد الفني في حال سؤال اللجنة حول خارطة طريق التكامل والربط المؤسسي المستقبلي. تتضمن التفاصيل المعمارية والهندسية الدقيقة التي تدعم ما عُرض في الشرائح الرئيسية.</a:t>
            </a:r>
          </a:p>
          <a:p/>
          <a:p>
            <a:r>
              <a:t>🔑 الرسالة المحورية: بيان عمق البناء الهندسي والعلمي لمنظومة خارطة طريق التكامل والربط المؤسسي المستقبلي.</a:t>
            </a:r>
          </a:p>
          <a:p/>
          <a:p>
            <a: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Rounded Rectangle 1"/>
          <p:cNvSpPr/>
          <p:nvPr/>
        </p:nvSpPr>
        <p:spPr>
          <a:xfrm>
            <a:off x="457200" y="457200"/>
            <a:ext cx="11277295" cy="5943600"/>
          </a:xfrm>
          <a:prstGeom prst="roundRect">
            <a:avLst/>
          </a:prstGeom>
          <a:solidFill>
            <a:srgbClr val="0B192C"/>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nrc.jpg"/>
          <p:cNvPicPr>
            <a:picLocks noChangeAspect="1"/>
          </p:cNvPicPr>
          <p:nvPr/>
        </p:nvPicPr>
        <p:blipFill>
          <a:blip r:embed="rId2"/>
          <a:stretch>
            <a:fillRect/>
          </a:stretch>
        </p:blipFill>
        <p:spPr>
          <a:xfrm>
            <a:off x="1097280" y="731520"/>
            <a:ext cx="1188720" cy="1188720"/>
          </a:xfrm>
          <a:prstGeom prst="rect">
            <a:avLst/>
          </a:prstGeom>
        </p:spPr>
      </p:pic>
      <p:pic>
        <p:nvPicPr>
          <p:cNvPr id="4" name="Picture 3" descr="aee.jpg"/>
          <p:cNvPicPr>
            <a:picLocks noChangeAspect="1"/>
          </p:cNvPicPr>
          <p:nvPr/>
        </p:nvPicPr>
        <p:blipFill>
          <a:blip r:embed="rId3"/>
          <a:stretch>
            <a:fillRect/>
          </a:stretch>
        </p:blipFill>
        <p:spPr>
          <a:xfrm>
            <a:off x="5394960" y="640080"/>
            <a:ext cx="1371600" cy="1371600"/>
          </a:xfrm>
          <a:prstGeom prst="rect">
            <a:avLst/>
          </a:prstGeom>
        </p:spPr>
      </p:pic>
      <p:sp>
        <p:nvSpPr>
          <p:cNvPr id="5" name="TextBox 4"/>
          <p:cNvSpPr txBox="1"/>
          <p:nvPr/>
        </p:nvSpPr>
        <p:spPr>
          <a:xfrm>
            <a:off x="914400" y="2148840"/>
            <a:ext cx="10362895" cy="2194560"/>
          </a:xfrm>
          <a:prstGeom prst="rect">
            <a:avLst/>
          </a:prstGeom>
          <a:noFill/>
        </p:spPr>
        <p:txBody>
          <a:bodyPr wrap="square">
            <a:spAutoFit/>
          </a:bodyPr>
          <a:lstStyle/>
          <a:p>
            <a:pPr algn="ctr">
              <a:defRPr sz="1300" b="1">
                <a:solidFill>
                  <a:srgbClr val="D4AF37"/>
                </a:solidFill>
                <a:latin typeface="Arial"/>
              </a:defRPr>
            </a:pPr>
            <a:r>
              <a:t>مؤسسة الطاقة الذرية  |  اجتماع اللجنة العلمية الدائمة لسنة 2026م</a:t>
            </a:r>
          </a:p>
          <a:p>
            <a:pPr algn="ctr">
              <a:spcBef>
                <a:spcPts val="800"/>
              </a:spcBef>
              <a:defRPr sz="2400" b="1">
                <a:solidFill>
                  <a:srgbClr val="F1F5F9"/>
                </a:solidFill>
                <a:latin typeface="Arial"/>
              </a:defRPr>
            </a:pPr>
            <a:r>
              <a:t>تطوير منظومة المعايرة والتحول الرقمي لحصر المصادر المشعة وإصدار شهادات المعايرة</a:t>
            </a:r>
          </a:p>
          <a:p>
            <a:pPr algn="ctr">
              <a:spcBef>
                <a:spcPts val="600"/>
              </a:spcBef>
              <a:defRPr sz="1500">
                <a:solidFill>
                  <a:srgbClr val="CBD5E1"/>
                </a:solidFill>
                <a:latin typeface="Arial"/>
              </a:defRPr>
            </a:pPr>
            <a:r>
              <a:t>نحو منظومة مؤسسية مترابطة للمعايرة، التوثيق، التحقق، والحصر والتتبع</a:t>
            </a:r>
          </a:p>
          <a:p>
            <a:pPr algn="ctr">
              <a:spcBef>
                <a:spcPts val="600"/>
              </a:spcBef>
              <a:defRPr sz="1100" b="1">
                <a:solidFill>
                  <a:srgbClr val="D4AF37"/>
                </a:solidFill>
                <a:latin typeface="Arial"/>
              </a:defRPr>
            </a:pPr>
            <a:r>
              <a:t>مشروع مؤسسي موحد ذو مسارين متكاملين وقابلية للتوسع على مستوى المؤسسة ومراكزها التابعة</a:t>
            </a:r>
          </a:p>
        </p:txBody>
      </p:sp>
      <p:sp>
        <p:nvSpPr>
          <p:cNvPr id="6" name="Rounded Rectangle 5"/>
          <p:cNvSpPr/>
          <p:nvPr/>
        </p:nvSpPr>
        <p:spPr>
          <a:xfrm>
            <a:off x="1371600" y="4480560"/>
            <a:ext cx="9448495" cy="14630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54480" y="4572000"/>
            <a:ext cx="9082735" cy="1280160"/>
          </a:xfrm>
          <a:prstGeom prst="rect">
            <a:avLst/>
          </a:prstGeom>
          <a:noFill/>
        </p:spPr>
        <p:txBody>
          <a:bodyPr wrap="square">
            <a:spAutoFit/>
          </a:bodyPr>
          <a:lstStyle/>
          <a:p>
            <a:pPr algn="ctr">
              <a:defRPr sz="1200" b="1">
                <a:solidFill>
                  <a:srgbClr val="D4AF37"/>
                </a:solidFill>
                <a:latin typeface="Arial"/>
              </a:defRPr>
            </a:pPr>
            <a:r>
              <a:t>إعداد وتقديم:</a:t>
            </a:r>
          </a:p>
          <a:p>
            <a:pPr algn="ctr">
              <a:spcBef>
                <a:spcPts val="400"/>
              </a:spcBef>
              <a:defRPr sz="1300" b="1">
                <a:solidFill>
                  <a:srgbClr val="F1F5F9"/>
                </a:solidFill>
                <a:latin typeface="Arial"/>
              </a:defRPr>
            </a:pPr>
            <a:r>
              <a:t>م. رضا علي المريمي — رئيس قسم المعايرة وقياس وتقدير الجرعات الشخصية (مركز البحوث النووية - تاجوراء)</a:t>
            </a:r>
            <a:br/>
            <a:r>
              <a:t>م. إدريس فتح الله الهري — رئيس مختبر بنغازي (مركز القياسات الإشعاعية والتدريب)</a:t>
            </a:r>
          </a:p>
          <a:p>
            <a:pPr algn="ctr">
              <a:spcBef>
                <a:spcPts val="400"/>
              </a:spcBef>
              <a:defRPr sz="1050">
                <a:solidFill>
                  <a:srgbClr val="94A3B8"/>
                </a:solidFill>
                <a:latin typeface="Arial"/>
              </a:defRPr>
            </a:pPr>
            <a:r>
              <a:t>الثلاثاء: 22 سبتمبر 2026م  |  قاعة اجتماعات المؤسسة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01. الإطار الفني والمؤسسي</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0B192C"/>
                </a:solidFill>
                <a:latin typeface="Arial"/>
              </a:defRPr>
            </a:pPr>
            <a:r>
              <a:t>نطاق المشروع والبنية الفنية القائمة</a:t>
            </a:r>
          </a:p>
        </p:txBody>
      </p:sp>
      <p:sp>
        <p:nvSpPr>
          <p:cNvPr id="4" name="Rectangle 3"/>
          <p:cNvSpPr/>
          <p:nvPr/>
        </p:nvSpPr>
        <p:spPr>
          <a:xfrm>
            <a:off x="731520" y="1170432"/>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8C96A5"/>
                </a:solidFill>
                <a:latin typeface="Arial"/>
              </a:defRPr>
            </a:pPr>
            <a:r>
              <a:t>مؤسسة الطاقة الذرية  |  اجتماع اللجنة العلمية الدائمة 2026  |  شريحة 2</a:t>
            </a:r>
          </a:p>
        </p:txBody>
      </p:sp>
      <p:pic>
        <p:nvPicPr>
          <p:cNvPr id="6" name="Picture 5" descr="14"/>
          <p:cNvPicPr>
            <a:picLocks noChangeAspect="1"/>
          </p:cNvPicPr>
          <p:nvPr/>
        </p:nvPicPr>
        <p:blipFill>
          <a:blip r:embed="rId2"/>
          <a:stretch>
            <a:fillRect/>
          </a:stretch>
        </p:blipFill>
        <p:spPr>
          <a:xfrm>
            <a:off x="731520" y="1463040"/>
            <a:ext cx="3291840" cy="4480560"/>
          </a:xfrm>
          <a:prstGeom prst="rect">
            <a:avLst/>
          </a:prstGeom>
        </p:spPr>
      </p:pic>
      <p:sp>
        <p:nvSpPr>
          <p:cNvPr id="7" name="Rounded Rectangle 6"/>
          <p:cNvSpPr/>
          <p:nvPr/>
        </p:nvSpPr>
        <p:spPr>
          <a:xfrm>
            <a:off x="4297680" y="1463040"/>
            <a:ext cx="7132320" cy="1325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292840" y="1600200"/>
            <a:ext cx="109728" cy="10515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00200"/>
            <a:ext cx="6675120" cy="1097280"/>
          </a:xfrm>
          <a:prstGeom prst="rect">
            <a:avLst/>
          </a:prstGeom>
          <a:noFill/>
        </p:spPr>
        <p:txBody>
          <a:bodyPr wrap="square" lIns="0" rIns="0" tIns="0" bIns="0">
            <a:spAutoFit/>
          </a:bodyPr>
          <a:lstStyle/>
          <a:p>
            <a:pPr algn="r">
              <a:defRPr sz="1600" b="1">
                <a:solidFill>
                  <a:srgbClr val="0B192C"/>
                </a:solidFill>
                <a:latin typeface="Arial"/>
              </a:defRPr>
            </a:pPr>
            <a:r>
              <a:t>البنية المترولوجية والقياسات</a:t>
            </a:r>
          </a:p>
          <a:p>
            <a:pPr algn="r">
              <a:spcBef>
                <a:spcPts val="400"/>
              </a:spcBef>
              <a:defRPr sz="1200">
                <a:solidFill>
                  <a:srgbClr val="172033"/>
                </a:solidFill>
                <a:latin typeface="Arial"/>
              </a:defRPr>
            </a:pPr>
            <a:r>
              <a:t>المعايرة الدقيقة لكواشف وأجهزة القياس الإشعاعي، التحقق من كفاءة ونطاقات القياس، ونظم القياس المرجعية المعتمدة.</a:t>
            </a:r>
          </a:p>
        </p:txBody>
      </p:sp>
      <p:sp>
        <p:nvSpPr>
          <p:cNvPr id="10" name="Rounded Rectangle 9"/>
          <p:cNvSpPr/>
          <p:nvPr/>
        </p:nvSpPr>
        <p:spPr>
          <a:xfrm>
            <a:off x="4297680" y="3017520"/>
            <a:ext cx="7132320" cy="1325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292840" y="3154680"/>
            <a:ext cx="109728" cy="1051560"/>
          </a:xfrm>
          <a:prstGeom prst="rect">
            <a:avLst/>
          </a:prstGeom>
          <a:solidFill>
            <a:srgbClr val="1E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154680"/>
            <a:ext cx="6675120" cy="1097280"/>
          </a:xfrm>
          <a:prstGeom prst="rect">
            <a:avLst/>
          </a:prstGeom>
          <a:noFill/>
        </p:spPr>
        <p:txBody>
          <a:bodyPr wrap="square" lIns="0" rIns="0" tIns="0" bIns="0">
            <a:spAutoFit/>
          </a:bodyPr>
          <a:lstStyle/>
          <a:p>
            <a:pPr algn="r">
              <a:defRPr sz="1600" b="1">
                <a:solidFill>
                  <a:srgbClr val="0B192C"/>
                </a:solidFill>
                <a:latin typeface="Arial"/>
              </a:defRPr>
            </a:pPr>
            <a:r>
              <a:t>قياس وتقدير الجرعات الشخصية</a:t>
            </a:r>
          </a:p>
          <a:p>
            <a:pPr algn="r">
              <a:spcBef>
                <a:spcPts val="400"/>
              </a:spcBef>
              <a:defRPr sz="1200">
                <a:solidFill>
                  <a:srgbClr val="172033"/>
                </a:solidFill>
                <a:latin typeface="Arial"/>
              </a:defRPr>
            </a:pPr>
            <a:r>
              <a:t>وحدة الجرعات الشخصية القائمة على تقنية التلألؤ الحراري (TLD - Thermoluminescent Dosimetry)، القراءة والتقييم الدوري، وتوثيق سجلات التعرض للعاملين.</a:t>
            </a:r>
          </a:p>
        </p:txBody>
      </p:sp>
      <p:sp>
        <p:nvSpPr>
          <p:cNvPr id="13" name="Rounded Rectangle 12"/>
          <p:cNvSpPr/>
          <p:nvPr/>
        </p:nvSpPr>
        <p:spPr>
          <a:xfrm>
            <a:off x="4297680" y="4572000"/>
            <a:ext cx="7132320" cy="1325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92840" y="4709160"/>
            <a:ext cx="109728" cy="1051560"/>
          </a:xfrm>
          <a:prstGeom prst="rect">
            <a:avLst/>
          </a:prstGeom>
          <a:solidFill>
            <a:srgbClr val="B8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4709160"/>
            <a:ext cx="6675120" cy="1097280"/>
          </a:xfrm>
          <a:prstGeom prst="rect">
            <a:avLst/>
          </a:prstGeom>
          <a:noFill/>
        </p:spPr>
        <p:txBody>
          <a:bodyPr wrap="square" lIns="0" rIns="0" tIns="0" bIns="0">
            <a:spAutoFit/>
          </a:bodyPr>
          <a:lstStyle/>
          <a:p>
            <a:pPr algn="r">
              <a:defRPr sz="1600" b="1">
                <a:solidFill>
                  <a:srgbClr val="0B192C"/>
                </a:solidFill>
                <a:latin typeface="Arial"/>
              </a:defRPr>
            </a:pPr>
            <a:r>
              <a:t>التوثيق وحوكمة البيانات</a:t>
            </a:r>
          </a:p>
          <a:p>
            <a:pPr algn="r">
              <a:spcBef>
                <a:spcPts val="400"/>
              </a:spcBef>
              <a:defRPr sz="1200">
                <a:solidFill>
                  <a:srgbClr val="172033"/>
                </a:solidFill>
                <a:latin typeface="Arial"/>
              </a:defRPr>
            </a:pPr>
            <a:r>
              <a:t>إصدار وإدارة شهادات المعايرة، حفظ السجلات الفنية التراكمية للأجهزة، وحصر وتتبع دورة حياة المصادر المشعة.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02. المترولوجيا الوطنية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0B192C"/>
                </a:solidFill>
                <a:latin typeface="Arial"/>
              </a:defRPr>
            </a:pPr>
            <a:r>
              <a:t>البنية المرجعية للقياس والمعايرة</a:t>
            </a:r>
          </a:p>
        </p:txBody>
      </p:sp>
      <p:sp>
        <p:nvSpPr>
          <p:cNvPr id="4" name="Rectangle 3"/>
          <p:cNvSpPr/>
          <p:nvPr/>
        </p:nvSpPr>
        <p:spPr>
          <a:xfrm>
            <a:off x="731520" y="1170432"/>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8C96A5"/>
                </a:solidFill>
                <a:latin typeface="Arial"/>
              </a:defRPr>
            </a:pPr>
            <a:r>
              <a:t>مؤسسة الطاقة الذرية  |  اجتماع اللجنة العلمية الدائمة 2026  |  شريحة 3</a:t>
            </a:r>
          </a:p>
        </p:txBody>
      </p:sp>
      <p:sp>
        <p:nvSpPr>
          <p:cNvPr id="6" name="Rounded Rectangle 5"/>
          <p:cNvSpPr/>
          <p:nvPr/>
        </p:nvSpPr>
        <p:spPr>
          <a:xfrm>
            <a:off x="731520" y="1417320"/>
            <a:ext cx="10728655" cy="685800"/>
          </a:xfrm>
          <a:prstGeom prst="roundRect">
            <a:avLst/>
          </a:prstGeom>
          <a:solidFill>
            <a:srgbClr val="FEF3C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10362895" cy="548640"/>
          </a:xfrm>
          <a:prstGeom prst="rect">
            <a:avLst/>
          </a:prstGeom>
          <a:noFill/>
        </p:spPr>
        <p:txBody>
          <a:bodyPr wrap="none">
            <a:spAutoFit/>
          </a:bodyPr>
          <a:lstStyle/>
          <a:p>
            <a:pPr algn="ctr">
              <a:defRPr sz="1500" b="1">
                <a:solidFill>
                  <a:srgbClr val="0B192C"/>
                </a:solidFill>
                <a:latin typeface="Arial"/>
              </a:defRPr>
            </a:pPr>
            <a:r>
              <a:t>«أي رقمنة ناجحة ومجدية يجب أن تبدأ أولاً من قياس موثوق وقابل للتتبع المترولوجي»</a:t>
            </a:r>
          </a:p>
        </p:txBody>
      </p:sp>
      <p:sp>
        <p:nvSpPr>
          <p:cNvPr id="8" name="Rounded Rectangle 7"/>
          <p:cNvSpPr/>
          <p:nvPr/>
        </p:nvSpPr>
        <p:spPr>
          <a:xfrm>
            <a:off x="6217920" y="233172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514600"/>
            <a:ext cx="4846320" cy="1371600"/>
          </a:xfrm>
          <a:prstGeom prst="rect">
            <a:avLst/>
          </a:prstGeom>
          <a:noFill/>
        </p:spPr>
        <p:txBody>
          <a:bodyPr wrap="square">
            <a:spAutoFit/>
          </a:bodyPr>
          <a:lstStyle/>
          <a:p>
            <a:pPr algn="r">
              <a:defRPr sz="1600" b="1">
                <a:solidFill>
                  <a:srgbClr val="0B192C"/>
                </a:solidFill>
                <a:latin typeface="Arial"/>
              </a:defRPr>
            </a:pPr>
            <a:r>
              <a:t>🏛️  مختبر المعايير الثانوية (SSDL)</a:t>
            </a:r>
          </a:p>
          <a:p>
            <a:pPr algn="r">
              <a:spcBef>
                <a:spcPts val="600"/>
              </a:spcBef>
              <a:defRPr sz="1200">
                <a:solidFill>
                  <a:srgbClr val="172033"/>
                </a:solidFill>
                <a:latin typeface="Arial"/>
              </a:defRPr>
            </a:pPr>
            <a:r>
              <a:t>المرجع الفني المعتمد لمعايرة أجهزة وكواشف الإشعاع وإجراء القياسات الجرعية المرجعية في الدولة الليبية.</a:t>
            </a:r>
          </a:p>
        </p:txBody>
      </p:sp>
      <p:sp>
        <p:nvSpPr>
          <p:cNvPr id="10" name="Rounded Rectangle 9"/>
          <p:cNvSpPr/>
          <p:nvPr/>
        </p:nvSpPr>
        <p:spPr>
          <a:xfrm>
            <a:off x="731520" y="233172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4846320" cy="1371600"/>
          </a:xfrm>
          <a:prstGeom prst="rect">
            <a:avLst/>
          </a:prstGeom>
          <a:noFill/>
        </p:spPr>
        <p:txBody>
          <a:bodyPr wrap="square">
            <a:spAutoFit/>
          </a:bodyPr>
          <a:lstStyle/>
          <a:p>
            <a:pPr algn="r">
              <a:defRPr sz="1600" b="1">
                <a:solidFill>
                  <a:srgbClr val="0B192C"/>
                </a:solidFill>
                <a:latin typeface="Arial"/>
              </a:defRPr>
            </a:pPr>
            <a:r>
              <a:t>🔗  التتبع المترولوجي (Traceability)</a:t>
            </a:r>
          </a:p>
          <a:p>
            <a:pPr algn="r">
              <a:spcBef>
                <a:spcPts val="600"/>
              </a:spcBef>
              <a:defRPr sz="1200">
                <a:solidFill>
                  <a:srgbClr val="172033"/>
                </a:solidFill>
                <a:latin typeface="Arial"/>
              </a:defRPr>
            </a:pPr>
            <a:r>
              <a:t>ربط سلسلة القياسات الوطنية بالمعايير الدولية المعتمدة عبر منظومات قياس دقيقة ومعتمدة دولياً.</a:t>
            </a:r>
          </a:p>
        </p:txBody>
      </p:sp>
      <p:sp>
        <p:nvSpPr>
          <p:cNvPr id="12" name="Rounded Rectangle 11"/>
          <p:cNvSpPr/>
          <p:nvPr/>
        </p:nvSpPr>
        <p:spPr>
          <a:xfrm>
            <a:off x="6217920" y="425196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434840"/>
            <a:ext cx="4846320" cy="1371600"/>
          </a:xfrm>
          <a:prstGeom prst="rect">
            <a:avLst/>
          </a:prstGeom>
          <a:noFill/>
        </p:spPr>
        <p:txBody>
          <a:bodyPr wrap="square">
            <a:spAutoFit/>
          </a:bodyPr>
          <a:lstStyle/>
          <a:p>
            <a:pPr algn="r">
              <a:defRPr sz="1600" b="1">
                <a:solidFill>
                  <a:srgbClr val="0B192C"/>
                </a:solidFill>
                <a:latin typeface="Arial"/>
              </a:defRPr>
            </a:pPr>
            <a:r>
              <a:t>🌐  التعاون الفني مع IAEA</a:t>
            </a:r>
          </a:p>
          <a:p>
            <a:pPr algn="r">
              <a:spcBef>
                <a:spcPts val="600"/>
              </a:spcBef>
              <a:defRPr sz="1200">
                <a:solidFill>
                  <a:srgbClr val="172033"/>
                </a:solidFill>
                <a:latin typeface="Arial"/>
              </a:defRPr>
            </a:pPr>
            <a:r>
              <a:t>مواءمة بروتوكولات القياس وإجراءات المعايرة بما يتوافق مع توصيات الوكالة الدولية للطاقة الذرية.</a:t>
            </a:r>
          </a:p>
        </p:txBody>
      </p:sp>
      <p:sp>
        <p:nvSpPr>
          <p:cNvPr id="14" name="Rounded Rectangle 13"/>
          <p:cNvSpPr/>
          <p:nvPr/>
        </p:nvSpPr>
        <p:spPr>
          <a:xfrm>
            <a:off x="731520" y="425196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34840"/>
            <a:ext cx="4846320" cy="1371600"/>
          </a:xfrm>
          <a:prstGeom prst="rect">
            <a:avLst/>
          </a:prstGeom>
          <a:noFill/>
        </p:spPr>
        <p:txBody>
          <a:bodyPr wrap="square">
            <a:spAutoFit/>
          </a:bodyPr>
          <a:lstStyle/>
          <a:p>
            <a:pPr algn="r">
              <a:defRPr sz="1600" b="1">
                <a:solidFill>
                  <a:srgbClr val="0B192C"/>
                </a:solidFill>
                <a:latin typeface="Arial"/>
              </a:defRPr>
            </a:pPr>
            <a:r>
              <a:t>🛡️  دعم برامج الوقاية والأمان</a:t>
            </a:r>
          </a:p>
          <a:p>
            <a:pPr algn="r">
              <a:spcBef>
                <a:spcPts val="600"/>
              </a:spcBef>
              <a:defRPr sz="1200">
                <a:solidFill>
                  <a:srgbClr val="172033"/>
                </a:solidFill>
                <a:latin typeface="Arial"/>
              </a:defRPr>
            </a:pPr>
            <a:r>
              <a:t>توفير الأساس العلمي لضمان دقة أجهزة الرصد الإشعاعي في المنشآت النووية والصحية والصناعية.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03. التجهيزات والمعدات</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0B192C"/>
                </a:solidFill>
                <a:latin typeface="Arial"/>
              </a:defRPr>
            </a:pPr>
            <a:r>
              <a:t>الإمكانات الفنية والتجهيزات المرجعية</a:t>
            </a:r>
          </a:p>
        </p:txBody>
      </p:sp>
      <p:sp>
        <p:nvSpPr>
          <p:cNvPr id="4" name="Rectangle 3"/>
          <p:cNvSpPr/>
          <p:nvPr/>
        </p:nvSpPr>
        <p:spPr>
          <a:xfrm>
            <a:off x="731520" y="1170432"/>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8C96A5"/>
                </a:solidFill>
                <a:latin typeface="Arial"/>
              </a:defRPr>
            </a:pPr>
            <a:r>
              <a:t>مؤسسة الطاقة الذرية  |  اجتماع اللجنة العلمية الدائمة 2026  |  شريحة 4</a:t>
            </a:r>
          </a:p>
        </p:txBody>
      </p:sp>
      <p:sp>
        <p:nvSpPr>
          <p:cNvPr id="6" name="Rounded Rectangle 5"/>
          <p:cNvSpPr/>
          <p:nvPr/>
        </p:nvSpPr>
        <p:spPr>
          <a:xfrm>
            <a:off x="731520"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jpeg"/>
          <p:cNvPicPr>
            <a:picLocks noChangeAspect="1"/>
          </p:cNvPicPr>
          <p:nvPr/>
        </p:nvPicPr>
        <p:blipFill>
          <a:blip r:embed="rId2"/>
          <a:stretch>
            <a:fillRect/>
          </a:stretch>
        </p:blipFill>
        <p:spPr>
          <a:xfrm>
            <a:off x="841248" y="1554480"/>
            <a:ext cx="2295144" cy="2468880"/>
          </a:xfrm>
          <a:prstGeom prst="rect">
            <a:avLst/>
          </a:prstGeom>
        </p:spPr>
      </p:pic>
      <p:sp>
        <p:nvSpPr>
          <p:cNvPr id="8" name="TextBox 7"/>
          <p:cNvSpPr txBox="1"/>
          <p:nvPr/>
        </p:nvSpPr>
        <p:spPr>
          <a:xfrm>
            <a:off x="841248" y="4160520"/>
            <a:ext cx="2295144" cy="1737360"/>
          </a:xfrm>
          <a:prstGeom prst="rect">
            <a:avLst/>
          </a:prstGeom>
          <a:noFill/>
        </p:spPr>
        <p:txBody>
          <a:bodyPr wrap="square" lIns="0" rIns="0" tIns="0" bIns="0">
            <a:spAutoFit/>
          </a:bodyPr>
          <a:lstStyle/>
          <a:p>
            <a:pPr algn="r">
              <a:defRPr sz="1350" b="1">
                <a:solidFill>
                  <a:srgbClr val="0B192C"/>
                </a:solidFill>
                <a:latin typeface="Arial"/>
              </a:defRPr>
            </a:pPr>
            <a:r>
              <a:t>PTW UNIDOS Electrometer</a:t>
            </a:r>
          </a:p>
          <a:p>
            <a:pPr algn="r">
              <a:spcBef>
                <a:spcPts val="400"/>
              </a:spcBef>
              <a:defRPr sz="1050">
                <a:solidFill>
                  <a:srgbClr val="172033"/>
                </a:solidFill>
                <a:latin typeface="Arial"/>
              </a:defRPr>
            </a:pPr>
            <a:r>
              <a:t>جهاز قياس الشحنة والتأين المرجعي لتقدير الجرعات الإشعاعية بدقة فائقة.</a:t>
            </a:r>
          </a:p>
        </p:txBody>
      </p:sp>
      <p:sp>
        <p:nvSpPr>
          <p:cNvPr id="9" name="Rounded Rectangle 8"/>
          <p:cNvSpPr/>
          <p:nvPr/>
        </p:nvSpPr>
        <p:spPr>
          <a:xfrm>
            <a:off x="3456432"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2.jpeg"/>
          <p:cNvPicPr>
            <a:picLocks noChangeAspect="1"/>
          </p:cNvPicPr>
          <p:nvPr/>
        </p:nvPicPr>
        <p:blipFill>
          <a:blip r:embed="rId3"/>
          <a:stretch>
            <a:fillRect/>
          </a:stretch>
        </p:blipFill>
        <p:spPr>
          <a:xfrm>
            <a:off x="3566160" y="1554480"/>
            <a:ext cx="2295144" cy="2468880"/>
          </a:xfrm>
          <a:prstGeom prst="rect">
            <a:avLst/>
          </a:prstGeom>
        </p:spPr>
      </p:pic>
      <p:sp>
        <p:nvSpPr>
          <p:cNvPr id="11" name="TextBox 10"/>
          <p:cNvSpPr txBox="1"/>
          <p:nvPr/>
        </p:nvSpPr>
        <p:spPr>
          <a:xfrm>
            <a:off x="3566160" y="4160520"/>
            <a:ext cx="2295144" cy="1737360"/>
          </a:xfrm>
          <a:prstGeom prst="rect">
            <a:avLst/>
          </a:prstGeom>
          <a:noFill/>
        </p:spPr>
        <p:txBody>
          <a:bodyPr wrap="square" lIns="0" rIns="0" tIns="0" bIns="0">
            <a:spAutoFit/>
          </a:bodyPr>
          <a:lstStyle/>
          <a:p>
            <a:pPr algn="r">
              <a:defRPr sz="1350" b="1">
                <a:solidFill>
                  <a:srgbClr val="0B192C"/>
                </a:solidFill>
                <a:latin typeface="Arial"/>
              </a:defRPr>
            </a:pPr>
            <a:r>
              <a:t>وحدة الكوبالت-60 ومسار الليزر</a:t>
            </a:r>
          </a:p>
          <a:p>
            <a:pPr algn="r">
              <a:spcBef>
                <a:spcPts val="400"/>
              </a:spcBef>
              <a:defRPr sz="1050">
                <a:solidFill>
                  <a:srgbClr val="172033"/>
                </a:solidFill>
                <a:latin typeface="Arial"/>
              </a:defRPr>
            </a:pPr>
            <a:r>
              <a:t>مسار المعايرة الميكانيكي مع نظام المحاذاة الليزرية لضبط المسافات الهندسية.</a:t>
            </a:r>
          </a:p>
        </p:txBody>
      </p:sp>
      <p:sp>
        <p:nvSpPr>
          <p:cNvPr id="12" name="Rounded Rectangle 11"/>
          <p:cNvSpPr/>
          <p:nvPr/>
        </p:nvSpPr>
        <p:spPr>
          <a:xfrm>
            <a:off x="6181344"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15.jfif"/>
          <p:cNvPicPr>
            <a:picLocks noChangeAspect="1"/>
          </p:cNvPicPr>
          <p:nvPr/>
        </p:nvPicPr>
        <p:blipFill>
          <a:blip r:embed="rId4"/>
          <a:stretch>
            <a:fillRect/>
          </a:stretch>
        </p:blipFill>
        <p:spPr>
          <a:xfrm>
            <a:off x="6291072" y="1554480"/>
            <a:ext cx="2295144" cy="2468880"/>
          </a:xfrm>
          <a:prstGeom prst="rect">
            <a:avLst/>
          </a:prstGeom>
        </p:spPr>
      </p:pic>
      <p:sp>
        <p:nvSpPr>
          <p:cNvPr id="14" name="TextBox 13"/>
          <p:cNvSpPr txBox="1"/>
          <p:nvPr/>
        </p:nvSpPr>
        <p:spPr>
          <a:xfrm>
            <a:off x="6291072" y="4160520"/>
            <a:ext cx="2295144" cy="1737360"/>
          </a:xfrm>
          <a:prstGeom prst="rect">
            <a:avLst/>
          </a:prstGeom>
          <a:noFill/>
        </p:spPr>
        <p:txBody>
          <a:bodyPr wrap="square" lIns="0" rIns="0" tIns="0" bIns="0">
            <a:spAutoFit/>
          </a:bodyPr>
          <a:lstStyle/>
          <a:p>
            <a:pPr algn="r">
              <a:defRPr sz="1350" b="1">
                <a:solidFill>
                  <a:srgbClr val="0B192C"/>
                </a:solidFill>
                <a:latin typeface="Arial"/>
              </a:defRPr>
            </a:pPr>
            <a:r>
              <a:t>Water Phantom &amp; Positioning</a:t>
            </a:r>
          </a:p>
          <a:p>
            <a:pPr algn="r">
              <a:spcBef>
                <a:spcPts val="400"/>
              </a:spcBef>
              <a:defRPr sz="1050">
                <a:solidFill>
                  <a:srgbClr val="172033"/>
                </a:solidFill>
                <a:latin typeface="Arial"/>
              </a:defRPr>
            </a:pPr>
            <a:r>
              <a:t>فانتوم الماء المعياري لمحاكاة الأنسجة وضبط غرف التأين المرجعية.</a:t>
            </a:r>
          </a:p>
        </p:txBody>
      </p:sp>
      <p:sp>
        <p:nvSpPr>
          <p:cNvPr id="15" name="Rounded Rectangle 14"/>
          <p:cNvSpPr/>
          <p:nvPr/>
        </p:nvSpPr>
        <p:spPr>
          <a:xfrm>
            <a:off x="8906256"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17.jfif"/>
          <p:cNvPicPr>
            <a:picLocks noChangeAspect="1"/>
          </p:cNvPicPr>
          <p:nvPr/>
        </p:nvPicPr>
        <p:blipFill>
          <a:blip r:embed="rId5"/>
          <a:stretch>
            <a:fillRect/>
          </a:stretch>
        </p:blipFill>
        <p:spPr>
          <a:xfrm>
            <a:off x="9015984" y="1554480"/>
            <a:ext cx="2295144" cy="2468880"/>
          </a:xfrm>
          <a:prstGeom prst="rect">
            <a:avLst/>
          </a:prstGeom>
        </p:spPr>
      </p:pic>
      <p:sp>
        <p:nvSpPr>
          <p:cNvPr id="17" name="TextBox 16"/>
          <p:cNvSpPr txBox="1"/>
          <p:nvPr/>
        </p:nvSpPr>
        <p:spPr>
          <a:xfrm>
            <a:off x="9015984" y="4160520"/>
            <a:ext cx="2295144" cy="1737360"/>
          </a:xfrm>
          <a:prstGeom prst="rect">
            <a:avLst/>
          </a:prstGeom>
          <a:noFill/>
        </p:spPr>
        <p:txBody>
          <a:bodyPr wrap="square" lIns="0" rIns="0" tIns="0" bIns="0">
            <a:spAutoFit/>
          </a:bodyPr>
          <a:lstStyle/>
          <a:p>
            <a:pPr algn="r">
              <a:defRPr sz="1350" b="1">
                <a:solidFill>
                  <a:srgbClr val="0B192C"/>
                </a:solidFill>
                <a:latin typeface="Arial"/>
              </a:defRPr>
            </a:pPr>
            <a:r>
              <a:t>كواشف وأجهزة المسح الإشعاعي</a:t>
            </a:r>
          </a:p>
          <a:p>
            <a:pPr algn="r">
              <a:spcBef>
                <a:spcPts val="400"/>
              </a:spcBef>
              <a:defRPr sz="1050">
                <a:solidFill>
                  <a:srgbClr val="172033"/>
                </a:solidFill>
                <a:latin typeface="Arial"/>
              </a:defRPr>
            </a:pPr>
            <a:r>
              <a:t>منظومات مسح التلوث وأجهزة القياس الميدانية الجاهزة للمعايرة والاعتماد.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04. التشخيص والمبررات</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0B192C"/>
                </a:solidFill>
                <a:latin typeface="Arial"/>
              </a:defRPr>
            </a:pPr>
            <a:r>
              <a:t>الفجوات التشغيلية التي استهدفها مشروع التطوير</a:t>
            </a:r>
          </a:p>
        </p:txBody>
      </p:sp>
      <p:sp>
        <p:nvSpPr>
          <p:cNvPr id="4" name="Rectangle 3"/>
          <p:cNvSpPr/>
          <p:nvPr/>
        </p:nvSpPr>
        <p:spPr>
          <a:xfrm>
            <a:off x="731520" y="1170432"/>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8C96A5"/>
                </a:solidFill>
                <a:latin typeface="Arial"/>
              </a:defRPr>
            </a:pPr>
            <a:r>
              <a:t>مؤسسة الطاقة الذرية  |  اجتماع اللجنة العلمية الدائمة 2026  |  شريحة 5</a:t>
            </a:r>
          </a:p>
        </p:txBody>
      </p:sp>
      <p:sp>
        <p:nvSpPr>
          <p:cNvPr id="6" name="Rounded Rectangle 5"/>
          <p:cNvSpPr/>
          <p:nvPr/>
        </p:nvSpPr>
        <p:spPr>
          <a:xfrm>
            <a:off x="731520" y="141732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424160" y="155448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0" y="1600200"/>
            <a:ext cx="822960" cy="457200"/>
          </a:xfrm>
          <a:prstGeom prst="rect">
            <a:avLst/>
          </a:prstGeom>
          <a:noFill/>
        </p:spPr>
        <p:txBody>
          <a:bodyPr wrap="none">
            <a:spAutoFit/>
          </a:bodyPr>
          <a:lstStyle/>
          <a:p>
            <a:pPr algn="ctr">
              <a:defRPr sz="1600" b="1">
                <a:solidFill>
                  <a:srgbClr val="0B192C"/>
                </a:solidFill>
                <a:latin typeface="Arial"/>
              </a:defRPr>
            </a:pPr>
            <a:r>
              <a:t>01</a:t>
            </a:r>
          </a:p>
        </p:txBody>
      </p:sp>
      <p:sp>
        <p:nvSpPr>
          <p:cNvPr id="9" name="TextBox 8"/>
          <p:cNvSpPr txBox="1"/>
          <p:nvPr/>
        </p:nvSpPr>
        <p:spPr>
          <a:xfrm>
            <a:off x="914400" y="1527048"/>
            <a:ext cx="9326880" cy="640080"/>
          </a:xfrm>
          <a:prstGeom prst="rect">
            <a:avLst/>
          </a:prstGeom>
          <a:noFill/>
        </p:spPr>
        <p:txBody>
          <a:bodyPr wrap="square" lIns="0" rIns="0" tIns="0" bIns="0">
            <a:spAutoFit/>
          </a:bodyPr>
          <a:lstStyle/>
          <a:p>
            <a:pPr algn="r">
              <a:defRPr sz="1400" b="1">
                <a:solidFill>
                  <a:srgbClr val="0B192C"/>
                </a:solidFill>
                <a:latin typeface="Arial"/>
              </a:defRPr>
            </a:pPr>
            <a:r>
              <a:t>تشتت البيانات والسجلات الفنية</a:t>
            </a:r>
          </a:p>
          <a:p>
            <a:pPr algn="r">
              <a:spcBef>
                <a:spcPts val="200"/>
              </a:spcBef>
              <a:defRPr sz="1100">
                <a:solidFill>
                  <a:srgbClr val="172033"/>
                </a:solidFill>
                <a:latin typeface="Arial"/>
              </a:defRPr>
            </a:pPr>
            <a:r>
              <a:t>توزع نتائج القياسات والبيانات الفنية بين سجلات ورقية وملفات متفرقة، مما يصعب تكوين رؤية موحدة وشاملة لحالة كل جهاز.</a:t>
            </a:r>
          </a:p>
        </p:txBody>
      </p:sp>
      <p:sp>
        <p:nvSpPr>
          <p:cNvPr id="10" name="Rounded Rectangle 9"/>
          <p:cNvSpPr/>
          <p:nvPr/>
        </p:nvSpPr>
        <p:spPr>
          <a:xfrm>
            <a:off x="731520" y="237744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424160" y="251460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0" y="2560320"/>
            <a:ext cx="822960" cy="457200"/>
          </a:xfrm>
          <a:prstGeom prst="rect">
            <a:avLst/>
          </a:prstGeom>
          <a:noFill/>
        </p:spPr>
        <p:txBody>
          <a:bodyPr wrap="none">
            <a:spAutoFit/>
          </a:bodyPr>
          <a:lstStyle/>
          <a:p>
            <a:pPr algn="ctr">
              <a:defRPr sz="1600" b="1">
                <a:solidFill>
                  <a:srgbClr val="0B192C"/>
                </a:solidFill>
                <a:latin typeface="Arial"/>
              </a:defRPr>
            </a:pPr>
            <a:r>
              <a:t>02</a:t>
            </a:r>
          </a:p>
        </p:txBody>
      </p:sp>
      <p:sp>
        <p:nvSpPr>
          <p:cNvPr id="13" name="TextBox 12"/>
          <p:cNvSpPr txBox="1"/>
          <p:nvPr/>
        </p:nvSpPr>
        <p:spPr>
          <a:xfrm>
            <a:off x="914400" y="2487168"/>
            <a:ext cx="9326880" cy="640080"/>
          </a:xfrm>
          <a:prstGeom prst="rect">
            <a:avLst/>
          </a:prstGeom>
          <a:noFill/>
        </p:spPr>
        <p:txBody>
          <a:bodyPr wrap="square" lIns="0" rIns="0" tIns="0" bIns="0">
            <a:spAutoFit/>
          </a:bodyPr>
          <a:lstStyle/>
          <a:p>
            <a:pPr algn="r">
              <a:defRPr sz="1400" b="1">
                <a:solidFill>
                  <a:srgbClr val="0B192C"/>
                </a:solidFill>
                <a:latin typeface="Arial"/>
              </a:defRPr>
            </a:pPr>
            <a:r>
              <a:t>الاعتماد المكثف على الإجراءات الورقية</a:t>
            </a:r>
          </a:p>
          <a:p>
            <a:pPr algn="r">
              <a:spcBef>
                <a:spcPts val="200"/>
              </a:spcBef>
              <a:defRPr sz="1100">
                <a:solidFill>
                  <a:srgbClr val="172033"/>
                </a:solidFill>
                <a:latin typeface="Arial"/>
              </a:defRPr>
            </a:pPr>
            <a:r>
              <a:t>بطء عمليات الأرشفة التقليدية، وارتفاع احتمالية تلف الوثائق وصعوبة البحث والاسترجاع التاريخي عند التدقيق.</a:t>
            </a:r>
          </a:p>
        </p:txBody>
      </p:sp>
      <p:sp>
        <p:nvSpPr>
          <p:cNvPr id="14" name="Rounded Rectangle 13"/>
          <p:cNvSpPr/>
          <p:nvPr/>
        </p:nvSpPr>
        <p:spPr>
          <a:xfrm>
            <a:off x="731520" y="333756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424160" y="347472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0" y="3520440"/>
            <a:ext cx="822960" cy="457200"/>
          </a:xfrm>
          <a:prstGeom prst="rect">
            <a:avLst/>
          </a:prstGeom>
          <a:noFill/>
        </p:spPr>
        <p:txBody>
          <a:bodyPr wrap="none">
            <a:spAutoFit/>
          </a:bodyPr>
          <a:lstStyle/>
          <a:p>
            <a:pPr algn="ctr">
              <a:defRPr sz="1600" b="1">
                <a:solidFill>
                  <a:srgbClr val="0B192C"/>
                </a:solidFill>
                <a:latin typeface="Arial"/>
              </a:defRPr>
            </a:pPr>
            <a:r>
              <a:t>03</a:t>
            </a:r>
          </a:p>
        </p:txBody>
      </p:sp>
      <p:sp>
        <p:nvSpPr>
          <p:cNvPr id="17" name="TextBox 16"/>
          <p:cNvSpPr txBox="1"/>
          <p:nvPr/>
        </p:nvSpPr>
        <p:spPr>
          <a:xfrm>
            <a:off x="914400" y="3447288"/>
            <a:ext cx="9326880" cy="640080"/>
          </a:xfrm>
          <a:prstGeom prst="rect">
            <a:avLst/>
          </a:prstGeom>
          <a:noFill/>
        </p:spPr>
        <p:txBody>
          <a:bodyPr wrap="square" lIns="0" rIns="0" tIns="0" bIns="0">
            <a:spAutoFit/>
          </a:bodyPr>
          <a:lstStyle/>
          <a:p>
            <a:pPr algn="r">
              <a:defRPr sz="1400" b="1">
                <a:solidFill>
                  <a:srgbClr val="0B192C"/>
                </a:solidFill>
                <a:latin typeface="Arial"/>
              </a:defRPr>
            </a:pPr>
            <a:r>
              <a:t>صعوبة التحقق الميداني الفوري</a:t>
            </a:r>
          </a:p>
          <a:p>
            <a:pPr algn="r">
              <a:spcBef>
                <a:spcPts val="200"/>
              </a:spcBef>
              <a:defRPr sz="1100">
                <a:solidFill>
                  <a:srgbClr val="172033"/>
                </a:solidFill>
                <a:latin typeface="Arial"/>
              </a:defRPr>
            </a:pPr>
            <a:r>
              <a:t>تعذر التحقق اللحظي في المواقع التشغيلية من سريان وصحة شهادة المعايرة أو اكتشاف أي تعديل غير مصرح به على الوثيقة.</a:t>
            </a:r>
          </a:p>
        </p:txBody>
      </p:sp>
      <p:sp>
        <p:nvSpPr>
          <p:cNvPr id="18" name="Rounded Rectangle 17"/>
          <p:cNvSpPr/>
          <p:nvPr/>
        </p:nvSpPr>
        <p:spPr>
          <a:xfrm>
            <a:off x="731520" y="429768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424160" y="443484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0" y="4480560"/>
            <a:ext cx="822960" cy="457200"/>
          </a:xfrm>
          <a:prstGeom prst="rect">
            <a:avLst/>
          </a:prstGeom>
          <a:noFill/>
        </p:spPr>
        <p:txBody>
          <a:bodyPr wrap="none">
            <a:spAutoFit/>
          </a:bodyPr>
          <a:lstStyle/>
          <a:p>
            <a:pPr algn="ctr">
              <a:defRPr sz="1600" b="1">
                <a:solidFill>
                  <a:srgbClr val="0B192C"/>
                </a:solidFill>
                <a:latin typeface="Arial"/>
              </a:defRPr>
            </a:pPr>
            <a:r>
              <a:t>04</a:t>
            </a:r>
          </a:p>
        </p:txBody>
      </p:sp>
      <p:sp>
        <p:nvSpPr>
          <p:cNvPr id="21" name="TextBox 20"/>
          <p:cNvSpPr txBox="1"/>
          <p:nvPr/>
        </p:nvSpPr>
        <p:spPr>
          <a:xfrm>
            <a:off x="914400" y="4407408"/>
            <a:ext cx="9326880" cy="640080"/>
          </a:xfrm>
          <a:prstGeom prst="rect">
            <a:avLst/>
          </a:prstGeom>
          <a:noFill/>
        </p:spPr>
        <p:txBody>
          <a:bodyPr wrap="square" lIns="0" rIns="0" tIns="0" bIns="0">
            <a:spAutoFit/>
          </a:bodyPr>
          <a:lstStyle/>
          <a:p>
            <a:pPr algn="r">
              <a:defRPr sz="1400" b="1">
                <a:solidFill>
                  <a:srgbClr val="0B192C"/>
                </a:solidFill>
                <a:latin typeface="Arial"/>
              </a:defRPr>
            </a:pPr>
            <a:r>
              <a:t>غياب سجل مركزي للأجهزة والشهادات</a:t>
            </a:r>
          </a:p>
          <a:p>
            <a:pPr algn="r">
              <a:spcBef>
                <a:spcPts val="200"/>
              </a:spcBef>
              <a:defRPr sz="1100">
                <a:solidFill>
                  <a:srgbClr val="172033"/>
                </a:solidFill>
                <a:latin typeface="Arial"/>
              </a:defRPr>
            </a:pPr>
            <a:r>
              <a:t>الحاجة إلى لوحة متابعة استباقية توضح الأجهزة القريبة من انتهاء صلاحية المعايرة وتمنع التأخر في إعادة الفحص.</a:t>
            </a:r>
          </a:p>
        </p:txBody>
      </p:sp>
      <p:sp>
        <p:nvSpPr>
          <p:cNvPr id="22" name="Rounded Rectangle 21"/>
          <p:cNvSpPr/>
          <p:nvPr/>
        </p:nvSpPr>
        <p:spPr>
          <a:xfrm>
            <a:off x="731520" y="525780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424160" y="539496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60" y="5440680"/>
            <a:ext cx="822960" cy="457200"/>
          </a:xfrm>
          <a:prstGeom prst="rect">
            <a:avLst/>
          </a:prstGeom>
          <a:noFill/>
        </p:spPr>
        <p:txBody>
          <a:bodyPr wrap="none">
            <a:spAutoFit/>
          </a:bodyPr>
          <a:lstStyle/>
          <a:p>
            <a:pPr algn="ctr">
              <a:defRPr sz="1600" b="1">
                <a:solidFill>
                  <a:srgbClr val="0B192C"/>
                </a:solidFill>
                <a:latin typeface="Arial"/>
              </a:defRPr>
            </a:pPr>
            <a:r>
              <a:t>05</a:t>
            </a:r>
          </a:p>
        </p:txBody>
      </p:sp>
      <p:sp>
        <p:nvSpPr>
          <p:cNvPr id="25" name="TextBox 24"/>
          <p:cNvSpPr txBox="1"/>
          <p:nvPr/>
        </p:nvSpPr>
        <p:spPr>
          <a:xfrm>
            <a:off x="914400" y="5367528"/>
            <a:ext cx="9326880" cy="640080"/>
          </a:xfrm>
          <a:prstGeom prst="rect">
            <a:avLst/>
          </a:prstGeom>
          <a:noFill/>
        </p:spPr>
        <p:txBody>
          <a:bodyPr wrap="square" lIns="0" rIns="0" tIns="0" bIns="0">
            <a:spAutoFit/>
          </a:bodyPr>
          <a:lstStyle/>
          <a:p>
            <a:pPr algn="r">
              <a:defRPr sz="1400" b="1">
                <a:solidFill>
                  <a:srgbClr val="0B192C"/>
                </a:solidFill>
                <a:latin typeface="Arial"/>
              </a:defRPr>
            </a:pPr>
            <a:r>
              <a:t>الحاجة لحصر وتتبع رقمي للمصادر المشعة</a:t>
            </a:r>
          </a:p>
          <a:p>
            <a:pPr algn="r">
              <a:spcBef>
                <a:spcPts val="200"/>
              </a:spcBef>
              <a:defRPr sz="1100">
                <a:solidFill>
                  <a:srgbClr val="172033"/>
                </a:solidFill>
                <a:latin typeface="Arial"/>
              </a:defRPr>
            </a:pPr>
            <a:r>
              <a:t>أهمية وجود نظام موحد يوثق مكان المصدر المشع، حيازته الحالية، وتاريخ حركته وحسابات اضمحلال نشاطه الإشعاعي آلياً.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05. التطوير الإجرائي والمترولوجي</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0B192C"/>
                </a:solidFill>
                <a:latin typeface="Arial"/>
              </a:defRPr>
            </a:pPr>
            <a:r>
              <a:t>إعادة هندسة دورة شهادة المعايرة</a:t>
            </a:r>
          </a:p>
        </p:txBody>
      </p:sp>
      <p:sp>
        <p:nvSpPr>
          <p:cNvPr id="4" name="Rectangle 3"/>
          <p:cNvSpPr/>
          <p:nvPr/>
        </p:nvSpPr>
        <p:spPr>
          <a:xfrm>
            <a:off x="731520" y="1170432"/>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8C96A5"/>
                </a:solidFill>
                <a:latin typeface="Arial"/>
              </a:defRPr>
            </a:pPr>
            <a:r>
              <a:t>مؤسسة الطاقة الذرية  |  اجتماع اللجنة العلمية الدائمة 2026  |  شريحة 6</a:t>
            </a:r>
          </a:p>
        </p:txBody>
      </p:sp>
      <p:sp>
        <p:nvSpPr>
          <p:cNvPr id="6" name="Rounded Rectangle 5"/>
          <p:cNvSpPr/>
          <p:nvPr/>
        </p:nvSpPr>
        <p:spPr>
          <a:xfrm>
            <a:off x="731520" y="1371600"/>
            <a:ext cx="10728655" cy="502920"/>
          </a:xfrm>
          <a:prstGeom prst="round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10362895" cy="411480"/>
          </a:xfrm>
          <a:prstGeom prst="rect">
            <a:avLst/>
          </a:prstGeom>
          <a:noFill/>
        </p:spPr>
        <p:txBody>
          <a:bodyPr wrap="none">
            <a:spAutoFit/>
          </a:bodyPr>
          <a:lstStyle/>
          <a:p>
            <a:pPr algn="ctr">
              <a:defRPr sz="1200" b="1">
                <a:solidFill>
                  <a:srgbClr val="B8922E"/>
                </a:solidFill>
                <a:latin typeface="Arial"/>
              </a:defRPr>
            </a:pPr>
            <a:r>
              <a:t>تهيئة البنية الفنية والوثائقية لدعم المتطلبات ذات الصلة في المواصفة الدولية ISO/IEC 17025:2017</a:t>
            </a:r>
          </a:p>
        </p:txBody>
      </p:sp>
      <p:sp>
        <p:nvSpPr>
          <p:cNvPr id="8" name="Rounded Rectangle 7"/>
          <p:cNvSpPr/>
          <p:nvPr/>
        </p:nvSpPr>
        <p:spPr>
          <a:xfrm>
            <a:off x="731520" y="2011680"/>
            <a:ext cx="5212080" cy="41605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48840"/>
            <a:ext cx="4846320" cy="3840480"/>
          </a:xfrm>
          <a:prstGeom prst="rect">
            <a:avLst/>
          </a:prstGeom>
          <a:noFill/>
        </p:spPr>
        <p:txBody>
          <a:bodyPr wrap="square">
            <a:spAutoFit/>
          </a:bodyPr>
          <a:lstStyle/>
          <a:p>
            <a:pPr algn="r">
              <a:defRPr sz="1700" b="1">
                <a:solidFill>
                  <a:srgbClr val="10B981"/>
                </a:solidFill>
                <a:latin typeface="Arial"/>
              </a:defRPr>
            </a:pPr>
            <a:r>
              <a:t>✅  بعد التطوير (المسار المحدث)</a:t>
            </a:r>
          </a:p>
          <a:p>
            <a:pPr algn="r">
              <a:spcBef>
                <a:spcPts val="600"/>
              </a:spcBef>
              <a:defRPr sz="1200">
                <a:solidFill>
                  <a:srgbClr val="172033"/>
                </a:solidFill>
                <a:latin typeface="Arial"/>
              </a:defRPr>
            </a:pPr>
            <a:r>
              <a:t>• سجل رقمي موحد يربط بيانات الجهاز بنتيجة المعايرة مباشرة.</a:t>
            </a:r>
          </a:p>
          <a:p>
            <a:pPr algn="r">
              <a:spcBef>
                <a:spcPts val="600"/>
              </a:spcBef>
              <a:defRPr sz="1200">
                <a:solidFill>
                  <a:srgbClr val="172033"/>
                </a:solidFill>
                <a:latin typeface="Arial"/>
              </a:defRPr>
            </a:pPr>
            <a:r>
              <a:t>• هوية رقمية فريدة (Unique Certificate ID) لكل وثيقة صادرة.</a:t>
            </a:r>
          </a:p>
          <a:p>
            <a:pPr algn="r">
              <a:spcBef>
                <a:spcPts val="600"/>
              </a:spcBef>
              <a:defRPr sz="1200">
                <a:solidFill>
                  <a:srgbClr val="172033"/>
                </a:solidFill>
                <a:latin typeface="Arial"/>
              </a:defRPr>
            </a:pPr>
            <a:r>
              <a:t>• رمز استجابة سريعة QR للتحقق الميداني اللحظي عبر أي ماسح.</a:t>
            </a:r>
          </a:p>
          <a:p>
            <a:pPr algn="r">
              <a:spcBef>
                <a:spcPts val="600"/>
              </a:spcBef>
              <a:defRPr sz="1200">
                <a:solidFill>
                  <a:srgbClr val="172033"/>
                </a:solidFill>
                <a:latin typeface="Arial"/>
              </a:defRPr>
            </a:pPr>
            <a:r>
              <a:t>• توقيع مشفر يمنع التلاعب ويكشف أي تعديل على محتوى الوثيقة.</a:t>
            </a:r>
          </a:p>
          <a:p>
            <a:pPr algn="r">
              <a:spcBef>
                <a:spcPts val="600"/>
              </a:spcBef>
              <a:defRPr sz="1200">
                <a:solidFill>
                  <a:srgbClr val="172033"/>
                </a:solidFill>
                <a:latin typeface="Arial"/>
              </a:defRPr>
            </a:pPr>
            <a:r>
              <a:t>• سجل تدقيق كامل (Audit Trail) يوثق الفني والمسؤول ووقت الإصدار.</a:t>
            </a:r>
          </a:p>
          <a:p>
            <a:pPr algn="r">
              <a:spcBef>
                <a:spcPts val="600"/>
              </a:spcBef>
              <a:defRPr sz="1200">
                <a:solidFill>
                  <a:srgbClr val="172033"/>
                </a:solidFill>
                <a:latin typeface="Arial"/>
              </a:defRPr>
            </a:pPr>
            <a:r>
              <a:t>• مواءمة كاملة لبيانات الشهادة مع متطلبات التوثيق المترولوجي المعتمد.</a:t>
            </a:r>
          </a:p>
        </p:txBody>
      </p:sp>
      <p:sp>
        <p:nvSpPr>
          <p:cNvPr id="10" name="Rounded Rectangle 9"/>
          <p:cNvSpPr/>
          <p:nvPr/>
        </p:nvSpPr>
        <p:spPr>
          <a:xfrm>
            <a:off x="6217920" y="2011680"/>
            <a:ext cx="5212080" cy="4160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148840"/>
            <a:ext cx="4846320" cy="3840480"/>
          </a:xfrm>
          <a:prstGeom prst="rect">
            <a:avLst/>
          </a:prstGeom>
          <a:noFill/>
        </p:spPr>
        <p:txBody>
          <a:bodyPr wrap="square">
            <a:spAutoFit/>
          </a:bodyPr>
          <a:lstStyle/>
          <a:p>
            <a:pPr algn="r">
              <a:defRPr sz="1700" b="1">
                <a:solidFill>
                  <a:srgbClr val="F59E0B"/>
                </a:solidFill>
                <a:latin typeface="Arial"/>
              </a:defRPr>
            </a:pPr>
            <a:r>
              <a:t>⚠️  سابقاً (المسار التقليدي)</a:t>
            </a:r>
          </a:p>
          <a:p>
            <a:pPr algn="r">
              <a:spcBef>
                <a:spcPts val="600"/>
              </a:spcBef>
              <a:defRPr sz="1200">
                <a:solidFill>
                  <a:srgbClr val="64748B"/>
                </a:solidFill>
                <a:latin typeface="Arial"/>
              </a:defRPr>
            </a:pPr>
            <a:r>
              <a:t>• مستندات ورقية معزولة ومنفصلة عن قواعد البيانات المركزية.</a:t>
            </a:r>
          </a:p>
          <a:p>
            <a:pPr algn="r">
              <a:spcBef>
                <a:spcPts val="600"/>
              </a:spcBef>
              <a:defRPr sz="1200">
                <a:solidFill>
                  <a:srgbClr val="64748B"/>
                </a:solidFill>
                <a:latin typeface="Arial"/>
              </a:defRPr>
            </a:pPr>
            <a:r>
              <a:t>• تحقق يدوي يعتمد كلياً على مراجعة الأوراق والملفات السابقة.</a:t>
            </a:r>
          </a:p>
          <a:p>
            <a:pPr algn="r">
              <a:spcBef>
                <a:spcPts val="600"/>
              </a:spcBef>
              <a:defRPr sz="1200">
                <a:solidFill>
                  <a:srgbClr val="64748B"/>
                </a:solidFill>
                <a:latin typeface="Arial"/>
              </a:defRPr>
            </a:pPr>
            <a:r>
              <a:t>• أرشفة تقليدية معرضة لخطر التلف وفقدان تسلسل المعايرات التاريخية.</a:t>
            </a:r>
          </a:p>
          <a:p>
            <a:pPr algn="r">
              <a:spcBef>
                <a:spcPts val="600"/>
              </a:spcBef>
              <a:defRPr sz="1200">
                <a:solidFill>
                  <a:srgbClr val="64748B"/>
                </a:solidFill>
                <a:latin typeface="Arial"/>
              </a:defRPr>
            </a:pPr>
            <a:r>
              <a:t>• صعوبة التحقق السريع من مطابقة بيانات الوثيقة مع السجل الحقيقي.</a:t>
            </a:r>
          </a:p>
          <a:p>
            <a:pPr algn="r">
              <a:spcBef>
                <a:spcPts val="600"/>
              </a:spcBef>
              <a:defRPr sz="1200">
                <a:solidFill>
                  <a:srgbClr val="64748B"/>
                </a:solidFill>
                <a:latin typeface="Arial"/>
              </a:defRPr>
            </a:pPr>
            <a:r>
              <a:t>• جهد مضاعف في استخراج التقارير وتتبع الأجهزة المستحقة للمعايرة.</a:t>
            </a:r>
          </a:p>
          <a:p>
            <a:pPr algn="r">
              <a:spcBef>
                <a:spcPts val="600"/>
              </a:spcBef>
              <a:defRPr sz="1200">
                <a:solidFill>
                  <a:srgbClr val="64748B"/>
                </a:solidFill>
                <a:latin typeface="Arial"/>
              </a:defRPr>
            </a:pPr>
            <a:r>
              <a:t>• غياب الربط الآلي بين معاملات التصحيح وتطبيقات الفحص الميدانية.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06. إعادة التأهيل والتجهيز</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0B192C"/>
                </a:solidFill>
                <a:latin typeface="Arial"/>
              </a:defRPr>
            </a:pPr>
            <a:r>
              <a:t>تطوير القدرات المرجعية لمعايرة أنظمة العلاج الإشعاعي</a:t>
            </a:r>
          </a:p>
        </p:txBody>
      </p:sp>
      <p:sp>
        <p:nvSpPr>
          <p:cNvPr id="4" name="Rectangle 3"/>
          <p:cNvSpPr/>
          <p:nvPr/>
        </p:nvSpPr>
        <p:spPr>
          <a:xfrm>
            <a:off x="731520" y="1170432"/>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8C96A5"/>
                </a:solidFill>
                <a:latin typeface="Arial"/>
              </a:defRPr>
            </a:pPr>
            <a:r>
              <a:t>مؤسسة الطاقة الذرية  |  اجتماع اللجنة العلمية الدائمة 2026  |  شريحة 7</a:t>
            </a:r>
          </a:p>
        </p:txBody>
      </p:sp>
      <p:pic>
        <p:nvPicPr>
          <p:cNvPr id="6" name="Picture 5" descr="2.jpeg"/>
          <p:cNvPicPr>
            <a:picLocks noChangeAspect="1"/>
          </p:cNvPicPr>
          <p:nvPr/>
        </p:nvPicPr>
        <p:blipFill>
          <a:blip r:embed="rId2"/>
          <a:stretch>
            <a:fillRect/>
          </a:stretch>
        </p:blipFill>
        <p:spPr>
          <a:xfrm>
            <a:off x="731520" y="1417320"/>
            <a:ext cx="3840480" cy="4663440"/>
          </a:xfrm>
          <a:prstGeom prst="rect">
            <a:avLst/>
          </a:prstGeom>
        </p:spPr>
      </p:pic>
      <p:sp>
        <p:nvSpPr>
          <p:cNvPr id="7" name="Rounded Rectangle 6"/>
          <p:cNvSpPr/>
          <p:nvPr/>
        </p:nvSpPr>
        <p:spPr>
          <a:xfrm>
            <a:off x="4846320" y="1417320"/>
            <a:ext cx="6583680" cy="1051560"/>
          </a:xfrm>
          <a:prstGeom prst="roundRect">
            <a:avLst/>
          </a:prstGeom>
          <a:solidFill>
            <a:srgbClr val="FFFFF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508760"/>
            <a:ext cx="6217920" cy="868680"/>
          </a:xfrm>
          <a:prstGeom prst="rect">
            <a:avLst/>
          </a:prstGeom>
          <a:noFill/>
        </p:spPr>
        <p:txBody>
          <a:bodyPr wrap="square">
            <a:spAutoFit/>
          </a:bodyPr>
          <a:lstStyle/>
          <a:p>
            <a:pPr algn="r">
              <a:defRPr sz="1300" b="1">
                <a:solidFill>
                  <a:srgbClr val="B8922E"/>
                </a:solidFill>
                <a:latin typeface="Arial"/>
              </a:defRPr>
            </a:pPr>
            <a:r>
              <a:t>سلسلة القياس والمعايرة المرجعية للعلاج الإشعاعي</a:t>
            </a:r>
          </a:p>
          <a:p>
            <a:pPr algn="ctr">
              <a:spcBef>
                <a:spcPts val="400"/>
              </a:spcBef>
              <a:defRPr sz="1100" b="1">
                <a:solidFill>
                  <a:srgbClr val="0B192C"/>
                </a:solidFill>
                <a:latin typeface="Arial"/>
              </a:defRPr>
            </a:pPr>
            <a:r>
              <a:t>Water Phantom  →  Farmer Chamber  →  Electrometer  →  Reference Calibration</a:t>
            </a:r>
          </a:p>
        </p:txBody>
      </p:sp>
      <p:sp>
        <p:nvSpPr>
          <p:cNvPr id="9" name="Rounded Rectangle 8"/>
          <p:cNvSpPr/>
          <p:nvPr/>
        </p:nvSpPr>
        <p:spPr>
          <a:xfrm>
            <a:off x="4846320" y="2651760"/>
            <a:ext cx="658368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0" y="2761488"/>
            <a:ext cx="6217920" cy="822960"/>
          </a:xfrm>
          <a:prstGeom prst="rect">
            <a:avLst/>
          </a:prstGeom>
          <a:noFill/>
        </p:spPr>
        <p:txBody>
          <a:bodyPr wrap="square">
            <a:spAutoFit/>
          </a:bodyPr>
          <a:lstStyle/>
          <a:p>
            <a:pPr algn="r">
              <a:defRPr sz="1350" b="1">
                <a:solidFill>
                  <a:srgbClr val="0B192C"/>
                </a:solidFill>
                <a:latin typeface="Arial"/>
              </a:defRPr>
            </a:pPr>
            <a:r>
              <a:t>⚙️  توفير غرفة التأين المرجعية Farmer Chamber</a:t>
            </a:r>
          </a:p>
          <a:p>
            <a:pPr algn="r">
              <a:spcBef>
                <a:spcPts val="300"/>
              </a:spcBef>
              <a:defRPr sz="1050">
                <a:solidFill>
                  <a:srgbClr val="172033"/>
                </a:solidFill>
                <a:latin typeface="Arial"/>
              </a:defRPr>
            </a:pPr>
            <a:r>
              <a:t>تجهيز المختبر بغرفة التأين المرجعية (Farmer Ionization Chamber 0.6 cm³)، وهي العنصر الحاكم لإجراء القياسات الجرعية المرجعية لحزم العلاج الإشعاعي.</a:t>
            </a:r>
          </a:p>
        </p:txBody>
      </p:sp>
      <p:sp>
        <p:nvSpPr>
          <p:cNvPr id="11" name="Rounded Rectangle 10"/>
          <p:cNvSpPr/>
          <p:nvPr/>
        </p:nvSpPr>
        <p:spPr>
          <a:xfrm>
            <a:off x="4846320" y="3840480"/>
            <a:ext cx="658368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0" y="3950208"/>
            <a:ext cx="6217920" cy="822960"/>
          </a:xfrm>
          <a:prstGeom prst="rect">
            <a:avLst/>
          </a:prstGeom>
          <a:noFill/>
        </p:spPr>
        <p:txBody>
          <a:bodyPr wrap="square">
            <a:spAutoFit/>
          </a:bodyPr>
          <a:lstStyle/>
          <a:p>
            <a:pPr algn="r">
              <a:defRPr sz="1350" b="1">
                <a:solidFill>
                  <a:srgbClr val="0B192C"/>
                </a:solidFill>
                <a:latin typeface="Arial"/>
              </a:defRPr>
            </a:pPr>
            <a:r>
              <a:t>⚙️  إعادة تأهيل وتجهيز مسار القياس</a:t>
            </a:r>
          </a:p>
          <a:p>
            <a:pPr algn="r">
              <a:spcBef>
                <a:spcPts val="300"/>
              </a:spcBef>
              <a:defRPr sz="1050">
                <a:solidFill>
                  <a:srgbClr val="172033"/>
                </a:solidFill>
                <a:latin typeface="Arial"/>
              </a:defRPr>
            </a:pPr>
            <a:r>
              <a:t>إعادة ضبط مسار المعايرة الميكانيكي ومنظومة المحاذاة الليزرية، وربطها بغرفة التأين وجهاز PTW UNIDOS لضمان أعلى دقة هندسية وفيزيائية.</a:t>
            </a:r>
          </a:p>
        </p:txBody>
      </p:sp>
      <p:sp>
        <p:nvSpPr>
          <p:cNvPr id="13" name="Rounded Rectangle 12"/>
          <p:cNvSpPr/>
          <p:nvPr/>
        </p:nvSpPr>
        <p:spPr>
          <a:xfrm>
            <a:off x="4846320" y="5029200"/>
            <a:ext cx="658368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0" y="5138928"/>
            <a:ext cx="6217920" cy="822960"/>
          </a:xfrm>
          <a:prstGeom prst="rect">
            <a:avLst/>
          </a:prstGeom>
          <a:noFill/>
        </p:spPr>
        <p:txBody>
          <a:bodyPr wrap="square">
            <a:spAutoFit/>
          </a:bodyPr>
          <a:lstStyle/>
          <a:p>
            <a:pPr algn="r">
              <a:defRPr sz="1350" b="1">
                <a:solidFill>
                  <a:srgbClr val="0B192C"/>
                </a:solidFill>
                <a:latin typeface="Arial"/>
              </a:defRPr>
            </a:pPr>
            <a:r>
              <a:t>⚙️  مواءمة البروتوكولات الفنية</a:t>
            </a:r>
          </a:p>
          <a:p>
            <a:pPr algn="r">
              <a:spcBef>
                <a:spcPts val="300"/>
              </a:spcBef>
              <a:defRPr sz="1050">
                <a:solidFill>
                  <a:srgbClr val="172033"/>
                </a:solidFill>
                <a:latin typeface="Arial"/>
              </a:defRPr>
            </a:pPr>
            <a:r>
              <a:t>إعداد وتحديث إجراءات الفحص والقياس طبقاً لبروتوكولات الوكالة الدولية للطاقة الذرية (TRS-398)، تمهيداً للبدء التشغيلي الكامل لخدمات المعايرة.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Rounded Rectangle 1"/>
          <p:cNvSpPr/>
          <p:nvPr/>
        </p:nvSpPr>
        <p:spPr>
          <a:xfrm>
            <a:off x="457200" y="457200"/>
            <a:ext cx="11277295" cy="594360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097280"/>
          </a:xfrm>
          <a:prstGeom prst="rect">
            <a:avLst/>
          </a:prstGeom>
          <a:noFill/>
        </p:spPr>
        <p:txBody>
          <a:bodyPr wrap="none">
            <a:spAutoFit/>
          </a:bodyPr>
          <a:lstStyle/>
          <a:p>
            <a:pPr algn="ctr">
              <a:defRPr sz="1300" b="1">
                <a:solidFill>
                  <a:srgbClr val="D4AF37"/>
                </a:solidFill>
                <a:latin typeface="Arial"/>
              </a:defRPr>
            </a:pPr>
            <a:r>
              <a:t>محور التحول المؤسسي المشترك</a:t>
            </a:r>
          </a:p>
          <a:p>
            <a:pPr algn="ctr">
              <a:spcBef>
                <a:spcPts val="400"/>
              </a:spcBef>
              <a:defRPr sz="2600" b="1">
                <a:solidFill>
                  <a:srgbClr val="F1F5F9"/>
                </a:solidFill>
                <a:latin typeface="Arial"/>
              </a:defRPr>
            </a:pPr>
            <a:r>
              <a:t>من القياس المرجعي إلى الحوكمة الرقمية</a:t>
            </a:r>
          </a:p>
        </p:txBody>
      </p:sp>
      <p:sp>
        <p:nvSpPr>
          <p:cNvPr id="4" name="Rounded Rectangle 3"/>
          <p:cNvSpPr/>
          <p:nvPr/>
        </p:nvSpPr>
        <p:spPr>
          <a:xfrm>
            <a:off x="731520" y="2377440"/>
            <a:ext cx="1234440" cy="15544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143000" cy="1188720"/>
          </a:xfrm>
          <a:prstGeom prst="rect">
            <a:avLst/>
          </a:prstGeom>
          <a:noFill/>
        </p:spPr>
        <p:txBody>
          <a:bodyPr wrap="square" lIns="0" rIns="0" tIns="0" bIns="0">
            <a:spAutoFit/>
          </a:bodyPr>
          <a:lstStyle/>
          <a:p>
            <a:pPr algn="ctr">
              <a:defRPr sz="1100" b="1">
                <a:solidFill>
                  <a:srgbClr val="F1F5F9"/>
                </a:solidFill>
                <a:latin typeface="Arial"/>
              </a:defRPr>
            </a:pPr>
            <a:r>
              <a:t>القياس المرجعي</a:t>
            </a:r>
          </a:p>
          <a:p>
            <a:pPr algn="ctr">
              <a:spcBef>
                <a:spcPts val="400"/>
              </a:spcBef>
              <a:defRPr sz="850">
                <a:solidFill>
                  <a:srgbClr val="94A3B8"/>
                </a:solidFill>
                <a:latin typeface="Arial"/>
              </a:defRPr>
            </a:pPr>
            <a:r>
              <a:t>SSDL / Lab</a:t>
            </a:r>
          </a:p>
        </p:txBody>
      </p:sp>
      <p:sp>
        <p:nvSpPr>
          <p:cNvPr id="6" name="TextBox 5"/>
          <p:cNvSpPr txBox="1"/>
          <p:nvPr/>
        </p:nvSpPr>
        <p:spPr>
          <a:xfrm>
            <a:off x="1965960" y="2926080"/>
            <a:ext cx="137160" cy="457200"/>
          </a:xfrm>
          <a:prstGeom prst="rect">
            <a:avLst/>
          </a:prstGeom>
          <a:noFill/>
        </p:spPr>
        <p:txBody>
          <a:bodyPr wrap="none" lIns="0" rIns="0" tIns="0" bIns="0">
            <a:spAutoFit/>
          </a:bodyPr>
          <a:lstStyle/>
          <a:p>
            <a:pPr algn="ctr">
              <a:defRPr sz="1200" b="1">
                <a:solidFill>
                  <a:srgbClr val="D4AF37"/>
                </a:solidFill>
                <a:latin typeface="Arial"/>
              </a:defRPr>
            </a:pPr>
            <a:r>
              <a:t>←</a:t>
            </a:r>
          </a:p>
        </p:txBody>
      </p:sp>
      <p:sp>
        <p:nvSpPr>
          <p:cNvPr id="7" name="Rounded Rectangle 6"/>
          <p:cNvSpPr/>
          <p:nvPr/>
        </p:nvSpPr>
        <p:spPr>
          <a:xfrm>
            <a:off x="2084832"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30552" y="2560320"/>
            <a:ext cx="1143000" cy="1188720"/>
          </a:xfrm>
          <a:prstGeom prst="rect">
            <a:avLst/>
          </a:prstGeom>
          <a:noFill/>
        </p:spPr>
        <p:txBody>
          <a:bodyPr wrap="square" lIns="0" rIns="0" tIns="0" bIns="0">
            <a:spAutoFit/>
          </a:bodyPr>
          <a:lstStyle/>
          <a:p>
            <a:pPr algn="ctr">
              <a:defRPr sz="1100" b="1">
                <a:solidFill>
                  <a:srgbClr val="F1F5F9"/>
                </a:solidFill>
                <a:latin typeface="Arial"/>
              </a:defRPr>
            </a:pPr>
            <a:r>
              <a:t>نتيجة المعايرة</a:t>
            </a:r>
          </a:p>
          <a:p>
            <a:pPr algn="ctr">
              <a:spcBef>
                <a:spcPts val="400"/>
              </a:spcBef>
              <a:defRPr sz="850">
                <a:solidFill>
                  <a:srgbClr val="94A3B8"/>
                </a:solidFill>
                <a:latin typeface="Arial"/>
              </a:defRPr>
            </a:pPr>
            <a:r>
              <a:t>Verified Data</a:t>
            </a:r>
          </a:p>
        </p:txBody>
      </p:sp>
      <p:sp>
        <p:nvSpPr>
          <p:cNvPr id="9" name="TextBox 8"/>
          <p:cNvSpPr txBox="1"/>
          <p:nvPr/>
        </p:nvSpPr>
        <p:spPr>
          <a:xfrm>
            <a:off x="3319272" y="2926080"/>
            <a:ext cx="137160" cy="457200"/>
          </a:xfrm>
          <a:prstGeom prst="rect">
            <a:avLst/>
          </a:prstGeom>
          <a:noFill/>
        </p:spPr>
        <p:txBody>
          <a:bodyPr wrap="none" lIns="0" rIns="0" tIns="0" bIns="0">
            <a:spAutoFit/>
          </a:bodyPr>
          <a:lstStyle/>
          <a:p>
            <a:pPr algn="ctr">
              <a:defRPr sz="1200" b="1">
                <a:solidFill>
                  <a:srgbClr val="D4AF37"/>
                </a:solidFill>
                <a:latin typeface="Arial"/>
              </a:defRPr>
            </a:pPr>
            <a:r>
              <a:t>←</a:t>
            </a:r>
          </a:p>
        </p:txBody>
      </p:sp>
      <p:sp>
        <p:nvSpPr>
          <p:cNvPr id="10" name="Rounded Rectangle 9"/>
          <p:cNvSpPr/>
          <p:nvPr/>
        </p:nvSpPr>
        <p:spPr>
          <a:xfrm>
            <a:off x="3438144" y="2377440"/>
            <a:ext cx="1234440" cy="1554480"/>
          </a:xfrm>
          <a:prstGeom prst="roundRect">
            <a:avLst/>
          </a:prstGeom>
          <a:solidFill>
            <a:srgbClr val="16263D"/>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3864" y="2560320"/>
            <a:ext cx="1143000" cy="1188720"/>
          </a:xfrm>
          <a:prstGeom prst="rect">
            <a:avLst/>
          </a:prstGeom>
          <a:noFill/>
        </p:spPr>
        <p:txBody>
          <a:bodyPr wrap="square" lIns="0" rIns="0" tIns="0" bIns="0">
            <a:spAutoFit/>
          </a:bodyPr>
          <a:lstStyle/>
          <a:p>
            <a:pPr algn="ctr">
              <a:defRPr sz="1100" b="1">
                <a:solidFill>
                  <a:srgbClr val="D4AF37"/>
                </a:solidFill>
                <a:latin typeface="Arial"/>
              </a:defRPr>
            </a:pPr>
            <a:r>
              <a:t>منظومة CAL-QR</a:t>
            </a:r>
          </a:p>
          <a:p>
            <a:pPr algn="ctr">
              <a:spcBef>
                <a:spcPts val="400"/>
              </a:spcBef>
              <a:defRPr sz="850">
                <a:solidFill>
                  <a:srgbClr val="94A3B8"/>
                </a:solidFill>
                <a:latin typeface="Arial"/>
              </a:defRPr>
            </a:pPr>
            <a:r>
              <a:t>Digital Engine</a:t>
            </a:r>
          </a:p>
        </p:txBody>
      </p:sp>
      <p:sp>
        <p:nvSpPr>
          <p:cNvPr id="12" name="TextBox 11"/>
          <p:cNvSpPr txBox="1"/>
          <p:nvPr/>
        </p:nvSpPr>
        <p:spPr>
          <a:xfrm>
            <a:off x="4672584" y="2926080"/>
            <a:ext cx="137160" cy="457200"/>
          </a:xfrm>
          <a:prstGeom prst="rect">
            <a:avLst/>
          </a:prstGeom>
          <a:noFill/>
        </p:spPr>
        <p:txBody>
          <a:bodyPr wrap="none" lIns="0" rIns="0" tIns="0" bIns="0">
            <a:spAutoFit/>
          </a:bodyPr>
          <a:lstStyle/>
          <a:p>
            <a:pPr algn="ctr">
              <a:defRPr sz="1200" b="1">
                <a:solidFill>
                  <a:srgbClr val="D4AF37"/>
                </a:solidFill>
                <a:latin typeface="Arial"/>
              </a:defRPr>
            </a:pPr>
            <a:r>
              <a:t>←</a:t>
            </a:r>
          </a:p>
        </p:txBody>
      </p:sp>
      <p:sp>
        <p:nvSpPr>
          <p:cNvPr id="13" name="Rounded Rectangle 12"/>
          <p:cNvSpPr/>
          <p:nvPr/>
        </p:nvSpPr>
        <p:spPr>
          <a:xfrm>
            <a:off x="4791456"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7176" y="2560320"/>
            <a:ext cx="1143000" cy="1188720"/>
          </a:xfrm>
          <a:prstGeom prst="rect">
            <a:avLst/>
          </a:prstGeom>
          <a:noFill/>
        </p:spPr>
        <p:txBody>
          <a:bodyPr wrap="square" lIns="0" rIns="0" tIns="0" bIns="0">
            <a:spAutoFit/>
          </a:bodyPr>
          <a:lstStyle/>
          <a:p>
            <a:pPr algn="ctr">
              <a:defRPr sz="1100" b="1">
                <a:solidFill>
                  <a:srgbClr val="F1F5F9"/>
                </a:solidFill>
                <a:latin typeface="Arial"/>
              </a:defRPr>
            </a:pPr>
            <a:r>
              <a:t>الشهادة الرقمية</a:t>
            </a:r>
          </a:p>
          <a:p>
            <a:pPr algn="ctr">
              <a:spcBef>
                <a:spcPts val="400"/>
              </a:spcBef>
              <a:defRPr sz="850">
                <a:solidFill>
                  <a:srgbClr val="94A3B8"/>
                </a:solidFill>
                <a:latin typeface="Arial"/>
              </a:defRPr>
            </a:pPr>
            <a:r>
              <a:t>Tamper-Proof</a:t>
            </a:r>
          </a:p>
        </p:txBody>
      </p:sp>
      <p:sp>
        <p:nvSpPr>
          <p:cNvPr id="15" name="TextBox 14"/>
          <p:cNvSpPr txBox="1"/>
          <p:nvPr/>
        </p:nvSpPr>
        <p:spPr>
          <a:xfrm>
            <a:off x="6025896" y="2926080"/>
            <a:ext cx="137160" cy="457200"/>
          </a:xfrm>
          <a:prstGeom prst="rect">
            <a:avLst/>
          </a:prstGeom>
          <a:noFill/>
        </p:spPr>
        <p:txBody>
          <a:bodyPr wrap="none" lIns="0" rIns="0" tIns="0" bIns="0">
            <a:spAutoFit/>
          </a:bodyPr>
          <a:lstStyle/>
          <a:p>
            <a:pPr algn="ctr">
              <a:defRPr sz="1200" b="1">
                <a:solidFill>
                  <a:srgbClr val="D4AF37"/>
                </a:solidFill>
                <a:latin typeface="Arial"/>
              </a:defRPr>
            </a:pPr>
            <a:r>
              <a:t>←</a:t>
            </a:r>
          </a:p>
        </p:txBody>
      </p:sp>
      <p:sp>
        <p:nvSpPr>
          <p:cNvPr id="16" name="Rounded Rectangle 15"/>
          <p:cNvSpPr/>
          <p:nvPr/>
        </p:nvSpPr>
        <p:spPr>
          <a:xfrm>
            <a:off x="6144768" y="2377440"/>
            <a:ext cx="1234440" cy="15544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0488" y="2560320"/>
            <a:ext cx="1143000" cy="1188720"/>
          </a:xfrm>
          <a:prstGeom prst="rect">
            <a:avLst/>
          </a:prstGeom>
          <a:noFill/>
        </p:spPr>
        <p:txBody>
          <a:bodyPr wrap="square" lIns="0" rIns="0" tIns="0" bIns="0">
            <a:spAutoFit/>
          </a:bodyPr>
          <a:lstStyle/>
          <a:p>
            <a:pPr algn="ctr">
              <a:defRPr sz="1100" b="1">
                <a:solidFill>
                  <a:srgbClr val="F1F5F9"/>
                </a:solidFill>
                <a:latin typeface="Arial"/>
              </a:defRPr>
            </a:pPr>
            <a:r>
              <a:t>التحقق والـ QR</a:t>
            </a:r>
          </a:p>
          <a:p>
            <a:pPr algn="ctr">
              <a:spcBef>
                <a:spcPts val="400"/>
              </a:spcBef>
              <a:defRPr sz="850">
                <a:solidFill>
                  <a:srgbClr val="94A3B8"/>
                </a:solidFill>
                <a:latin typeface="Arial"/>
              </a:defRPr>
            </a:pPr>
            <a:r>
              <a:t>Field Verify</a:t>
            </a:r>
          </a:p>
        </p:txBody>
      </p:sp>
      <p:sp>
        <p:nvSpPr>
          <p:cNvPr id="18" name="TextBox 17"/>
          <p:cNvSpPr txBox="1"/>
          <p:nvPr/>
        </p:nvSpPr>
        <p:spPr>
          <a:xfrm>
            <a:off x="7379208" y="2926080"/>
            <a:ext cx="137160" cy="457200"/>
          </a:xfrm>
          <a:prstGeom prst="rect">
            <a:avLst/>
          </a:prstGeom>
          <a:noFill/>
        </p:spPr>
        <p:txBody>
          <a:bodyPr wrap="none" lIns="0" rIns="0" tIns="0" bIns="0">
            <a:spAutoFit/>
          </a:bodyPr>
          <a:lstStyle/>
          <a:p>
            <a:pPr algn="ctr">
              <a:defRPr sz="1200" b="1">
                <a:solidFill>
                  <a:srgbClr val="D4AF37"/>
                </a:solidFill>
                <a:latin typeface="Arial"/>
              </a:defRPr>
            </a:pPr>
            <a:r>
              <a:t>←</a:t>
            </a:r>
          </a:p>
        </p:txBody>
      </p:sp>
      <p:sp>
        <p:nvSpPr>
          <p:cNvPr id="19" name="Rounded Rectangle 18"/>
          <p:cNvSpPr/>
          <p:nvPr/>
        </p:nvSpPr>
        <p:spPr>
          <a:xfrm>
            <a:off x="7498080"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43800" y="2560320"/>
            <a:ext cx="1143000" cy="1188720"/>
          </a:xfrm>
          <a:prstGeom prst="rect">
            <a:avLst/>
          </a:prstGeom>
          <a:noFill/>
        </p:spPr>
        <p:txBody>
          <a:bodyPr wrap="square" lIns="0" rIns="0" tIns="0" bIns="0">
            <a:spAutoFit/>
          </a:bodyPr>
          <a:lstStyle/>
          <a:p>
            <a:pPr algn="ctr">
              <a:defRPr sz="1100" b="1">
                <a:solidFill>
                  <a:srgbClr val="F1F5F9"/>
                </a:solidFill>
                <a:latin typeface="Arial"/>
              </a:defRPr>
            </a:pPr>
            <a:r>
              <a:t>السجل المركزي</a:t>
            </a:r>
          </a:p>
          <a:p>
            <a:pPr algn="ctr">
              <a:spcBef>
                <a:spcPts val="400"/>
              </a:spcBef>
              <a:defRPr sz="850">
                <a:solidFill>
                  <a:srgbClr val="94A3B8"/>
                </a:solidFill>
                <a:latin typeface="Arial"/>
              </a:defRPr>
            </a:pPr>
            <a:r>
              <a:t>Central Hub</a:t>
            </a:r>
          </a:p>
        </p:txBody>
      </p:sp>
      <p:sp>
        <p:nvSpPr>
          <p:cNvPr id="21" name="TextBox 20"/>
          <p:cNvSpPr txBox="1"/>
          <p:nvPr/>
        </p:nvSpPr>
        <p:spPr>
          <a:xfrm>
            <a:off x="8732520" y="2926080"/>
            <a:ext cx="137160" cy="457200"/>
          </a:xfrm>
          <a:prstGeom prst="rect">
            <a:avLst/>
          </a:prstGeom>
          <a:noFill/>
        </p:spPr>
        <p:txBody>
          <a:bodyPr wrap="none" lIns="0" rIns="0" tIns="0" bIns="0">
            <a:spAutoFit/>
          </a:bodyPr>
          <a:lstStyle/>
          <a:p>
            <a:pPr algn="ctr">
              <a:defRPr sz="1200" b="1">
                <a:solidFill>
                  <a:srgbClr val="D4AF37"/>
                </a:solidFill>
                <a:latin typeface="Arial"/>
              </a:defRPr>
            </a:pPr>
            <a:r>
              <a:t>←</a:t>
            </a:r>
          </a:p>
        </p:txBody>
      </p:sp>
      <p:sp>
        <p:nvSpPr>
          <p:cNvPr id="22" name="Rounded Rectangle 21"/>
          <p:cNvSpPr/>
          <p:nvPr/>
        </p:nvSpPr>
        <p:spPr>
          <a:xfrm>
            <a:off x="8851392" y="2377440"/>
            <a:ext cx="1234440" cy="1554480"/>
          </a:xfrm>
          <a:prstGeom prst="roundRect">
            <a:avLst/>
          </a:prstGeom>
          <a:solidFill>
            <a:srgbClr val="16263D"/>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97112" y="2560320"/>
            <a:ext cx="1143000" cy="1188720"/>
          </a:xfrm>
          <a:prstGeom prst="rect">
            <a:avLst/>
          </a:prstGeom>
          <a:noFill/>
        </p:spPr>
        <p:txBody>
          <a:bodyPr wrap="square" lIns="0" rIns="0" tIns="0" bIns="0">
            <a:spAutoFit/>
          </a:bodyPr>
          <a:lstStyle/>
          <a:p>
            <a:pPr algn="ctr">
              <a:defRPr sz="1100" b="1">
                <a:solidFill>
                  <a:srgbClr val="D4AF37"/>
                </a:solidFill>
                <a:latin typeface="Arial"/>
              </a:defRPr>
            </a:pPr>
            <a:r>
              <a:t>منظومة مصادر</a:t>
            </a:r>
          </a:p>
          <a:p>
            <a:pPr algn="ctr">
              <a:spcBef>
                <a:spcPts val="400"/>
              </a:spcBef>
              <a:defRPr sz="850">
                <a:solidFill>
                  <a:srgbClr val="94A3B8"/>
                </a:solidFill>
                <a:latin typeface="Arial"/>
              </a:defRPr>
            </a:pPr>
            <a:r>
              <a:t>SOURCES System</a:t>
            </a:r>
          </a:p>
        </p:txBody>
      </p:sp>
      <p:sp>
        <p:nvSpPr>
          <p:cNvPr id="24" name="TextBox 23"/>
          <p:cNvSpPr txBox="1"/>
          <p:nvPr/>
        </p:nvSpPr>
        <p:spPr>
          <a:xfrm>
            <a:off x="10085832" y="2926080"/>
            <a:ext cx="137160" cy="457200"/>
          </a:xfrm>
          <a:prstGeom prst="rect">
            <a:avLst/>
          </a:prstGeom>
          <a:noFill/>
        </p:spPr>
        <p:txBody>
          <a:bodyPr wrap="none" lIns="0" rIns="0" tIns="0" bIns="0">
            <a:spAutoFit/>
          </a:bodyPr>
          <a:lstStyle/>
          <a:p>
            <a:pPr algn="ctr">
              <a:defRPr sz="1200" b="1">
                <a:solidFill>
                  <a:srgbClr val="D4AF37"/>
                </a:solidFill>
                <a:latin typeface="Arial"/>
              </a:defRPr>
            </a:pPr>
            <a:r>
              <a:t>←</a:t>
            </a:r>
          </a:p>
        </p:txBody>
      </p:sp>
      <p:sp>
        <p:nvSpPr>
          <p:cNvPr id="25" name="Rounded Rectangle 24"/>
          <p:cNvSpPr/>
          <p:nvPr/>
        </p:nvSpPr>
        <p:spPr>
          <a:xfrm>
            <a:off x="10204704"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0424" y="2560320"/>
            <a:ext cx="1143000" cy="1188720"/>
          </a:xfrm>
          <a:prstGeom prst="rect">
            <a:avLst/>
          </a:prstGeom>
          <a:noFill/>
        </p:spPr>
        <p:txBody>
          <a:bodyPr wrap="square" lIns="0" rIns="0" tIns="0" bIns="0">
            <a:spAutoFit/>
          </a:bodyPr>
          <a:lstStyle/>
          <a:p>
            <a:pPr algn="ctr">
              <a:defRPr sz="1100" b="1">
                <a:solidFill>
                  <a:srgbClr val="F1F5F9"/>
                </a:solidFill>
                <a:latin typeface="Arial"/>
              </a:defRPr>
            </a:pPr>
            <a:r>
              <a:t>الحصر والتتبع</a:t>
            </a:r>
          </a:p>
          <a:p>
            <a:pPr algn="ctr">
              <a:spcBef>
                <a:spcPts val="400"/>
              </a:spcBef>
              <a:defRPr sz="850">
                <a:solidFill>
                  <a:srgbClr val="94A3B8"/>
                </a:solidFill>
                <a:latin typeface="Arial"/>
              </a:defRPr>
            </a:pPr>
            <a:r>
              <a:t>Lifecycle Audit</a:t>
            </a:r>
          </a:p>
        </p:txBody>
      </p:sp>
      <p:sp>
        <p:nvSpPr>
          <p:cNvPr id="27" name="Rounded Rectangle 26"/>
          <p:cNvSpPr/>
          <p:nvPr/>
        </p:nvSpPr>
        <p:spPr>
          <a:xfrm>
            <a:off x="1645920" y="4297680"/>
            <a:ext cx="8899855" cy="1554480"/>
          </a:xfrm>
          <a:prstGeom prst="roundRect">
            <a:avLst/>
          </a:prstGeom>
          <a:solidFill>
            <a:srgbClr val="16263D"/>
          </a:solidFill>
          <a:ln w="19050">
            <a:solidFill>
              <a:srgbClr val="B892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28800" y="4434840"/>
            <a:ext cx="8534095" cy="1280160"/>
          </a:xfrm>
          <a:prstGeom prst="rect">
            <a:avLst/>
          </a:prstGeom>
          <a:noFill/>
        </p:spPr>
        <p:txBody>
          <a:bodyPr wrap="square">
            <a:spAutoFit/>
          </a:bodyPr>
          <a:lstStyle/>
          <a:p>
            <a:pPr algn="ctr">
              <a:defRPr sz="1700" b="1">
                <a:solidFill>
                  <a:srgbClr val="D4AF37"/>
                </a:solidFill>
                <a:latin typeface="Arial"/>
              </a:defRPr>
            </a:pPr>
            <a:r>
              <a:t>«منظومة مؤسسية مترابطة، وليست مجرد أدوات برمجية منفصلة»</a:t>
            </a:r>
          </a:p>
          <a:p>
            <a:pPr algn="ctr">
              <a:spcBef>
                <a:spcPts val="600"/>
              </a:spcBef>
              <a:defRPr sz="1200">
                <a:solidFill>
                  <a:srgbClr val="F1F5F9"/>
                </a:solidFill>
                <a:latin typeface="Arial"/>
              </a:defRPr>
            </a:pPr>
            <a:r>
              <a:t>الهدف ليس رقمنة المستندات والشهادات بصورة معزولة، بل بناء سلسلة عمل مترابطة تبدأ من القياس المرجعي الدقيق، وتمر بإصدار الشهادة والتحقق الفوري منها، وتتكامل مع الحصر الشامل للمصادر المشعة وتتبع حركتها ونشاطها الإشعاعي.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07. التحول الرقمي للمعايرة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CAL-QR | دورة حياة رقمية لشهادة المعايرة</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9</a:t>
            </a:r>
          </a:p>
        </p:txBody>
      </p:sp>
      <p:pic>
        <p:nvPicPr>
          <p:cNvPr id="6" name="Picture 5" descr="cal-qr logo.png"/>
          <p:cNvPicPr>
            <a:picLocks noChangeAspect="1"/>
          </p:cNvPicPr>
          <p:nvPr/>
        </p:nvPicPr>
        <p:blipFill>
          <a:blip r:embed="rId2"/>
          <a:stretch>
            <a:fillRect/>
          </a:stretch>
        </p:blipFill>
        <p:spPr>
          <a:xfrm>
            <a:off x="731520" y="1463040"/>
            <a:ext cx="3291840" cy="3291840"/>
          </a:xfrm>
          <a:prstGeom prst="rect">
            <a:avLst/>
          </a:prstGeom>
        </p:spPr>
      </p:pic>
      <p:sp>
        <p:nvSpPr>
          <p:cNvPr id="7" name="TextBox 6"/>
          <p:cNvSpPr txBox="1"/>
          <p:nvPr/>
        </p:nvSpPr>
        <p:spPr>
          <a:xfrm>
            <a:off x="731520" y="4937760"/>
            <a:ext cx="3291840" cy="1188720"/>
          </a:xfrm>
          <a:prstGeom prst="rect">
            <a:avLst/>
          </a:prstGeom>
          <a:noFill/>
        </p:spPr>
        <p:txBody>
          <a:bodyPr wrap="square">
            <a:spAutoFit/>
          </a:bodyPr>
          <a:lstStyle/>
          <a:p>
            <a:pPr algn="r">
              <a:defRPr sz="1300" b="1">
                <a:solidFill>
                  <a:srgbClr val="D4AF37"/>
                </a:solidFill>
                <a:latin typeface="Arial"/>
              </a:defRPr>
            </a:pPr>
            <a:r>
              <a:t>ما الذي تحله منظومة CAL-QR؟</a:t>
            </a:r>
          </a:p>
          <a:p>
            <a:pPr algn="r">
              <a:spcBef>
                <a:spcPts val="300"/>
              </a:spcBef>
              <a:defRPr sz="1050">
                <a:solidFill>
                  <a:srgbClr val="F1F5F9"/>
                </a:solidFill>
                <a:latin typeface="Arial"/>
              </a:defRPr>
            </a:pPr>
            <a:r>
              <a:t>إدارة دورة حياة الشهادة من الإدخال الفني حتى التحقق الميداني اللحظي، والقضاء التام على فجوة الثقة في تداول الوثائق.</a:t>
            </a:r>
          </a:p>
        </p:txBody>
      </p:sp>
      <p:sp>
        <p:nvSpPr>
          <p:cNvPr id="8" name="Rounded Rectangle 7"/>
          <p:cNvSpPr/>
          <p:nvPr/>
        </p:nvSpPr>
        <p:spPr>
          <a:xfrm>
            <a:off x="4297680" y="14630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27632"/>
            <a:ext cx="6766560" cy="1097280"/>
          </a:xfrm>
          <a:prstGeom prst="rect">
            <a:avLst/>
          </a:prstGeom>
          <a:noFill/>
        </p:spPr>
        <p:txBody>
          <a:bodyPr wrap="square">
            <a:spAutoFit/>
          </a:bodyPr>
          <a:lstStyle/>
          <a:p>
            <a:pPr algn="r">
              <a:defRPr sz="1600" b="1">
                <a:solidFill>
                  <a:srgbClr val="D4AF37"/>
                </a:solidFill>
                <a:latin typeface="Arial"/>
              </a:defRPr>
            </a:pPr>
            <a:r>
              <a:t>📝  إنشاء وتوثيق رقمي منظم</a:t>
            </a:r>
          </a:p>
          <a:p>
            <a:pPr algn="r">
              <a:spcBef>
                <a:spcPts val="500"/>
              </a:spcBef>
              <a:defRPr sz="1150">
                <a:solidFill>
                  <a:srgbClr val="F1F5F9"/>
                </a:solidFill>
                <a:latin typeface="Arial"/>
              </a:defRPr>
            </a:pPr>
            <a:r>
              <a:t>إدخال بيانات الأجهزة، الجهات المالكة، نتائج المعايرة، وحساب معاملات التصحيح تلقائياً داخل قاعدة بيانات موحدة غير قابلة للتجزئة.</a:t>
            </a:r>
          </a:p>
        </p:txBody>
      </p:sp>
      <p:sp>
        <p:nvSpPr>
          <p:cNvPr id="10" name="Rounded Rectangle 9"/>
          <p:cNvSpPr/>
          <p:nvPr/>
        </p:nvSpPr>
        <p:spPr>
          <a:xfrm>
            <a:off x="4297680" y="30632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3227832"/>
            <a:ext cx="6766560" cy="1097280"/>
          </a:xfrm>
          <a:prstGeom prst="rect">
            <a:avLst/>
          </a:prstGeom>
          <a:noFill/>
        </p:spPr>
        <p:txBody>
          <a:bodyPr wrap="square">
            <a:spAutoFit/>
          </a:bodyPr>
          <a:lstStyle/>
          <a:p>
            <a:pPr algn="r">
              <a:defRPr sz="1600" b="1">
                <a:solidFill>
                  <a:srgbClr val="D4AF37"/>
                </a:solidFill>
                <a:latin typeface="Arial"/>
              </a:defRPr>
            </a:pPr>
            <a:r>
              <a:t>🗄️  إصدار وأرشفة تاريخية مستقلة</a:t>
            </a:r>
          </a:p>
          <a:p>
            <a:pPr algn="r">
              <a:spcBef>
                <a:spcPts val="500"/>
              </a:spcBef>
              <a:defRPr sz="1150">
                <a:solidFill>
                  <a:srgbClr val="F1F5F9"/>
                </a:solidFill>
                <a:latin typeface="Arial"/>
              </a:defRPr>
            </a:pPr>
            <a:r>
              <a:t>لحظة إصدار الشهادة تُحفظ كنسخة تاريخية مستقلة معتمدة، مع حفظ كافة المرفقات الفنية وسجل الجهاز التراكمي لضمان عدم ضياع أي وثيقة.</a:t>
            </a:r>
          </a:p>
        </p:txBody>
      </p:sp>
      <p:sp>
        <p:nvSpPr>
          <p:cNvPr id="12" name="Rounded Rectangle 11"/>
          <p:cNvSpPr/>
          <p:nvPr/>
        </p:nvSpPr>
        <p:spPr>
          <a:xfrm>
            <a:off x="4297680" y="46634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4828032"/>
            <a:ext cx="6766560" cy="1097280"/>
          </a:xfrm>
          <a:prstGeom prst="rect">
            <a:avLst/>
          </a:prstGeom>
          <a:noFill/>
        </p:spPr>
        <p:txBody>
          <a:bodyPr wrap="square">
            <a:spAutoFit/>
          </a:bodyPr>
          <a:lstStyle/>
          <a:p>
            <a:pPr algn="r">
              <a:defRPr sz="1600" b="1">
                <a:solidFill>
                  <a:srgbClr val="D4AF37"/>
                </a:solidFill>
                <a:latin typeface="Arial"/>
              </a:defRPr>
            </a:pPr>
            <a:r>
              <a:t>📱  تحقق فوري عبر رمز QR</a:t>
            </a:r>
          </a:p>
          <a:p>
            <a:pPr algn="r">
              <a:spcBef>
                <a:spcPts val="500"/>
              </a:spcBef>
              <a:defRPr sz="1150">
                <a:solidFill>
                  <a:srgbClr val="F1F5F9"/>
                </a:solidFill>
                <a:latin typeface="Arial"/>
              </a:defRPr>
            </a:pPr>
            <a:r>
              <a:t>إنشاء رمز QR مشفر مدمج بكل شهادة، يتيح للمفتشين والجهات الرقابية والميدانية التحقق من أصالة الشهادة وسريانها في ثوانٍ معدودة.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08. دورة التشغيل الرقمية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مسار العمل: من استلام الجهاز إلى شهادة قابلة للتحقق</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10</a:t>
            </a:r>
          </a:p>
        </p:txBody>
      </p:sp>
      <p:sp>
        <p:nvSpPr>
          <p:cNvPr id="6" name="Rounded Rectangle 5"/>
          <p:cNvSpPr/>
          <p:nvPr/>
        </p:nvSpPr>
        <p:spPr>
          <a:xfrm>
            <a:off x="731520"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45920"/>
            <a:ext cx="594360" cy="365760"/>
          </a:xfrm>
          <a:prstGeom prst="rect">
            <a:avLst/>
          </a:prstGeom>
          <a:noFill/>
        </p:spPr>
        <p:txBody>
          <a:bodyPr wrap="none">
            <a:spAutoFit/>
          </a:bodyPr>
          <a:lstStyle/>
          <a:p>
            <a:pPr algn="ctr">
              <a:defRPr sz="1100" b="1">
                <a:solidFill>
                  <a:srgbClr val="D4AF37"/>
                </a:solidFill>
                <a:latin typeface="Arial"/>
              </a:defRPr>
            </a:pPr>
            <a:r>
              <a:t>01</a:t>
            </a:r>
          </a:p>
        </p:txBody>
      </p:sp>
      <p:sp>
        <p:nvSpPr>
          <p:cNvPr id="9" name="TextBox 8"/>
          <p:cNvSpPr txBox="1"/>
          <p:nvPr/>
        </p:nvSpPr>
        <p:spPr>
          <a:xfrm>
            <a:off x="868680" y="2103120"/>
            <a:ext cx="2240280" cy="1280160"/>
          </a:xfrm>
          <a:prstGeom prst="rect">
            <a:avLst/>
          </a:prstGeom>
          <a:noFill/>
        </p:spPr>
        <p:txBody>
          <a:bodyPr wrap="square">
            <a:spAutoFit/>
          </a:bodyPr>
          <a:lstStyle/>
          <a:p>
            <a:pPr algn="r">
              <a:defRPr sz="1300" b="1">
                <a:solidFill>
                  <a:srgbClr val="F1F5F9"/>
                </a:solidFill>
                <a:latin typeface="Arial"/>
              </a:defRPr>
            </a:pPr>
            <a:r>
              <a:t>استلام الجهاز</a:t>
            </a:r>
          </a:p>
          <a:p>
            <a:pPr algn="r">
              <a:spcBef>
                <a:spcPts val="300"/>
              </a:spcBef>
              <a:defRPr sz="1000">
                <a:solidFill>
                  <a:srgbClr val="CBD5E1"/>
                </a:solidFill>
                <a:latin typeface="Arial"/>
              </a:defRPr>
            </a:pPr>
            <a:r>
              <a:t>تسجيل بيانات الجهة ورقم المصنع</a:t>
            </a:r>
          </a:p>
        </p:txBody>
      </p:sp>
      <p:sp>
        <p:nvSpPr>
          <p:cNvPr id="10" name="Rounded Rectangle 9"/>
          <p:cNvSpPr/>
          <p:nvPr/>
        </p:nvSpPr>
        <p:spPr>
          <a:xfrm>
            <a:off x="3456432"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93592"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1645920"/>
            <a:ext cx="594360" cy="365760"/>
          </a:xfrm>
          <a:prstGeom prst="rect">
            <a:avLst/>
          </a:prstGeom>
          <a:noFill/>
        </p:spPr>
        <p:txBody>
          <a:bodyPr wrap="none">
            <a:spAutoFit/>
          </a:bodyPr>
          <a:lstStyle/>
          <a:p>
            <a:pPr algn="ctr">
              <a:defRPr sz="1100" b="1">
                <a:solidFill>
                  <a:srgbClr val="D4AF37"/>
                </a:solidFill>
                <a:latin typeface="Arial"/>
              </a:defRPr>
            </a:pPr>
            <a:r>
              <a:t>02</a:t>
            </a:r>
          </a:p>
        </p:txBody>
      </p:sp>
      <p:sp>
        <p:nvSpPr>
          <p:cNvPr id="13" name="TextBox 12"/>
          <p:cNvSpPr txBox="1"/>
          <p:nvPr/>
        </p:nvSpPr>
        <p:spPr>
          <a:xfrm>
            <a:off x="3593592" y="2103120"/>
            <a:ext cx="2240280" cy="1280160"/>
          </a:xfrm>
          <a:prstGeom prst="rect">
            <a:avLst/>
          </a:prstGeom>
          <a:noFill/>
        </p:spPr>
        <p:txBody>
          <a:bodyPr wrap="square">
            <a:spAutoFit/>
          </a:bodyPr>
          <a:lstStyle/>
          <a:p>
            <a:pPr algn="r">
              <a:defRPr sz="1300" b="1">
                <a:solidFill>
                  <a:srgbClr val="F1F5F9"/>
                </a:solidFill>
                <a:latin typeface="Arial"/>
              </a:defRPr>
            </a:pPr>
            <a:r>
              <a:t>التعريف الفني</a:t>
            </a:r>
          </a:p>
          <a:p>
            <a:pPr algn="r">
              <a:spcBef>
                <a:spcPts val="300"/>
              </a:spcBef>
              <a:defRPr sz="1000">
                <a:solidFill>
                  <a:srgbClr val="CBD5E1"/>
                </a:solidFill>
                <a:latin typeface="Arial"/>
              </a:defRPr>
            </a:pPr>
            <a:r>
              <a:t>تحديد نوع الكاشف والتطبيقات</a:t>
            </a:r>
          </a:p>
        </p:txBody>
      </p:sp>
      <p:sp>
        <p:nvSpPr>
          <p:cNvPr id="14" name="Rounded Rectangle 13"/>
          <p:cNvSpPr/>
          <p:nvPr/>
        </p:nvSpPr>
        <p:spPr>
          <a:xfrm>
            <a:off x="6181344"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18504"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1645920"/>
            <a:ext cx="594360" cy="365760"/>
          </a:xfrm>
          <a:prstGeom prst="rect">
            <a:avLst/>
          </a:prstGeom>
          <a:noFill/>
        </p:spPr>
        <p:txBody>
          <a:bodyPr wrap="none">
            <a:spAutoFit/>
          </a:bodyPr>
          <a:lstStyle/>
          <a:p>
            <a:pPr algn="ctr">
              <a:defRPr sz="1100" b="1">
                <a:solidFill>
                  <a:srgbClr val="D4AF37"/>
                </a:solidFill>
                <a:latin typeface="Arial"/>
              </a:defRPr>
            </a:pPr>
            <a:r>
              <a:t>03</a:t>
            </a:r>
          </a:p>
        </p:txBody>
      </p:sp>
      <p:sp>
        <p:nvSpPr>
          <p:cNvPr id="17" name="TextBox 16"/>
          <p:cNvSpPr txBox="1"/>
          <p:nvPr/>
        </p:nvSpPr>
        <p:spPr>
          <a:xfrm>
            <a:off x="6318504" y="2103120"/>
            <a:ext cx="2240280" cy="1280160"/>
          </a:xfrm>
          <a:prstGeom prst="rect">
            <a:avLst/>
          </a:prstGeom>
          <a:noFill/>
        </p:spPr>
        <p:txBody>
          <a:bodyPr wrap="square">
            <a:spAutoFit/>
          </a:bodyPr>
          <a:lstStyle/>
          <a:p>
            <a:pPr algn="r">
              <a:defRPr sz="1300" b="1">
                <a:solidFill>
                  <a:srgbClr val="F1F5F9"/>
                </a:solidFill>
                <a:latin typeface="Arial"/>
              </a:defRPr>
            </a:pPr>
            <a:r>
              <a:t>إجراء المعايرة</a:t>
            </a:r>
          </a:p>
          <a:p>
            <a:pPr algn="r">
              <a:spcBef>
                <a:spcPts val="300"/>
              </a:spcBef>
              <a:defRPr sz="1000">
                <a:solidFill>
                  <a:srgbClr val="CBD5E1"/>
                </a:solidFill>
                <a:latin typeface="Arial"/>
              </a:defRPr>
            </a:pPr>
            <a:r>
              <a:t>تنفيذ القياسات المرجعية بالمعمل</a:t>
            </a:r>
          </a:p>
        </p:txBody>
      </p:sp>
      <p:sp>
        <p:nvSpPr>
          <p:cNvPr id="18" name="Rounded Rectangle 17"/>
          <p:cNvSpPr/>
          <p:nvPr/>
        </p:nvSpPr>
        <p:spPr>
          <a:xfrm>
            <a:off x="8906256"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43416"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43416" y="1645920"/>
            <a:ext cx="594360" cy="365760"/>
          </a:xfrm>
          <a:prstGeom prst="rect">
            <a:avLst/>
          </a:prstGeom>
          <a:noFill/>
        </p:spPr>
        <p:txBody>
          <a:bodyPr wrap="none">
            <a:spAutoFit/>
          </a:bodyPr>
          <a:lstStyle/>
          <a:p>
            <a:pPr algn="ctr">
              <a:defRPr sz="1100" b="1">
                <a:solidFill>
                  <a:srgbClr val="D4AF37"/>
                </a:solidFill>
                <a:latin typeface="Arial"/>
              </a:defRPr>
            </a:pPr>
            <a:r>
              <a:t>04</a:t>
            </a:r>
          </a:p>
        </p:txBody>
      </p:sp>
      <p:sp>
        <p:nvSpPr>
          <p:cNvPr id="21" name="TextBox 20"/>
          <p:cNvSpPr txBox="1"/>
          <p:nvPr/>
        </p:nvSpPr>
        <p:spPr>
          <a:xfrm>
            <a:off x="9043416" y="2103120"/>
            <a:ext cx="2240280" cy="1280160"/>
          </a:xfrm>
          <a:prstGeom prst="rect">
            <a:avLst/>
          </a:prstGeom>
          <a:noFill/>
        </p:spPr>
        <p:txBody>
          <a:bodyPr wrap="square">
            <a:spAutoFit/>
          </a:bodyPr>
          <a:lstStyle/>
          <a:p>
            <a:pPr algn="r">
              <a:defRPr sz="1300" b="1">
                <a:solidFill>
                  <a:srgbClr val="F1F5F9"/>
                </a:solidFill>
                <a:latin typeface="Arial"/>
              </a:defRPr>
            </a:pPr>
            <a:r>
              <a:t>إدخال النتائج</a:t>
            </a:r>
          </a:p>
          <a:p>
            <a:pPr algn="r">
              <a:spcBef>
                <a:spcPts val="300"/>
              </a:spcBef>
              <a:defRPr sz="1000">
                <a:solidFill>
                  <a:srgbClr val="CBD5E1"/>
                </a:solidFill>
                <a:latin typeface="Arial"/>
              </a:defRPr>
            </a:pPr>
            <a:r>
              <a:t>تسجيل القراءات وحساب التصحيح</a:t>
            </a:r>
          </a:p>
        </p:txBody>
      </p:sp>
      <p:sp>
        <p:nvSpPr>
          <p:cNvPr id="22" name="Rounded Rectangle 21"/>
          <p:cNvSpPr/>
          <p:nvPr/>
        </p:nvSpPr>
        <p:spPr>
          <a:xfrm>
            <a:off x="731520" y="3749039"/>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8680" y="3886200"/>
            <a:ext cx="594360" cy="36576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886200"/>
            <a:ext cx="594360" cy="365760"/>
          </a:xfrm>
          <a:prstGeom prst="rect">
            <a:avLst/>
          </a:prstGeom>
          <a:noFill/>
        </p:spPr>
        <p:txBody>
          <a:bodyPr wrap="none">
            <a:spAutoFit/>
          </a:bodyPr>
          <a:lstStyle/>
          <a:p>
            <a:pPr algn="ctr">
              <a:defRPr sz="1100" b="1">
                <a:solidFill>
                  <a:srgbClr val="D4AF37"/>
                </a:solidFill>
                <a:latin typeface="Arial"/>
              </a:defRPr>
            </a:pPr>
            <a:r>
              <a:t>05</a:t>
            </a:r>
          </a:p>
        </p:txBody>
      </p:sp>
      <p:sp>
        <p:nvSpPr>
          <p:cNvPr id="25" name="TextBox 24"/>
          <p:cNvSpPr txBox="1"/>
          <p:nvPr/>
        </p:nvSpPr>
        <p:spPr>
          <a:xfrm>
            <a:off x="868680" y="4343400"/>
            <a:ext cx="2240280" cy="1280160"/>
          </a:xfrm>
          <a:prstGeom prst="rect">
            <a:avLst/>
          </a:prstGeom>
          <a:noFill/>
        </p:spPr>
        <p:txBody>
          <a:bodyPr wrap="square">
            <a:spAutoFit/>
          </a:bodyPr>
          <a:lstStyle/>
          <a:p>
            <a:pPr algn="r">
              <a:defRPr sz="1300" b="1">
                <a:solidFill>
                  <a:srgbClr val="F1F5F9"/>
                </a:solidFill>
                <a:latin typeface="Arial"/>
              </a:defRPr>
            </a:pPr>
            <a:r>
              <a:t>المراجعة الفنية</a:t>
            </a:r>
          </a:p>
          <a:p>
            <a:pPr algn="r">
              <a:spcBef>
                <a:spcPts val="300"/>
              </a:spcBef>
              <a:defRPr sz="1000">
                <a:solidFill>
                  <a:srgbClr val="CBD5E1"/>
                </a:solidFill>
                <a:latin typeface="Arial"/>
              </a:defRPr>
            </a:pPr>
            <a:r>
              <a:t>تدقيق البيانات واعتماد النتائج</a:t>
            </a:r>
          </a:p>
        </p:txBody>
      </p:sp>
      <p:sp>
        <p:nvSpPr>
          <p:cNvPr id="26" name="Rounded Rectangle 25"/>
          <p:cNvSpPr/>
          <p:nvPr/>
        </p:nvSpPr>
        <p:spPr>
          <a:xfrm>
            <a:off x="3456432" y="3749039"/>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593592" y="3886200"/>
            <a:ext cx="594360" cy="36576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93592" y="3886200"/>
            <a:ext cx="594360" cy="365760"/>
          </a:xfrm>
          <a:prstGeom prst="rect">
            <a:avLst/>
          </a:prstGeom>
          <a:noFill/>
        </p:spPr>
        <p:txBody>
          <a:bodyPr wrap="none">
            <a:spAutoFit/>
          </a:bodyPr>
          <a:lstStyle/>
          <a:p>
            <a:pPr algn="ctr">
              <a:defRPr sz="1100" b="1">
                <a:solidFill>
                  <a:srgbClr val="D4AF37"/>
                </a:solidFill>
                <a:latin typeface="Arial"/>
              </a:defRPr>
            </a:pPr>
            <a:r>
              <a:t>06</a:t>
            </a:r>
          </a:p>
        </p:txBody>
      </p:sp>
      <p:sp>
        <p:nvSpPr>
          <p:cNvPr id="29" name="TextBox 28"/>
          <p:cNvSpPr txBox="1"/>
          <p:nvPr/>
        </p:nvSpPr>
        <p:spPr>
          <a:xfrm>
            <a:off x="3593592" y="4343400"/>
            <a:ext cx="2240280" cy="1280160"/>
          </a:xfrm>
          <a:prstGeom prst="rect">
            <a:avLst/>
          </a:prstGeom>
          <a:noFill/>
        </p:spPr>
        <p:txBody>
          <a:bodyPr wrap="square">
            <a:spAutoFit/>
          </a:bodyPr>
          <a:lstStyle/>
          <a:p>
            <a:pPr algn="r">
              <a:defRPr sz="1300" b="1">
                <a:solidFill>
                  <a:srgbClr val="F1F5F9"/>
                </a:solidFill>
                <a:latin typeface="Arial"/>
              </a:defRPr>
            </a:pPr>
            <a:r>
              <a:t>الإصدار والأرشفة</a:t>
            </a:r>
          </a:p>
          <a:p>
            <a:pPr algn="r">
              <a:spcBef>
                <a:spcPts val="300"/>
              </a:spcBef>
              <a:defRPr sz="1000">
                <a:solidFill>
                  <a:srgbClr val="CBD5E1"/>
                </a:solidFill>
                <a:latin typeface="Arial"/>
              </a:defRPr>
            </a:pPr>
            <a:r>
              <a:t>توليد الشهادة وحفظها بقاعدة البيانات</a:t>
            </a:r>
          </a:p>
        </p:txBody>
      </p:sp>
      <p:sp>
        <p:nvSpPr>
          <p:cNvPr id="30" name="Rounded Rectangle 29"/>
          <p:cNvSpPr/>
          <p:nvPr/>
        </p:nvSpPr>
        <p:spPr>
          <a:xfrm>
            <a:off x="6181344" y="3749039"/>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318504" y="3886200"/>
            <a:ext cx="594360" cy="36576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18504" y="3886200"/>
            <a:ext cx="594360" cy="365760"/>
          </a:xfrm>
          <a:prstGeom prst="rect">
            <a:avLst/>
          </a:prstGeom>
          <a:noFill/>
        </p:spPr>
        <p:txBody>
          <a:bodyPr wrap="none">
            <a:spAutoFit/>
          </a:bodyPr>
          <a:lstStyle/>
          <a:p>
            <a:pPr algn="ctr">
              <a:defRPr sz="1100" b="1">
                <a:solidFill>
                  <a:srgbClr val="D4AF37"/>
                </a:solidFill>
                <a:latin typeface="Arial"/>
              </a:defRPr>
            </a:pPr>
            <a:r>
              <a:t>07</a:t>
            </a:r>
          </a:p>
        </p:txBody>
      </p:sp>
      <p:sp>
        <p:nvSpPr>
          <p:cNvPr id="33" name="TextBox 32"/>
          <p:cNvSpPr txBox="1"/>
          <p:nvPr/>
        </p:nvSpPr>
        <p:spPr>
          <a:xfrm>
            <a:off x="6318504" y="4343400"/>
            <a:ext cx="2240280" cy="1280160"/>
          </a:xfrm>
          <a:prstGeom prst="rect">
            <a:avLst/>
          </a:prstGeom>
          <a:noFill/>
        </p:spPr>
        <p:txBody>
          <a:bodyPr wrap="square">
            <a:spAutoFit/>
          </a:bodyPr>
          <a:lstStyle/>
          <a:p>
            <a:pPr algn="r">
              <a:defRPr sz="1300" b="1">
                <a:solidFill>
                  <a:srgbClr val="F1F5F9"/>
                </a:solidFill>
                <a:latin typeface="Arial"/>
              </a:defRPr>
            </a:pPr>
            <a:r>
              <a:t>توليد ملصق QR</a:t>
            </a:r>
          </a:p>
          <a:p>
            <a:pPr algn="r">
              <a:spcBef>
                <a:spcPts val="300"/>
              </a:spcBef>
              <a:defRPr sz="1000">
                <a:solidFill>
                  <a:srgbClr val="CBD5E1"/>
                </a:solidFill>
                <a:latin typeface="Arial"/>
              </a:defRPr>
            </a:pPr>
            <a:r>
              <a:t>دمج التوقيع المشفر وطباعة الملصق</a:t>
            </a:r>
          </a:p>
        </p:txBody>
      </p:sp>
      <p:sp>
        <p:nvSpPr>
          <p:cNvPr id="34" name="Rounded Rectangle 33"/>
          <p:cNvSpPr/>
          <p:nvPr/>
        </p:nvSpPr>
        <p:spPr>
          <a:xfrm>
            <a:off x="8906256" y="3749039"/>
            <a:ext cx="2514600" cy="201168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043416" y="3886200"/>
            <a:ext cx="594360" cy="365760"/>
          </a:xfrm>
          <a:prstGeom prst="roundRect">
            <a:avLst/>
          </a:prstGeom>
          <a:solidFill>
            <a:srgbClr val="0B192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43416" y="3886200"/>
            <a:ext cx="594360" cy="365760"/>
          </a:xfrm>
          <a:prstGeom prst="rect">
            <a:avLst/>
          </a:prstGeom>
          <a:noFill/>
        </p:spPr>
        <p:txBody>
          <a:bodyPr wrap="none">
            <a:spAutoFit/>
          </a:bodyPr>
          <a:lstStyle/>
          <a:p>
            <a:pPr algn="ctr">
              <a:defRPr sz="1100" b="1">
                <a:solidFill>
                  <a:srgbClr val="10B981"/>
                </a:solidFill>
                <a:latin typeface="Arial"/>
              </a:defRPr>
            </a:pPr>
            <a:r>
              <a:t>08</a:t>
            </a:r>
          </a:p>
        </p:txBody>
      </p:sp>
      <p:sp>
        <p:nvSpPr>
          <p:cNvPr id="37" name="TextBox 36"/>
          <p:cNvSpPr txBox="1"/>
          <p:nvPr/>
        </p:nvSpPr>
        <p:spPr>
          <a:xfrm>
            <a:off x="9043416" y="4343400"/>
            <a:ext cx="2240280" cy="1280160"/>
          </a:xfrm>
          <a:prstGeom prst="rect">
            <a:avLst/>
          </a:prstGeom>
          <a:noFill/>
        </p:spPr>
        <p:txBody>
          <a:bodyPr wrap="square">
            <a:spAutoFit/>
          </a:bodyPr>
          <a:lstStyle/>
          <a:p>
            <a:pPr algn="r">
              <a:defRPr sz="1300" b="1">
                <a:solidFill>
                  <a:srgbClr val="10B981"/>
                </a:solidFill>
                <a:latin typeface="Arial"/>
              </a:defRPr>
            </a:pPr>
            <a:r>
              <a:t>التحقق الميداني</a:t>
            </a:r>
          </a:p>
          <a:p>
            <a:pPr algn="r">
              <a:spcBef>
                <a:spcPts val="300"/>
              </a:spcBef>
              <a:defRPr sz="1000">
                <a:solidFill>
                  <a:srgbClr val="CBD5E1"/>
                </a:solidFill>
                <a:latin typeface="Arial"/>
              </a:defRPr>
            </a:pPr>
            <a:r>
              <a:t>مسح الرمز وحسم سريان الشهادة</a:t>
            </a:r>
          </a:p>
        </p:txBody>
      </p:sp>
      <p:sp>
        <p:nvSpPr>
          <p:cNvPr id="38" name="TextBox 37"/>
          <p:cNvSpPr txBox="1"/>
          <p:nvPr/>
        </p:nvSpPr>
        <p:spPr>
          <a:xfrm>
            <a:off x="731520" y="5897880"/>
            <a:ext cx="10728655" cy="365760"/>
          </a:xfrm>
          <a:prstGeom prst="rect">
            <a:avLst/>
          </a:prstGeom>
          <a:noFill/>
        </p:spPr>
        <p:txBody>
          <a:bodyPr wrap="none">
            <a:spAutoFit/>
          </a:bodyPr>
          <a:lstStyle/>
          <a:p>
            <a:pPr algn="ctr">
              <a:defRPr sz="1050">
                <a:solidFill>
                  <a:srgbClr val="D4AF37"/>
                </a:solidFill>
                <a:latin typeface="Arial"/>
              </a:defRPr>
            </a:pPr>
            <a:r>
              <a:t>مسار عمل رقمي موحد: الجهاز يحتفظ بسجله التراكمي، وكل دورة معايرة تمثل وثيقة تاريخية معتمدة ومحمية.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09. الثقة الرقمية والأمان</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سلامة البيانات وآليات التحقق الرقمي</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11</a:t>
            </a:r>
          </a:p>
        </p:txBody>
      </p:sp>
      <p:sp>
        <p:nvSpPr>
          <p:cNvPr id="6" name="Rounded Rectangle 5"/>
          <p:cNvSpPr/>
          <p:nvPr/>
        </p:nvSpPr>
        <p:spPr>
          <a:xfrm>
            <a:off x="731520"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731520" cy="457200"/>
          </a:xfrm>
          <a:prstGeom prst="rect">
            <a:avLst/>
          </a:prstGeom>
          <a:noFill/>
        </p:spPr>
        <p:txBody>
          <a:bodyPr wrap="none">
            <a:spAutoFit/>
          </a:bodyPr>
          <a:lstStyle/>
          <a:p>
            <a:pPr algn="ctr">
              <a:defRPr sz="1400" b="1">
                <a:solidFill>
                  <a:srgbClr val="D4AF37"/>
                </a:solidFill>
                <a:latin typeface="Arial"/>
              </a:defRPr>
            </a:pPr>
            <a:r>
              <a:t>01</a:t>
            </a:r>
          </a:p>
        </p:txBody>
      </p:sp>
      <p:sp>
        <p:nvSpPr>
          <p:cNvPr id="9" name="TextBox 8"/>
          <p:cNvSpPr txBox="1"/>
          <p:nvPr/>
        </p:nvSpPr>
        <p:spPr>
          <a:xfrm>
            <a:off x="868680" y="2377440"/>
            <a:ext cx="2240280" cy="2834640"/>
          </a:xfrm>
          <a:prstGeom prst="rect">
            <a:avLst/>
          </a:prstGeom>
          <a:noFill/>
        </p:spPr>
        <p:txBody>
          <a:bodyPr wrap="square">
            <a:spAutoFit/>
          </a:bodyPr>
          <a:lstStyle/>
          <a:p>
            <a:pPr algn="r">
              <a:defRPr sz="1400" b="1">
                <a:solidFill>
                  <a:srgbClr val="F1F5F9"/>
                </a:solidFill>
                <a:latin typeface="Arial"/>
              </a:defRPr>
            </a:pPr>
            <a:r>
              <a:t>الهوية الرقمية الموحدة (Identity)</a:t>
            </a:r>
          </a:p>
          <a:p>
            <a:pPr algn="r">
              <a:spcBef>
                <a:spcPts val="600"/>
              </a:spcBef>
              <a:defRPr sz="1100">
                <a:solidFill>
                  <a:srgbClr val="CBD5E1"/>
                </a:solidFill>
                <a:latin typeface="Arial"/>
              </a:defRPr>
            </a:pPr>
            <a:r>
              <a:t>رقم شهادة فريد، ومعرف تتبع رقمي غير قابل للتكرار يضمن الربط الدائم بين الجهاز وسجل المعايرة.</a:t>
            </a:r>
          </a:p>
        </p:txBody>
      </p:sp>
      <p:sp>
        <p:nvSpPr>
          <p:cNvPr id="10" name="Rounded Rectangle 9"/>
          <p:cNvSpPr/>
          <p:nvPr/>
        </p:nvSpPr>
        <p:spPr>
          <a:xfrm>
            <a:off x="3456432"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93592"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1737360"/>
            <a:ext cx="731520" cy="457200"/>
          </a:xfrm>
          <a:prstGeom prst="rect">
            <a:avLst/>
          </a:prstGeom>
          <a:noFill/>
        </p:spPr>
        <p:txBody>
          <a:bodyPr wrap="none">
            <a:spAutoFit/>
          </a:bodyPr>
          <a:lstStyle/>
          <a:p>
            <a:pPr algn="ctr">
              <a:defRPr sz="1400" b="1">
                <a:solidFill>
                  <a:srgbClr val="D4AF37"/>
                </a:solidFill>
                <a:latin typeface="Arial"/>
              </a:defRPr>
            </a:pPr>
            <a:r>
              <a:t>02</a:t>
            </a:r>
          </a:p>
        </p:txBody>
      </p:sp>
      <p:sp>
        <p:nvSpPr>
          <p:cNvPr id="13" name="TextBox 12"/>
          <p:cNvSpPr txBox="1"/>
          <p:nvPr/>
        </p:nvSpPr>
        <p:spPr>
          <a:xfrm>
            <a:off x="3593592" y="2377440"/>
            <a:ext cx="2240280" cy="2834640"/>
          </a:xfrm>
          <a:prstGeom prst="rect">
            <a:avLst/>
          </a:prstGeom>
          <a:noFill/>
        </p:spPr>
        <p:txBody>
          <a:bodyPr wrap="square">
            <a:spAutoFit/>
          </a:bodyPr>
          <a:lstStyle/>
          <a:p>
            <a:pPr algn="r">
              <a:defRPr sz="1400" b="1">
                <a:solidFill>
                  <a:srgbClr val="F1F5F9"/>
                </a:solidFill>
                <a:latin typeface="Arial"/>
              </a:defRPr>
            </a:pPr>
            <a:r>
              <a:t>سلامة المحتوى والتوقيع المشفر (Integrity)</a:t>
            </a:r>
          </a:p>
          <a:p>
            <a:pPr algn="r">
              <a:spcBef>
                <a:spcPts val="600"/>
              </a:spcBef>
              <a:defRPr sz="1100">
                <a:solidFill>
                  <a:srgbClr val="CBD5E1"/>
                </a:solidFill>
                <a:latin typeface="Arial"/>
              </a:defRPr>
            </a:pPr>
            <a:r>
              <a:t>توليد توقيع رقمي مشفر (HMAC) مستخلص من حقول الشهادة الرئيسية؛ أي تعديل على حرف واحد يكشف عدم التطابق فوراً.</a:t>
            </a:r>
          </a:p>
        </p:txBody>
      </p:sp>
      <p:sp>
        <p:nvSpPr>
          <p:cNvPr id="14" name="Rounded Rectangle 13"/>
          <p:cNvSpPr/>
          <p:nvPr/>
        </p:nvSpPr>
        <p:spPr>
          <a:xfrm>
            <a:off x="6181344"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18504"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1737360"/>
            <a:ext cx="731520" cy="457200"/>
          </a:xfrm>
          <a:prstGeom prst="rect">
            <a:avLst/>
          </a:prstGeom>
          <a:noFill/>
        </p:spPr>
        <p:txBody>
          <a:bodyPr wrap="none">
            <a:spAutoFit/>
          </a:bodyPr>
          <a:lstStyle/>
          <a:p>
            <a:pPr algn="ctr">
              <a:defRPr sz="1400" b="1">
                <a:solidFill>
                  <a:srgbClr val="D4AF37"/>
                </a:solidFill>
                <a:latin typeface="Arial"/>
              </a:defRPr>
            </a:pPr>
            <a:r>
              <a:t>03</a:t>
            </a:r>
          </a:p>
        </p:txBody>
      </p:sp>
      <p:sp>
        <p:nvSpPr>
          <p:cNvPr id="17" name="TextBox 16"/>
          <p:cNvSpPr txBox="1"/>
          <p:nvPr/>
        </p:nvSpPr>
        <p:spPr>
          <a:xfrm>
            <a:off x="6318504" y="2377440"/>
            <a:ext cx="2240280" cy="2834640"/>
          </a:xfrm>
          <a:prstGeom prst="rect">
            <a:avLst/>
          </a:prstGeom>
          <a:noFill/>
        </p:spPr>
        <p:txBody>
          <a:bodyPr wrap="square">
            <a:spAutoFit/>
          </a:bodyPr>
          <a:lstStyle/>
          <a:p>
            <a:pPr algn="r">
              <a:defRPr sz="1400" b="1">
                <a:solidFill>
                  <a:srgbClr val="F1F5F9"/>
                </a:solidFill>
                <a:latin typeface="Arial"/>
              </a:defRPr>
            </a:pPr>
            <a:r>
              <a:t>التحقق اللحظي من الحالة (Live Status)</a:t>
            </a:r>
          </a:p>
          <a:p>
            <a:pPr algn="r">
              <a:spcBef>
                <a:spcPts val="600"/>
              </a:spcBef>
              <a:defRPr sz="1100">
                <a:solidFill>
                  <a:srgbClr val="CBD5E1"/>
                </a:solidFill>
                <a:latin typeface="Arial"/>
              </a:defRPr>
            </a:pPr>
            <a:r>
              <a:t>معرفة حالة الوثيقة عند المسح الميداني: (سارية الصلاحية، قريبة الانتهاء، ملغاة، أو معدلة بشهادة أحدث).</a:t>
            </a:r>
          </a:p>
        </p:txBody>
      </p:sp>
      <p:sp>
        <p:nvSpPr>
          <p:cNvPr id="18" name="Rounded Rectangle 17"/>
          <p:cNvSpPr/>
          <p:nvPr/>
        </p:nvSpPr>
        <p:spPr>
          <a:xfrm>
            <a:off x="8906256"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43416"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43416" y="1737360"/>
            <a:ext cx="731520" cy="457200"/>
          </a:xfrm>
          <a:prstGeom prst="rect">
            <a:avLst/>
          </a:prstGeom>
          <a:noFill/>
        </p:spPr>
        <p:txBody>
          <a:bodyPr wrap="none">
            <a:spAutoFit/>
          </a:bodyPr>
          <a:lstStyle/>
          <a:p>
            <a:pPr algn="ctr">
              <a:defRPr sz="1400" b="1">
                <a:solidFill>
                  <a:srgbClr val="D4AF37"/>
                </a:solidFill>
                <a:latin typeface="Arial"/>
              </a:defRPr>
            </a:pPr>
            <a:r>
              <a:t>04</a:t>
            </a:r>
          </a:p>
        </p:txBody>
      </p:sp>
      <p:sp>
        <p:nvSpPr>
          <p:cNvPr id="21" name="TextBox 20"/>
          <p:cNvSpPr txBox="1"/>
          <p:nvPr/>
        </p:nvSpPr>
        <p:spPr>
          <a:xfrm>
            <a:off x="9043416" y="2377440"/>
            <a:ext cx="2240280" cy="2834640"/>
          </a:xfrm>
          <a:prstGeom prst="rect">
            <a:avLst/>
          </a:prstGeom>
          <a:noFill/>
        </p:spPr>
        <p:txBody>
          <a:bodyPr wrap="square">
            <a:spAutoFit/>
          </a:bodyPr>
          <a:lstStyle/>
          <a:p>
            <a:pPr algn="r">
              <a:defRPr sz="1400" b="1">
                <a:solidFill>
                  <a:srgbClr val="F1F5F9"/>
                </a:solidFill>
                <a:latin typeface="Arial"/>
              </a:defRPr>
            </a:pPr>
            <a:r>
              <a:t>سجل التدقيق المؤسسي (Auditability)</a:t>
            </a:r>
          </a:p>
          <a:p>
            <a:pPr algn="r">
              <a:spcBef>
                <a:spcPts val="600"/>
              </a:spcBef>
              <a:defRPr sz="1100">
                <a:solidFill>
                  <a:srgbClr val="CBD5E1"/>
                </a:solidFill>
                <a:latin typeface="Arial"/>
              </a:defRPr>
            </a:pPr>
            <a:r>
              <a:t>سجل عمليات تاريخي غير قابل للمحو (Audit Trail) يوثق الفني الذي أدخل البيانات، من اعتمدها، والتوقيت الزمني الدقيق.</a:t>
            </a:r>
          </a:p>
        </p:txBody>
      </p:sp>
      <p:sp>
        <p:nvSpPr>
          <p:cNvPr id="22" name="Rounded Rectangle 21"/>
          <p:cNvSpPr/>
          <p:nvPr/>
        </p:nvSpPr>
        <p:spPr>
          <a:xfrm>
            <a:off x="731520" y="5623560"/>
            <a:ext cx="10728655" cy="594360"/>
          </a:xfrm>
          <a:prstGeom prst="roundRect">
            <a:avLst/>
          </a:prstGeom>
          <a:solidFill>
            <a:srgbClr val="1E3050"/>
          </a:solidFill>
          <a:ln w="19050">
            <a:solidFill>
              <a:srgbClr val="B892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687568"/>
            <a:ext cx="10362895" cy="457200"/>
          </a:xfrm>
          <a:prstGeom prst="rect">
            <a:avLst/>
          </a:prstGeom>
          <a:noFill/>
        </p:spPr>
        <p:txBody>
          <a:bodyPr wrap="none">
            <a:spAutoFit/>
          </a:bodyPr>
          <a:lstStyle/>
          <a:p>
            <a:pPr algn="ctr">
              <a:defRPr sz="1100" b="1">
                <a:solidFill>
                  <a:srgbClr val="D4AF37"/>
                </a:solidFill>
                <a:latin typeface="Arial"/>
              </a:defRPr>
            </a:pPr>
            <a:r>
              <a:t>🔒 الحماية التشفيرية: Cryptographic Verification using HMAC-SHA256 — قوة الوثيقة مستمدة من ترابط الطبقات، وليس مجرد رمز QR بصري.</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10. الرقابة والأمان الإشعاعي</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منظومة مصادر (SOURCES) | الحصر والتتبع وإدارة دورة الحياة</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12</a:t>
            </a:r>
          </a:p>
        </p:txBody>
      </p:sp>
      <p:pic>
        <p:nvPicPr>
          <p:cNvPr id="6" name="Picture 5" descr="07_sources.png"/>
          <p:cNvPicPr>
            <a:picLocks noChangeAspect="1"/>
          </p:cNvPicPr>
          <p:nvPr/>
        </p:nvPicPr>
        <p:blipFill>
          <a:blip r:embed="rId2"/>
          <a:stretch>
            <a:fillRect/>
          </a:stretch>
        </p:blipFill>
        <p:spPr>
          <a:xfrm>
            <a:off x="914400" y="1463040"/>
            <a:ext cx="2926080" cy="2926080"/>
          </a:xfrm>
          <a:prstGeom prst="rect">
            <a:avLst/>
          </a:prstGeom>
        </p:spPr>
      </p:pic>
      <p:sp>
        <p:nvSpPr>
          <p:cNvPr id="7" name="TextBox 6"/>
          <p:cNvSpPr txBox="1"/>
          <p:nvPr/>
        </p:nvSpPr>
        <p:spPr>
          <a:xfrm>
            <a:off x="731520" y="4572000"/>
            <a:ext cx="3291840" cy="1463040"/>
          </a:xfrm>
          <a:prstGeom prst="rect">
            <a:avLst/>
          </a:prstGeom>
          <a:noFill/>
        </p:spPr>
        <p:txBody>
          <a:bodyPr wrap="square">
            <a:spAutoFit/>
          </a:bodyPr>
          <a:lstStyle/>
          <a:p>
            <a:pPr algn="r">
              <a:defRPr sz="1400" b="1">
                <a:solidFill>
                  <a:srgbClr val="D4AF37"/>
                </a:solidFill>
                <a:latin typeface="Arial"/>
              </a:defRPr>
            </a:pPr>
            <a:r>
              <a:t>منظومة مصادر (SOURCES)</a:t>
            </a:r>
          </a:p>
          <a:p>
            <a:pPr algn="r">
              <a:spcBef>
                <a:spcPts val="300"/>
              </a:spcBef>
              <a:defRPr sz="1050">
                <a:solidFill>
                  <a:srgbClr val="F1F5F9"/>
                </a:solidFill>
                <a:latin typeface="Arial"/>
              </a:defRPr>
            </a:pPr>
            <a:r>
              <a:t>سجل تشغيلي ورقابي موحد يربط هوية المصدر وموقعه وحيازته وحالته الفيزيائية بسجل قابل للتتبع والتدقيق الفوري.</a:t>
            </a:r>
          </a:p>
        </p:txBody>
      </p:sp>
      <p:sp>
        <p:nvSpPr>
          <p:cNvPr id="8" name="Rounded Rectangle 7"/>
          <p:cNvSpPr/>
          <p:nvPr/>
        </p:nvSpPr>
        <p:spPr>
          <a:xfrm>
            <a:off x="4297680" y="14630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27632"/>
            <a:ext cx="6766560" cy="1097280"/>
          </a:xfrm>
          <a:prstGeom prst="rect">
            <a:avLst/>
          </a:prstGeom>
          <a:noFill/>
        </p:spPr>
        <p:txBody>
          <a:bodyPr wrap="square">
            <a:spAutoFit/>
          </a:bodyPr>
          <a:lstStyle/>
          <a:p>
            <a:pPr algn="r">
              <a:defRPr sz="1600" b="1">
                <a:solidFill>
                  <a:srgbClr val="D4AF37"/>
                </a:solidFill>
                <a:latin typeface="Arial"/>
              </a:defRPr>
            </a:pPr>
            <a:r>
              <a:t>📦  الحصر المركزي الشامل (Inventory)</a:t>
            </a:r>
          </a:p>
          <a:p>
            <a:pPr algn="r">
              <a:spcBef>
                <a:spcPts val="500"/>
              </a:spcBef>
              <a:defRPr sz="1150">
                <a:solidFill>
                  <a:srgbClr val="F1F5F9"/>
                </a:solidFill>
                <a:latin typeface="Arial"/>
              </a:defRPr>
            </a:pPr>
            <a:r>
              <a:t>قاعدة بيانات مركزية آمنة توثق كافة المصادر المشعة، النظائر المرجعية، والمصادر النيترونية، وأرقامها التعريفية ومواصفاتها الفيزيائية المعتمدة.</a:t>
            </a:r>
          </a:p>
        </p:txBody>
      </p:sp>
      <p:sp>
        <p:nvSpPr>
          <p:cNvPr id="10" name="Rounded Rectangle 9"/>
          <p:cNvSpPr/>
          <p:nvPr/>
        </p:nvSpPr>
        <p:spPr>
          <a:xfrm>
            <a:off x="4297680" y="30632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3227832"/>
            <a:ext cx="6766560" cy="1097280"/>
          </a:xfrm>
          <a:prstGeom prst="rect">
            <a:avLst/>
          </a:prstGeom>
          <a:noFill/>
        </p:spPr>
        <p:txBody>
          <a:bodyPr wrap="square">
            <a:spAutoFit/>
          </a:bodyPr>
          <a:lstStyle/>
          <a:p>
            <a:pPr algn="r">
              <a:defRPr sz="1600" b="1">
                <a:solidFill>
                  <a:srgbClr val="D4AF37"/>
                </a:solidFill>
                <a:latin typeface="Arial"/>
              </a:defRPr>
            </a:pPr>
            <a:r>
              <a:t>🔄  إدارة دورة الحياة الكاملة (Lifecycle)</a:t>
            </a:r>
          </a:p>
          <a:p>
            <a:pPr algn="r">
              <a:spcBef>
                <a:spcPts val="500"/>
              </a:spcBef>
              <a:defRPr sz="1150">
                <a:solidFill>
                  <a:srgbClr val="F1F5F9"/>
                </a:solidFill>
                <a:latin typeface="Arial"/>
              </a:defRPr>
            </a:pPr>
            <a:r>
              <a:t>حوكمة مسار المصدر داخل المركز: من لحظة استلامه، وتخزينه الآمن، إلى تسليمه الميداني، فحصه، واسترجاعه أو إخراجه من الخدمة.</a:t>
            </a:r>
          </a:p>
        </p:txBody>
      </p:sp>
      <p:sp>
        <p:nvSpPr>
          <p:cNvPr id="12" name="Rounded Rectangle 11"/>
          <p:cNvSpPr/>
          <p:nvPr/>
        </p:nvSpPr>
        <p:spPr>
          <a:xfrm>
            <a:off x="4297680" y="46634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4828032"/>
            <a:ext cx="6766560" cy="1097280"/>
          </a:xfrm>
          <a:prstGeom prst="rect">
            <a:avLst/>
          </a:prstGeom>
          <a:noFill/>
        </p:spPr>
        <p:txBody>
          <a:bodyPr wrap="square">
            <a:spAutoFit/>
          </a:bodyPr>
          <a:lstStyle/>
          <a:p>
            <a:pPr algn="r">
              <a:defRPr sz="1600" b="1">
                <a:solidFill>
                  <a:srgbClr val="D4AF37"/>
                </a:solidFill>
                <a:latin typeface="Arial"/>
              </a:defRPr>
            </a:pPr>
            <a:r>
              <a:t>📍  التتبع الميداني والرقابي (Traceability)</a:t>
            </a:r>
          </a:p>
          <a:p>
            <a:pPr algn="r">
              <a:spcBef>
                <a:spcPts val="500"/>
              </a:spcBef>
              <a:defRPr sz="1150">
                <a:solidFill>
                  <a:srgbClr val="F1F5F9"/>
                </a:solidFill>
                <a:latin typeface="Arial"/>
              </a:defRPr>
            </a:pPr>
            <a:r>
              <a:t>إجابة حاسمة وفورية في أي لحظة عن أربعة أسئلة رقابية: أين يوجد المصدر؟ من المسؤول عنه؟ ما نشاطه الإشعاعي الحالي؟ وما حالة فحوصاته الدورية؟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11. الوظائف والحوكمة التشغيلية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المحرك التشغيلي لمنظومة مصادر</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13</a:t>
            </a:r>
          </a:p>
        </p:txBody>
      </p:sp>
      <p:sp>
        <p:nvSpPr>
          <p:cNvPr id="6" name="Rounded Rectangle 5"/>
          <p:cNvSpPr/>
          <p:nvPr/>
        </p:nvSpPr>
        <p:spPr>
          <a:xfrm>
            <a:off x="731520" y="150876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73352"/>
            <a:ext cx="3200400" cy="1828800"/>
          </a:xfrm>
          <a:prstGeom prst="rect">
            <a:avLst/>
          </a:prstGeom>
          <a:noFill/>
        </p:spPr>
        <p:txBody>
          <a:bodyPr wrap="square">
            <a:spAutoFit/>
          </a:bodyPr>
          <a:lstStyle/>
          <a:p>
            <a:pPr algn="r">
              <a:defRPr sz="1350" b="1">
                <a:solidFill>
                  <a:srgbClr val="D4AF37"/>
                </a:solidFill>
                <a:latin typeface="Arial"/>
              </a:defRPr>
            </a:pPr>
            <a:r>
              <a:t>💾  الحصر المركزي وسيادة البيانات</a:t>
            </a:r>
          </a:p>
          <a:p>
            <a:pPr algn="r">
              <a:spcBef>
                <a:spcPts val="400"/>
              </a:spcBef>
              <a:defRPr sz="1050">
                <a:solidFill>
                  <a:srgbClr val="F1F5F9"/>
                </a:solidFill>
                <a:latin typeface="Arial"/>
              </a:defRPr>
            </a:pPr>
            <a:r>
              <a:t>قاعدة بيانات محلية آمنة (SQLite WAL) تعمل بكفاءة تامة دون اعتماد تشغيلي على الإنترنت لحماية سرية البيانات.</a:t>
            </a:r>
          </a:p>
        </p:txBody>
      </p:sp>
      <p:sp>
        <p:nvSpPr>
          <p:cNvPr id="8" name="Rounded Rectangle 7"/>
          <p:cNvSpPr/>
          <p:nvPr/>
        </p:nvSpPr>
        <p:spPr>
          <a:xfrm>
            <a:off x="4297680" y="150876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673352"/>
            <a:ext cx="3200400" cy="1828800"/>
          </a:xfrm>
          <a:prstGeom prst="rect">
            <a:avLst/>
          </a:prstGeom>
          <a:noFill/>
        </p:spPr>
        <p:txBody>
          <a:bodyPr wrap="square">
            <a:spAutoFit/>
          </a:bodyPr>
          <a:lstStyle/>
          <a:p>
            <a:pPr algn="r">
              <a:defRPr sz="1350" b="1">
                <a:solidFill>
                  <a:srgbClr val="D4AF37"/>
                </a:solidFill>
                <a:latin typeface="Arial"/>
              </a:defRPr>
            </a:pPr>
            <a:r>
              <a:t>🏢  التتبع المكاني والتشغيلي</a:t>
            </a:r>
          </a:p>
          <a:p>
            <a:pPr algn="r">
              <a:spcBef>
                <a:spcPts val="400"/>
              </a:spcBef>
              <a:defRPr sz="1050">
                <a:solidFill>
                  <a:srgbClr val="F1F5F9"/>
                </a:solidFill>
                <a:latin typeface="Arial"/>
              </a:defRPr>
            </a:pPr>
            <a:r>
              <a:t>توثيق كل حركة وانتقال يربط الموقع السابق بالموقع الحالي والمسؤول والتوقيت والسياق التشغيلي.</a:t>
            </a:r>
          </a:p>
        </p:txBody>
      </p:sp>
      <p:sp>
        <p:nvSpPr>
          <p:cNvPr id="10" name="Rounded Rectangle 9"/>
          <p:cNvSpPr/>
          <p:nvPr/>
        </p:nvSpPr>
        <p:spPr>
          <a:xfrm>
            <a:off x="7863840" y="150876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1673352"/>
            <a:ext cx="3200400" cy="1828800"/>
          </a:xfrm>
          <a:prstGeom prst="rect">
            <a:avLst/>
          </a:prstGeom>
          <a:noFill/>
        </p:spPr>
        <p:txBody>
          <a:bodyPr wrap="square">
            <a:spAutoFit/>
          </a:bodyPr>
          <a:lstStyle/>
          <a:p>
            <a:pPr algn="r">
              <a:defRPr sz="1350" b="1">
                <a:solidFill>
                  <a:srgbClr val="D4AF37"/>
                </a:solidFill>
                <a:latin typeface="Arial"/>
              </a:defRPr>
            </a:pPr>
            <a:r>
              <a:t>📋  حوكمة الاستعارة والحيازة</a:t>
            </a:r>
          </a:p>
          <a:p>
            <a:pPr algn="r">
              <a:spcBef>
                <a:spcPts val="400"/>
              </a:spcBef>
              <a:defRPr sz="1050">
                <a:solidFill>
                  <a:srgbClr val="F1F5F9"/>
                </a:solidFill>
                <a:latin typeface="Arial"/>
              </a:defRPr>
            </a:pPr>
            <a:r>
              <a:t>مسار عمل تلقائي منضبط: طلب ← موافقة إدارية ← تسليم موثق ← متابعة ← فحص وإرجاع آمن للمخزن.</a:t>
            </a:r>
          </a:p>
        </p:txBody>
      </p:sp>
      <p:sp>
        <p:nvSpPr>
          <p:cNvPr id="12" name="Rounded Rectangle 11"/>
          <p:cNvSpPr/>
          <p:nvPr/>
        </p:nvSpPr>
        <p:spPr>
          <a:xfrm>
            <a:off x="731520" y="384048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05072"/>
            <a:ext cx="3200400" cy="1828800"/>
          </a:xfrm>
          <a:prstGeom prst="rect">
            <a:avLst/>
          </a:prstGeom>
          <a:noFill/>
        </p:spPr>
        <p:txBody>
          <a:bodyPr wrap="square">
            <a:spAutoFit/>
          </a:bodyPr>
          <a:lstStyle/>
          <a:p>
            <a:pPr algn="r">
              <a:defRPr sz="1350" b="1">
                <a:solidFill>
                  <a:srgbClr val="D4AF37"/>
                </a:solidFill>
                <a:latin typeface="Arial"/>
              </a:defRPr>
            </a:pPr>
            <a:r>
              <a:t>⚛️  حساب النشاط والاضمحلال آلياً</a:t>
            </a:r>
          </a:p>
          <a:p>
            <a:pPr algn="r">
              <a:spcBef>
                <a:spcPts val="400"/>
              </a:spcBef>
              <a:defRPr sz="1050">
                <a:solidFill>
                  <a:srgbClr val="F1F5F9"/>
                </a:solidFill>
                <a:latin typeface="Arial"/>
              </a:defRPr>
            </a:pPr>
            <a:r>
              <a:t>محرك فيزيائي مدمج يحسب النشاط الإشعاعي الحالي ومعدل الجرعة لحظياً بناءً على فترات نصف العمر دون حساب يدوي.</a:t>
            </a:r>
          </a:p>
        </p:txBody>
      </p:sp>
      <p:sp>
        <p:nvSpPr>
          <p:cNvPr id="14" name="Rounded Rectangle 13"/>
          <p:cNvSpPr/>
          <p:nvPr/>
        </p:nvSpPr>
        <p:spPr>
          <a:xfrm>
            <a:off x="4297680" y="384048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4005072"/>
            <a:ext cx="3200400" cy="1828800"/>
          </a:xfrm>
          <a:prstGeom prst="rect">
            <a:avLst/>
          </a:prstGeom>
          <a:noFill/>
        </p:spPr>
        <p:txBody>
          <a:bodyPr wrap="square">
            <a:spAutoFit/>
          </a:bodyPr>
          <a:lstStyle/>
          <a:p>
            <a:pPr algn="r">
              <a:defRPr sz="1350" b="1">
                <a:solidFill>
                  <a:srgbClr val="D4AF37"/>
                </a:solidFill>
                <a:latin typeface="Arial"/>
              </a:defRPr>
            </a:pPr>
            <a:r>
              <a:t>⚠️  تصنيف IAEA والتنبيه المبكر</a:t>
            </a:r>
          </a:p>
          <a:p>
            <a:pPr algn="r">
              <a:spcBef>
                <a:spcPts val="400"/>
              </a:spcBef>
              <a:defRPr sz="1050">
                <a:solidFill>
                  <a:srgbClr val="F1F5F9"/>
                </a:solidFill>
                <a:latin typeface="Arial"/>
              </a:defRPr>
            </a:pPr>
            <a:r>
              <a:t>تصنيف المصادر حسب فئات الوكالة الدولية (Categories 1-5)، مع نظام تنبيهات استباقي لاختبارات التسريب الدورية.</a:t>
            </a:r>
          </a:p>
        </p:txBody>
      </p:sp>
      <p:sp>
        <p:nvSpPr>
          <p:cNvPr id="16" name="Rounded Rectangle 15"/>
          <p:cNvSpPr/>
          <p:nvPr/>
        </p:nvSpPr>
        <p:spPr>
          <a:xfrm>
            <a:off x="7863840" y="384048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4005072"/>
            <a:ext cx="3200400" cy="1828800"/>
          </a:xfrm>
          <a:prstGeom prst="rect">
            <a:avLst/>
          </a:prstGeom>
          <a:noFill/>
        </p:spPr>
        <p:txBody>
          <a:bodyPr wrap="square">
            <a:spAutoFit/>
          </a:bodyPr>
          <a:lstStyle/>
          <a:p>
            <a:pPr algn="r">
              <a:defRPr sz="1350" b="1">
                <a:solidFill>
                  <a:srgbClr val="D4AF37"/>
                </a:solidFill>
                <a:latin typeface="Arial"/>
              </a:defRPr>
            </a:pPr>
            <a:r>
              <a:t>📑  سجل التدقيق والتفتيش الدولي</a:t>
            </a:r>
          </a:p>
          <a:p>
            <a:pPr algn="r">
              <a:spcBef>
                <a:spcPts val="400"/>
              </a:spcBef>
              <a:defRPr sz="1050">
                <a:solidFill>
                  <a:srgbClr val="F1F5F9"/>
                </a:solidFill>
                <a:latin typeface="Arial"/>
              </a:defRPr>
            </a:pPr>
            <a:r>
              <a:t>توثيق آلي غير قابل للتعديل لكافة العمليات، وتصدير فوري للتقارير الرسمية (PDF/Excel) باللغتين العربية والإنجليزية.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Rounded Rectangle 1"/>
          <p:cNvSpPr/>
          <p:nvPr/>
        </p:nvSpPr>
        <p:spPr>
          <a:xfrm>
            <a:off x="457200" y="457200"/>
            <a:ext cx="11277295" cy="594360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1005840"/>
          </a:xfrm>
          <a:prstGeom prst="rect">
            <a:avLst/>
          </a:prstGeom>
          <a:noFill/>
        </p:spPr>
        <p:txBody>
          <a:bodyPr wrap="none">
            <a:spAutoFit/>
          </a:bodyPr>
          <a:lstStyle/>
          <a:p>
            <a:pPr algn="ctr">
              <a:defRPr sz="1300" b="1">
                <a:solidFill>
                  <a:srgbClr val="D4AF37"/>
                </a:solidFill>
                <a:latin typeface="Arial"/>
              </a:defRPr>
            </a:pPr>
            <a:r>
              <a:t>الخلاصة والرؤية المؤسسية</a:t>
            </a:r>
          </a:p>
          <a:p>
            <a:pPr algn="ctr">
              <a:spcBef>
                <a:spcPts val="300"/>
              </a:spcBef>
              <a:defRPr sz="2400" b="1">
                <a:solidFill>
                  <a:srgbClr val="F1F5F9"/>
                </a:solidFill>
                <a:latin typeface="Arial"/>
              </a:defRPr>
            </a:pPr>
            <a:r>
              <a:t>من مشروع تطوير إلى منظومة مؤسسية متكاملة</a:t>
            </a:r>
          </a:p>
        </p:txBody>
      </p:sp>
      <p:sp>
        <p:nvSpPr>
          <p:cNvPr id="4" name="Rounded Rectangle 3"/>
          <p:cNvSpPr/>
          <p:nvPr/>
        </p:nvSpPr>
        <p:spPr>
          <a:xfrm>
            <a:off x="731520"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1600200" cy="822960"/>
          </a:xfrm>
          <a:prstGeom prst="rect">
            <a:avLst/>
          </a:prstGeom>
          <a:noFill/>
        </p:spPr>
        <p:txBody>
          <a:bodyPr wrap="square" lIns="0" rIns="0" tIns="0" bIns="0">
            <a:spAutoFit/>
          </a:bodyPr>
          <a:lstStyle/>
          <a:p>
            <a:pPr algn="ctr">
              <a:defRPr sz="1050" b="1">
                <a:solidFill>
                  <a:srgbClr val="D4AF37"/>
                </a:solidFill>
                <a:latin typeface="Arial"/>
              </a:defRPr>
            </a:pPr>
            <a:r>
              <a:t>القياس المرجعي والتتبع المترولوجي</a:t>
            </a:r>
          </a:p>
        </p:txBody>
      </p:sp>
      <p:sp>
        <p:nvSpPr>
          <p:cNvPr id="6" name="Rounded Rectangle 5"/>
          <p:cNvSpPr/>
          <p:nvPr/>
        </p:nvSpPr>
        <p:spPr>
          <a:xfrm>
            <a:off x="2532888"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78608" y="1965960"/>
            <a:ext cx="1600200" cy="822960"/>
          </a:xfrm>
          <a:prstGeom prst="rect">
            <a:avLst/>
          </a:prstGeom>
          <a:noFill/>
        </p:spPr>
        <p:txBody>
          <a:bodyPr wrap="square" lIns="0" rIns="0" tIns="0" bIns="0">
            <a:spAutoFit/>
          </a:bodyPr>
          <a:lstStyle/>
          <a:p>
            <a:pPr algn="ctr">
              <a:defRPr sz="1050" b="1">
                <a:solidFill>
                  <a:srgbClr val="D4AF37"/>
                </a:solidFill>
                <a:latin typeface="Arial"/>
              </a:defRPr>
            </a:pPr>
            <a:r>
              <a:t>شهادة المعايرة الرقمية الموحدة</a:t>
            </a:r>
          </a:p>
        </p:txBody>
      </p:sp>
      <p:sp>
        <p:nvSpPr>
          <p:cNvPr id="8" name="Rounded Rectangle 7"/>
          <p:cNvSpPr/>
          <p:nvPr/>
        </p:nvSpPr>
        <p:spPr>
          <a:xfrm>
            <a:off x="4334256"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9976" y="1965960"/>
            <a:ext cx="1600200" cy="822960"/>
          </a:xfrm>
          <a:prstGeom prst="rect">
            <a:avLst/>
          </a:prstGeom>
          <a:noFill/>
        </p:spPr>
        <p:txBody>
          <a:bodyPr wrap="square" lIns="0" rIns="0" tIns="0" bIns="0">
            <a:spAutoFit/>
          </a:bodyPr>
          <a:lstStyle/>
          <a:p>
            <a:pPr algn="ctr">
              <a:defRPr sz="1050" b="1">
                <a:solidFill>
                  <a:srgbClr val="D4AF37"/>
                </a:solidFill>
                <a:latin typeface="Arial"/>
              </a:defRPr>
            </a:pPr>
            <a:r>
              <a:t>التحقق المشفر الفوري عبر QR</a:t>
            </a:r>
          </a:p>
        </p:txBody>
      </p:sp>
      <p:sp>
        <p:nvSpPr>
          <p:cNvPr id="10" name="Rounded Rectangle 9"/>
          <p:cNvSpPr/>
          <p:nvPr/>
        </p:nvSpPr>
        <p:spPr>
          <a:xfrm>
            <a:off x="6135624"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1965960"/>
            <a:ext cx="1600200" cy="822960"/>
          </a:xfrm>
          <a:prstGeom prst="rect">
            <a:avLst/>
          </a:prstGeom>
          <a:noFill/>
        </p:spPr>
        <p:txBody>
          <a:bodyPr wrap="square" lIns="0" rIns="0" tIns="0" bIns="0">
            <a:spAutoFit/>
          </a:bodyPr>
          <a:lstStyle/>
          <a:p>
            <a:pPr algn="ctr">
              <a:defRPr sz="1050" b="1">
                <a:solidFill>
                  <a:srgbClr val="D4AF37"/>
                </a:solidFill>
                <a:latin typeface="Arial"/>
              </a:defRPr>
            </a:pPr>
            <a:r>
              <a:t>الحصر المركزي للمصادر المشعة</a:t>
            </a:r>
          </a:p>
        </p:txBody>
      </p:sp>
      <p:sp>
        <p:nvSpPr>
          <p:cNvPr id="12" name="Rounded Rectangle 11"/>
          <p:cNvSpPr/>
          <p:nvPr/>
        </p:nvSpPr>
        <p:spPr>
          <a:xfrm>
            <a:off x="7936992"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1965960"/>
            <a:ext cx="1600200" cy="822960"/>
          </a:xfrm>
          <a:prstGeom prst="rect">
            <a:avLst/>
          </a:prstGeom>
          <a:noFill/>
        </p:spPr>
        <p:txBody>
          <a:bodyPr wrap="square" lIns="0" rIns="0" tIns="0" bIns="0">
            <a:spAutoFit/>
          </a:bodyPr>
          <a:lstStyle/>
          <a:p>
            <a:pPr algn="ctr">
              <a:defRPr sz="1050" b="1">
                <a:solidFill>
                  <a:srgbClr val="D4AF37"/>
                </a:solidFill>
                <a:latin typeface="Arial"/>
              </a:defRPr>
            </a:pPr>
            <a:r>
              <a:t>تتبع الحركة وحوكمة الاستعارة</a:t>
            </a:r>
          </a:p>
        </p:txBody>
      </p:sp>
      <p:sp>
        <p:nvSpPr>
          <p:cNvPr id="14" name="Rounded Rectangle 13"/>
          <p:cNvSpPr/>
          <p:nvPr/>
        </p:nvSpPr>
        <p:spPr>
          <a:xfrm>
            <a:off x="9738360"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0" y="1965960"/>
            <a:ext cx="1600200" cy="822960"/>
          </a:xfrm>
          <a:prstGeom prst="rect">
            <a:avLst/>
          </a:prstGeom>
          <a:noFill/>
        </p:spPr>
        <p:txBody>
          <a:bodyPr wrap="square" lIns="0" rIns="0" tIns="0" bIns="0">
            <a:spAutoFit/>
          </a:bodyPr>
          <a:lstStyle/>
          <a:p>
            <a:pPr algn="ctr">
              <a:defRPr sz="1050" b="1">
                <a:solidFill>
                  <a:srgbClr val="D4AF37"/>
                </a:solidFill>
                <a:latin typeface="Arial"/>
              </a:defRPr>
            </a:pPr>
            <a:r>
              <a:t>سجل التدقيق والجاهزية للتفتيش</a:t>
            </a:r>
          </a:p>
        </p:txBody>
      </p:sp>
      <p:sp>
        <p:nvSpPr>
          <p:cNvPr id="16" name="TextBox 15"/>
          <p:cNvSpPr txBox="1"/>
          <p:nvPr/>
        </p:nvSpPr>
        <p:spPr>
          <a:xfrm>
            <a:off x="5120640" y="2926080"/>
            <a:ext cx="1828800" cy="365760"/>
          </a:xfrm>
          <a:prstGeom prst="rect">
            <a:avLst/>
          </a:prstGeom>
          <a:noFill/>
        </p:spPr>
        <p:txBody>
          <a:bodyPr wrap="none">
            <a:spAutoFit/>
          </a:bodyPr>
          <a:lstStyle/>
          <a:p>
            <a:pPr algn="ctr">
              <a:defRPr sz="1800" b="1">
                <a:solidFill>
                  <a:srgbClr val="D4AF37"/>
                </a:solidFill>
                <a:latin typeface="Arial"/>
              </a:defRPr>
            </a:pPr>
            <a:r>
              <a:t>⬇</a:t>
            </a:r>
          </a:p>
        </p:txBody>
      </p:sp>
      <p:sp>
        <p:nvSpPr>
          <p:cNvPr id="17" name="Rounded Rectangle 16"/>
          <p:cNvSpPr/>
          <p:nvPr/>
        </p:nvSpPr>
        <p:spPr>
          <a:xfrm>
            <a:off x="1371600" y="3337560"/>
            <a:ext cx="9448495" cy="1051560"/>
          </a:xfrm>
          <a:prstGeom prst="roundRect">
            <a:avLst/>
          </a:prstGeom>
          <a:solidFill>
            <a:srgbClr val="16263D"/>
          </a:solidFill>
          <a:ln w="19050">
            <a:solidFill>
              <a:srgbClr val="B892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3429000"/>
            <a:ext cx="9082735" cy="868680"/>
          </a:xfrm>
          <a:prstGeom prst="rect">
            <a:avLst/>
          </a:prstGeom>
          <a:noFill/>
        </p:spPr>
        <p:txBody>
          <a:bodyPr wrap="none">
            <a:spAutoFit/>
          </a:bodyPr>
          <a:lstStyle/>
          <a:p>
            <a:pPr algn="ctr">
              <a:defRPr sz="1600" b="1">
                <a:solidFill>
                  <a:srgbClr val="F1F5F9"/>
                </a:solidFill>
                <a:latin typeface="Arial"/>
              </a:defRPr>
            </a:pPr>
            <a:r>
              <a:t>بنية موحدة قابلة للتوسع على مستوى مؤسسة الطاقة الذرية ومراكزها التابعة</a:t>
            </a:r>
          </a:p>
          <a:p>
            <a:pPr algn="ctr">
              <a:spcBef>
                <a:spcPts val="400"/>
              </a:spcBef>
              <a:defRPr sz="1100">
                <a:solidFill>
                  <a:srgbClr val="CBD5E1"/>
                </a:solidFill>
                <a:latin typeface="Arial"/>
              </a:defRPr>
            </a:pPr>
            <a:r>
              <a:t>تأسيس معايير متطابقة وإجراءات موحدة تخدم مركز البحوث النووية، مركز القياسات الإشعاعية، والمنافذ والمنشآت الوطنية.</a:t>
            </a:r>
          </a:p>
        </p:txBody>
      </p:sp>
      <p:sp>
        <p:nvSpPr>
          <p:cNvPr id="19" name="TextBox 18"/>
          <p:cNvSpPr txBox="1"/>
          <p:nvPr/>
        </p:nvSpPr>
        <p:spPr>
          <a:xfrm>
            <a:off x="914400" y="4572000"/>
            <a:ext cx="10362895" cy="1188720"/>
          </a:xfrm>
          <a:prstGeom prst="rect">
            <a:avLst/>
          </a:prstGeom>
          <a:noFill/>
        </p:spPr>
        <p:txBody>
          <a:bodyPr wrap="none">
            <a:spAutoFit/>
          </a:bodyPr>
          <a:lstStyle/>
          <a:p>
            <a:pPr algn="ctr">
              <a:defRPr sz="1500" b="1">
                <a:solidFill>
                  <a:srgbClr val="D4AF37"/>
                </a:solidFill>
                <a:latin typeface="Arial"/>
              </a:defRPr>
            </a:pPr>
            <a:r>
              <a:t>«من القياس إلى الشهادة، ومن الشهادة إلى التحقق، ومن المصدر إلى التتبع.. سلسلة رقمية واحدة قابلة للتدقيق والتوسع»</a:t>
            </a:r>
          </a:p>
          <a:p>
            <a:pPr algn="ctr">
              <a:spcBef>
                <a:spcPts val="800"/>
              </a:spcBef>
              <a:defRPr sz="1300" b="1">
                <a:solidFill>
                  <a:srgbClr val="F1F5F9"/>
                </a:solidFill>
                <a:latin typeface="Arial"/>
              </a:defRPr>
            </a:pPr>
            <a:r>
              <a:t>شكراً لحسن استماعكم  |  والسلام عليكم ورحمة الله وبركاته</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15] المعمارية البرمجية لمنظومة CAL-QR</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15</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المعمارية البرمجية لمنظومة CAL-QR</a:t>
            </a:r>
          </a:p>
          <a:p>
            <a:pPr algn="r">
              <a:spcBef>
                <a:spcPts val="400"/>
              </a:spcBef>
              <a:defRPr sz="1300">
                <a:solidFill>
                  <a:srgbClr val="94A3B8"/>
                </a:solidFill>
                <a:latin typeface="Arial"/>
              </a:defRPr>
            </a:pPr>
            <a:r>
              <a:t>WPF / .NET 8 / SQLite WAL / Repository Pattern / Off-line Sovereign Architecture</a:t>
            </a:r>
          </a:p>
          <a:p>
            <a:pPr algn="r">
              <a:spcBef>
                <a:spcPts val="600"/>
              </a:spcBef>
              <a:defRPr sz="1200">
                <a:solidFill>
                  <a:srgbClr val="F1F5F9"/>
                </a:solidFill>
                <a:latin typeface="Arial"/>
              </a:defRPr>
            </a:pPr>
            <a:r>
              <a:t>🔹 واجهة المستخدم (UI): مبنية باستخدام تقنية WPF على منصة .NET 8 الحديثة مع دعم كامل لنمط RTL واللغة العربية.</a:t>
            </a:r>
          </a:p>
          <a:p>
            <a:pPr algn="r">
              <a:spcBef>
                <a:spcPts val="600"/>
              </a:spcBef>
              <a:defRPr sz="1200">
                <a:solidFill>
                  <a:srgbClr val="F1F5F9"/>
                </a:solidFill>
                <a:latin typeface="Arial"/>
              </a:defRPr>
            </a:pPr>
            <a:r>
              <a:t>🔹 فصل المسؤوليات (MVVM): اعتماد نمط Model-View-ViewModel لضمان سهولة الصيانة وقابلية التوسع واختبار الكود آلياً.</a:t>
            </a:r>
          </a:p>
          <a:p>
            <a:pPr algn="r">
              <a:spcBef>
                <a:spcPts val="600"/>
              </a:spcBef>
              <a:defRPr sz="1200">
                <a:solidFill>
                  <a:srgbClr val="F1F5F9"/>
                </a:solidFill>
                <a:latin typeface="Arial"/>
              </a:defRPr>
            </a:pPr>
            <a:r>
              <a:t>🔹 قاعدة البيانات المحلية: SQLite بنمط Write-Ahead Logging (WAL) لتوفير أقصى سرعة استعلام دون قفل ملفات البيانات.</a:t>
            </a:r>
          </a:p>
          <a:p>
            <a:pPr algn="r">
              <a:spcBef>
                <a:spcPts val="600"/>
              </a:spcBef>
              <a:defRPr sz="1200">
                <a:solidFill>
                  <a:srgbClr val="F1F5F9"/>
                </a:solidFill>
                <a:latin typeface="Arial"/>
              </a:defRPr>
            </a:pPr>
            <a:r>
              <a:t>🔹 سيادة البيانات التامة: البرنامج يعمل محلياً (On-Premises / Air-Gapped) دون أي اعتماد تشغيلي على خوادم سحابية خارجية.</a:t>
            </a:r>
          </a:p>
          <a:p>
            <a:pPr algn="r">
              <a:spcBef>
                <a:spcPts val="600"/>
              </a:spcBef>
              <a:defRPr sz="1200">
                <a:solidFill>
                  <a:srgbClr val="F1F5F9"/>
                </a:solidFill>
                <a:latin typeface="Arial"/>
              </a:defRPr>
            </a:pPr>
            <a:r>
              <a:t>🔹 التكامل مع الطابعات: دعم مباشر لطباعة ملصقات QR بمقاسات الورق القياسية وقوالب قابلة للتخصيص حسب المعمل.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16] آليات الأمان والتوقيع الرقمي المشفر</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16</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آليات الأمان والتوقيع الرقمي المشفر</a:t>
            </a:r>
          </a:p>
          <a:p>
            <a:pPr algn="r">
              <a:spcBef>
                <a:spcPts val="400"/>
              </a:spcBef>
              <a:defRPr sz="1300">
                <a:solidFill>
                  <a:srgbClr val="94A3B8"/>
                </a:solidFill>
                <a:latin typeface="Arial"/>
              </a:defRPr>
            </a:pPr>
            <a:r>
              <a:t>HMAC-SHA256 Cryptographic Verification &amp; Anti-Tampering Engine</a:t>
            </a:r>
          </a:p>
          <a:p>
            <a:pPr algn="r">
              <a:spcBef>
                <a:spcPts val="600"/>
              </a:spcBef>
              <a:defRPr sz="1200">
                <a:solidFill>
                  <a:srgbClr val="F1F5F9"/>
                </a:solidFill>
                <a:latin typeface="Arial"/>
              </a:defRPr>
            </a:pPr>
            <a:r>
              <a:t>🔹 خوارزمية التوقيع: استخدام خوارزمية HMAC-SHA256 المشفرة لتوليد بصمة رقمية فريدة لكل شهادة معايرة صادرة.</a:t>
            </a:r>
          </a:p>
          <a:p>
            <a:pPr algn="r">
              <a:spcBef>
                <a:spcPts val="600"/>
              </a:spcBef>
              <a:defRPr sz="1200">
                <a:solidFill>
                  <a:srgbClr val="F1F5F9"/>
                </a:solidFill>
                <a:latin typeface="Arial"/>
              </a:defRPr>
            </a:pPr>
            <a:r>
              <a:t>🔹 حقول البصمة: دمج (رقم الشهادة + رقم المصنع + اسم الجهة + تاريخ المعايرة + تاريخ الانتهاء + النتيجة + اسم المهندس).</a:t>
            </a:r>
          </a:p>
          <a:p>
            <a:pPr algn="r">
              <a:spcBef>
                <a:spcPts val="600"/>
              </a:spcBef>
              <a:defRPr sz="1200">
                <a:solidFill>
                  <a:srgbClr val="F1F5F9"/>
                </a:solidFill>
                <a:latin typeface="Arial"/>
              </a:defRPr>
            </a:pPr>
            <a:r>
              <a:t>🔹 الحماية ضد التزوير: أي محاولة لتعديل حرف أو رقم في الشهادة المطبوعة تُبطل التوقيع فوراً عند إجراء المسح.</a:t>
            </a:r>
          </a:p>
          <a:p>
            <a:pPr algn="r">
              <a:spcBef>
                <a:spcPts val="600"/>
              </a:spcBef>
              <a:defRPr sz="1200">
                <a:solidFill>
                  <a:srgbClr val="F1F5F9"/>
                </a:solidFill>
                <a:latin typeface="Arial"/>
              </a:defRPr>
            </a:pPr>
            <a:r>
              <a:t>🔹 التحقق المزدوج: إمكانية التحقق بمسح رمز QR أو عبر إدخال كود التحقق يدوياً في واجهة البرنامج دون إنترنت.</a:t>
            </a:r>
          </a:p>
          <a:p>
            <a:pPr algn="r">
              <a:spcBef>
                <a:spcPts val="600"/>
              </a:spcBef>
              <a:defRPr sz="1200">
                <a:solidFill>
                  <a:srgbClr val="F1F5F9"/>
                </a:solidFill>
                <a:latin typeface="Arial"/>
              </a:defRPr>
            </a:pPr>
            <a:r>
              <a:t>🔹 مستويات الصلاحية: التحقق لا يكتفي بفحص التوقيع بل يعرض حالة الوثيقة الفورية (سارية، ملغاة، أو معدلة بشهادة بديلة).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17] المعمارية التقنية لمنظومة مصادر</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17</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المعمارية التقنية لمنظومة مصادر</a:t>
            </a:r>
          </a:p>
          <a:p>
            <a:pPr algn="r">
              <a:spcBef>
                <a:spcPts val="400"/>
              </a:spcBef>
              <a:defRPr sz="1300">
                <a:solidFill>
                  <a:srgbClr val="94A3B8"/>
                </a:solidFill>
                <a:latin typeface="Arial"/>
              </a:defRPr>
            </a:pPr>
            <a:r>
              <a:t>Entity Framework Core / Local Data Sovereignty / Audit Trail Architecture</a:t>
            </a:r>
          </a:p>
          <a:p>
            <a:pPr algn="r">
              <a:spcBef>
                <a:spcPts val="600"/>
              </a:spcBef>
              <a:defRPr sz="1200">
                <a:solidFill>
                  <a:srgbClr val="F1F5F9"/>
                </a:solidFill>
                <a:latin typeface="Arial"/>
              </a:defRPr>
            </a:pPr>
            <a:r>
              <a:t>🔹 طبقة البيانات: استخدام Entity Framework Core مع ترحيلات قواعد البيانات المنضبطة (Automated Schema Migrations).</a:t>
            </a:r>
          </a:p>
          <a:p>
            <a:pPr algn="r">
              <a:spcBef>
                <a:spcPts val="600"/>
              </a:spcBef>
              <a:defRPr sz="1200">
                <a:solidFill>
                  <a:srgbClr val="F1F5F9"/>
                </a:solidFill>
                <a:latin typeface="Arial"/>
              </a:defRPr>
            </a:pPr>
            <a:r>
              <a:t>🔹 إدارة الذاكرة والرسائل: استخدام WeakReferenceMessenger لتبادل الأحداث بين الشاشات دون تسريب للذاكرة.</a:t>
            </a:r>
          </a:p>
          <a:p>
            <a:pPr algn="r">
              <a:spcBef>
                <a:spcPts val="600"/>
              </a:spcBef>
              <a:defRPr sz="1200">
                <a:solidFill>
                  <a:srgbClr val="F1F5F9"/>
                </a:solidFill>
                <a:latin typeface="Arial"/>
              </a:defRPr>
            </a:pPr>
            <a:r>
              <a:t>🔹 الحماية والأذونات: نظام صلاحيات هرمي مقيد بكلمات مرور مشفرة وتتبع لعدد محاولات تسجيل الدخول الفاشلة.</a:t>
            </a:r>
          </a:p>
          <a:p>
            <a:pPr algn="r">
              <a:spcBef>
                <a:spcPts val="600"/>
              </a:spcBef>
              <a:defRPr sz="1200">
                <a:solidFill>
                  <a:srgbClr val="F1F5F9"/>
                </a:solidFill>
                <a:latin typeface="Arial"/>
              </a:defRPr>
            </a:pPr>
            <a:r>
              <a:t>🔹 النسخ الاحتياطي التلقائي: آلية نسخ احتياطي مؤتمتة لقاعدة البيانات والمرفقات تضمن استمرارية الأعمال وعدم فقدان البيانات.</a:t>
            </a:r>
          </a:p>
          <a:p>
            <a:pPr algn="r">
              <a:spcBef>
                <a:spcPts val="600"/>
              </a:spcBef>
              <a:defRPr sz="1200">
                <a:solidFill>
                  <a:srgbClr val="F1F5F9"/>
                </a:solidFill>
                <a:latin typeface="Arial"/>
              </a:defRPr>
            </a:pPr>
            <a:r>
              <a:t>🔹 محرك التقارير: تصدير مباشر لتقارير الجرد والتفتيش بصيغتي PDF عالية الدقة وجداول Excel باللغتين العربية والإنجليزية.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18] محرك حساب الاضمحلال الإشعاعي الفيزيائي</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18</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محرك حساب الاضمحلال الإشعاعي الفيزيائي</a:t>
            </a:r>
          </a:p>
          <a:p>
            <a:pPr algn="r">
              <a:spcBef>
                <a:spcPts val="400"/>
              </a:spcBef>
              <a:defRPr sz="1300">
                <a:solidFill>
                  <a:srgbClr val="94A3B8"/>
                </a:solidFill>
                <a:latin typeface="Arial"/>
              </a:defRPr>
            </a:pPr>
            <a:r>
              <a:t>Decay Physics Engine: Half-life constants &amp; Activity Decay Formulation</a:t>
            </a:r>
          </a:p>
          <a:p>
            <a:pPr algn="r">
              <a:spcBef>
                <a:spcPts val="600"/>
              </a:spcBef>
              <a:defRPr sz="1200">
                <a:solidFill>
                  <a:srgbClr val="F1F5F9"/>
                </a:solidFill>
                <a:latin typeface="Arial"/>
              </a:defRPr>
            </a:pPr>
            <a:r>
              <a:t>🔹 معادلة الاضمحلال الأساسية: A(t) = A₀ · e^(-λt) حيث λ = ln(2) / T₁/₂.</a:t>
            </a:r>
          </a:p>
          <a:p>
            <a:pPr algn="r">
              <a:spcBef>
                <a:spcPts val="600"/>
              </a:spcBef>
              <a:defRPr sz="1200">
                <a:solidFill>
                  <a:srgbClr val="F1F5F9"/>
                </a:solidFill>
                <a:latin typeface="Arial"/>
              </a:defRPr>
            </a:pPr>
            <a:r>
              <a:t>🔹 ثوابت نصف العمر: مدمجة بالمنظومة اعتماداً على مراجع الوكالة الدولية (IAEA) ومعهد Oak Ridge (ORNL/RSIC-45/R1).</a:t>
            </a:r>
          </a:p>
          <a:p>
            <a:pPr algn="r">
              <a:spcBef>
                <a:spcPts val="600"/>
              </a:spcBef>
              <a:defRPr sz="1200">
                <a:solidFill>
                  <a:srgbClr val="F1F5F9"/>
                </a:solidFill>
                <a:latin typeface="Arial"/>
              </a:defRPr>
            </a:pPr>
            <a:r>
              <a:t>🔹 الحساب التلقائي المستمر: يتم احتساب النشاط الإشعاعي اللحظي ومعدل الجرعة المكافئة تلقائياً عند فتح سجل المصدر دون أي تدخل يدوي.</a:t>
            </a:r>
          </a:p>
          <a:p>
            <a:pPr algn="r">
              <a:spcBef>
                <a:spcPts val="600"/>
              </a:spcBef>
              <a:defRPr sz="1200">
                <a:solidFill>
                  <a:srgbClr val="F1F5F9"/>
                </a:solidFill>
                <a:latin typeface="Arial"/>
              </a:defRPr>
            </a:pPr>
            <a:r>
              <a:t>🔹 دعم النظائر المتعددة: النظائر الغاماوية الشائعة (Cs-137, Co-60, Ir-192, Am-241, Sr-90) والمصادر النيترونية المرجعية.</a:t>
            </a:r>
          </a:p>
          <a:p>
            <a:pPr algn="r">
              <a:spcBef>
                <a:spcPts val="600"/>
              </a:spcBef>
              <a:defRPr sz="1200">
                <a:solidFill>
                  <a:srgbClr val="F1F5F9"/>
                </a:solidFill>
                <a:latin typeface="Arial"/>
              </a:defRPr>
            </a:pPr>
            <a:r>
              <a:t>🔹 منحنيات الاضمحلال البصرية: رسم بياني تفاعلي يوضح تراجع النشاط الإشعاعي عبر الزمن لتسهيل اتخاذ القرار التشغيلي.</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19] مصفوفة تصنيف المصادر المشعة (IAEA)</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19</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مصفوفة تصنيف المصادر المشعة (IAEA)</a:t>
            </a:r>
          </a:p>
          <a:p>
            <a:pPr algn="r">
              <a:spcBef>
                <a:spcPts val="400"/>
              </a:spcBef>
              <a:defRPr sz="1300">
                <a:solidFill>
                  <a:srgbClr val="94A3B8"/>
                </a:solidFill>
                <a:latin typeface="Arial"/>
              </a:defRPr>
            </a:pPr>
            <a:r>
              <a:t>IAEA Categorization 1-5 Matrix &amp; Safety/Security Risk Tiers</a:t>
            </a:r>
          </a:p>
          <a:p>
            <a:pPr algn="r">
              <a:spcBef>
                <a:spcPts val="600"/>
              </a:spcBef>
              <a:defRPr sz="1200">
                <a:solidFill>
                  <a:srgbClr val="F1F5F9"/>
                </a:solidFill>
                <a:latin typeface="Arial"/>
              </a:defRPr>
            </a:pPr>
            <a:r>
              <a:t>🔹 التصنيف 1 (Category 1): مصادر بالغة الخطورة (A/D ≥ 1000) تتطلب أعلى درجات الأمان المادي والرصد المستمر.</a:t>
            </a:r>
          </a:p>
          <a:p>
            <a:pPr algn="r">
              <a:spcBef>
                <a:spcPts val="600"/>
              </a:spcBef>
              <a:defRPr sz="1200">
                <a:solidFill>
                  <a:srgbClr val="F1F5F9"/>
                </a:solidFill>
                <a:latin typeface="Arial"/>
              </a:defRPr>
            </a:pPr>
            <a:r>
              <a:t>🔹 التصنيف 2 (Category 2): مصادر شديدة الخطورة (1000 &gt; A/D ≥ 10) تتطلب حوكمة دقيقة في الاستخدام والنقل.</a:t>
            </a:r>
          </a:p>
          <a:p>
            <a:pPr algn="r">
              <a:spcBef>
                <a:spcPts val="600"/>
              </a:spcBef>
              <a:defRPr sz="1200">
                <a:solidFill>
                  <a:srgbClr val="F1F5F9"/>
                </a:solidFill>
                <a:latin typeface="Arial"/>
              </a:defRPr>
            </a:pPr>
            <a:r>
              <a:t>🔹 التصنيف 3 (Category 3): مصادر خطرة (10 &gt; A/D ≥ 1) تخضع لتدقيق دوري وفحوصات تسريب منتظمة.</a:t>
            </a:r>
          </a:p>
          <a:p>
            <a:pPr algn="r">
              <a:spcBef>
                <a:spcPts val="600"/>
              </a:spcBef>
              <a:defRPr sz="1200">
                <a:solidFill>
                  <a:srgbClr val="F1F5F9"/>
                </a:solidFill>
                <a:latin typeface="Arial"/>
              </a:defRPr>
            </a:pPr>
            <a:r>
              <a:t>🔹 التصنيفان 4 و 5 (Categories 4 &amp; 5): مصادر منخفضة الخطورة (A/D &lt; 1) تستخدم في المعايرة المخبرية والأبحاث التعليمية.</a:t>
            </a:r>
          </a:p>
          <a:p>
            <a:pPr algn="r">
              <a:spcBef>
                <a:spcPts val="600"/>
              </a:spcBef>
              <a:defRPr sz="1200">
                <a:solidFill>
                  <a:srgbClr val="F1F5F9"/>
                </a:solidFill>
                <a:latin typeface="Arial"/>
              </a:defRPr>
            </a:pPr>
            <a:r>
              <a:t>🔹 التنبيه الذكي: النظام يعتمد نسب النشاط إلى الحد الحرج (A/D ratio) لتحديد تصنيف المصدر آلياً طبقاً لمعايير IAEA.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20] نموذج ومكونات شهادة المعايرة المطورة</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20</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نموذج ومكونات شهادة المعايرة المطورة</a:t>
            </a:r>
          </a:p>
          <a:p>
            <a:pPr algn="r">
              <a:spcBef>
                <a:spcPts val="400"/>
              </a:spcBef>
              <a:defRPr sz="1300">
                <a:solidFill>
                  <a:srgbClr val="94A3B8"/>
                </a:solidFill>
                <a:latin typeface="Arial"/>
              </a:defRPr>
            </a:pPr>
            <a:r>
              <a:t>Calibration Certificate Layout &amp; ISO/IEC 17025 Compliant Fields</a:t>
            </a:r>
          </a:p>
          <a:p>
            <a:pPr algn="r">
              <a:spcBef>
                <a:spcPts val="600"/>
              </a:spcBef>
              <a:defRPr sz="1200">
                <a:solidFill>
                  <a:srgbClr val="F1F5F9"/>
                </a:solidFill>
                <a:latin typeface="Arial"/>
              </a:defRPr>
            </a:pPr>
            <a:r>
              <a:t>🔹 الترويسة الرسمية: شعار مؤسسة الطاقة الذرية، مركز البحوث النووية، وبيانات إدارة الوقاية وقسم المعايرة.</a:t>
            </a:r>
          </a:p>
          <a:p>
            <a:pPr algn="r">
              <a:spcBef>
                <a:spcPts val="600"/>
              </a:spcBef>
              <a:defRPr sz="1200">
                <a:solidFill>
                  <a:srgbClr val="F1F5F9"/>
                </a:solidFill>
                <a:latin typeface="Arial"/>
              </a:defRPr>
            </a:pPr>
            <a:r>
              <a:t>🔹 بيانات الجهاز: النوع، الموديل، الرقم المصنعي، والجهة المستفيدة، وتاريخ الاستلام وتاريخ المعايرة.</a:t>
            </a:r>
          </a:p>
          <a:p>
            <a:pPr algn="r">
              <a:spcBef>
                <a:spcPts val="600"/>
              </a:spcBef>
              <a:defRPr sz="1200">
                <a:solidFill>
                  <a:srgbClr val="F1F5F9"/>
                </a:solidFill>
                <a:latin typeface="Arial"/>
              </a:defRPr>
            </a:pPr>
            <a:r>
              <a:t>🔹 الظروف البيئية: تسجيل درجات الحرارة والرطوبة والضغط الجوي أثناء عملية المعايرة لضمان دقة التصحيح.</a:t>
            </a:r>
          </a:p>
          <a:p>
            <a:pPr algn="r">
              <a:spcBef>
                <a:spcPts val="600"/>
              </a:spcBef>
              <a:defRPr sz="1200">
                <a:solidFill>
                  <a:srgbClr val="F1F5F9"/>
                </a:solidFill>
                <a:latin typeface="Arial"/>
              </a:defRPr>
            </a:pPr>
            <a:r>
              <a:t>🔹 جدول النتائج: القراءات المرجعية، قراءات الجهاز، معامل التصحيح المحسوب، والارتياب الموسع (Uncertainty).</a:t>
            </a:r>
          </a:p>
          <a:p>
            <a:pPr algn="r">
              <a:spcBef>
                <a:spcPts val="600"/>
              </a:spcBef>
              <a:defRPr sz="1200">
                <a:solidFill>
                  <a:srgbClr val="F1F5F9"/>
                </a:solidFill>
                <a:latin typeface="Arial"/>
              </a:defRPr>
            </a:pPr>
            <a:r>
              <a:t>🔹 عناصر الموثوقية: رمز QR المشفر، كود التحقق الأبجدي، توقيع المهندس القائم بالمعايرة، واعتماد رئيس القسم.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21] التجهيزات المرجعية الكاملة لمختبر SSDL</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21</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التجهيزات المرجعية الكاملة لمختبر SSDL</a:t>
            </a:r>
          </a:p>
          <a:p>
            <a:pPr algn="r">
              <a:spcBef>
                <a:spcPts val="400"/>
              </a:spcBef>
              <a:defRPr sz="1300">
                <a:solidFill>
                  <a:srgbClr val="94A3B8"/>
                </a:solidFill>
                <a:latin typeface="Arial"/>
              </a:defRPr>
            </a:pPr>
            <a:r>
              <a:t>Full Metrological Equipment Catalog &amp; Secondary Standards</a:t>
            </a:r>
          </a:p>
          <a:p>
            <a:pPr algn="r">
              <a:spcBef>
                <a:spcPts val="600"/>
              </a:spcBef>
              <a:defRPr sz="1200">
                <a:solidFill>
                  <a:srgbClr val="F1F5F9"/>
                </a:solidFill>
                <a:latin typeface="Arial"/>
              </a:defRPr>
            </a:pPr>
            <a:r>
              <a:t>🔹 وحدة التشعيع المرجعية: نظام الكوبالت-60 الموجه (Cobalt-60 Teletherapy Unit) بمعدلات جرعة مستقرة ومقاسة.</a:t>
            </a:r>
          </a:p>
          <a:p>
            <a:pPr algn="r">
              <a:spcBef>
                <a:spcPts val="600"/>
              </a:spcBef>
              <a:defRPr sz="1200">
                <a:solidFill>
                  <a:srgbClr val="F1F5F9"/>
                </a:solidFill>
                <a:latin typeface="Arial"/>
              </a:defRPr>
            </a:pPr>
            <a:r>
              <a:t>🔹 الإلكتروميتر المرجعي: PTW UNIDOS عالي الدقة لقياس التيارات والشحنات التأينية بدقة الفيمتو أمبير (fA).</a:t>
            </a:r>
          </a:p>
          <a:p>
            <a:pPr algn="r">
              <a:spcBef>
                <a:spcPts val="600"/>
              </a:spcBef>
              <a:defRPr sz="1200">
                <a:solidFill>
                  <a:srgbClr val="F1F5F9"/>
                </a:solidFill>
                <a:latin typeface="Arial"/>
              </a:defRPr>
            </a:pPr>
            <a:r>
              <a:t>🔹 غرف التأين: غرف تأين فارمر 0.6 سم³، وغرف التأين المتوازية، والمكاشف نصف الموصلة والمعيارية.</a:t>
            </a:r>
          </a:p>
          <a:p>
            <a:pPr algn="r">
              <a:spcBef>
                <a:spcPts val="600"/>
              </a:spcBef>
              <a:defRPr sz="1200">
                <a:solidFill>
                  <a:srgbClr val="F1F5F9"/>
                </a:solidFill>
                <a:latin typeface="Arial"/>
              </a:defRPr>
            </a:pPr>
            <a:r>
              <a:t>🔹 مسار المعايرة الميكانيكي: سكة حديدية موجهة ليزرياً لضبط المسافات الدقيقة بين المصدر والكاشف.</a:t>
            </a:r>
          </a:p>
          <a:p>
            <a:pPr algn="r">
              <a:spcBef>
                <a:spcPts val="600"/>
              </a:spcBef>
              <a:defRPr sz="1200">
                <a:solidFill>
                  <a:srgbClr val="F1F5F9"/>
                </a:solidFill>
                <a:latin typeface="Arial"/>
              </a:defRPr>
            </a:pPr>
            <a:r>
              <a:t>🔹 أجهزة الرصد والتلوث: كواشف Ludlum، مكاشف NE 2570، فانتومات الماء والأنسجة، ومنظومة قراءة TLD.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256032"/>
          </a:xfrm>
          <a:prstGeom prst="rect">
            <a:avLst/>
          </a:prstGeom>
          <a:noFill/>
        </p:spPr>
        <p:txBody>
          <a:bodyPr wrap="square" lIns="0" rIns="0" tIns="0" bIns="0">
            <a:spAutoFit/>
          </a:bodyPr>
          <a:lstStyle/>
          <a:p>
            <a:pPr algn="r">
              <a:defRPr sz="1100" b="1">
                <a:solidFill>
                  <a:srgbClr val="D4AF37"/>
                </a:solidFill>
                <a:latin typeface="Arial"/>
              </a:defRPr>
            </a:pPr>
            <a:r>
              <a:t>شرائح الدعم الفني المسبق (للنقاش والأسئلة)</a:t>
            </a:r>
          </a:p>
        </p:txBody>
      </p:sp>
      <p:sp>
        <p:nvSpPr>
          <p:cNvPr id="3" name="TextBox 2"/>
          <p:cNvSpPr txBox="1"/>
          <p:nvPr/>
        </p:nvSpPr>
        <p:spPr>
          <a:xfrm>
            <a:off x="731520" y="603504"/>
            <a:ext cx="10728655" cy="502920"/>
          </a:xfrm>
          <a:prstGeom prst="rect">
            <a:avLst/>
          </a:prstGeom>
          <a:noFill/>
        </p:spPr>
        <p:txBody>
          <a:bodyPr wrap="square" lIns="0" rIns="0" tIns="0" bIns="0">
            <a:spAutoFit/>
          </a:bodyPr>
          <a:lstStyle/>
          <a:p>
            <a:pPr algn="r">
              <a:defRPr sz="2200" b="1">
                <a:solidFill>
                  <a:srgbClr val="F1F5F9"/>
                </a:solidFill>
                <a:latin typeface="Arial"/>
              </a:defRPr>
            </a:pPr>
            <a:r>
              <a:t>[احتياطي 22] خارطة طريق التكامل والربط المؤسسي المستقبلي</a:t>
            </a:r>
          </a:p>
        </p:txBody>
      </p:sp>
      <p:sp>
        <p:nvSpPr>
          <p:cNvPr id="4" name="Rectangle 3"/>
          <p:cNvSpPr/>
          <p:nvPr/>
        </p:nvSpPr>
        <p:spPr>
          <a:xfrm>
            <a:off x="731520" y="1170432"/>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55080"/>
            <a:ext cx="10728655" cy="320040"/>
          </a:xfrm>
          <a:prstGeom prst="rect">
            <a:avLst/>
          </a:prstGeom>
          <a:noFill/>
        </p:spPr>
        <p:txBody>
          <a:bodyPr wrap="none" lIns="0" rIns="0" tIns="0" bIns="0">
            <a:spAutoFit/>
          </a:bodyPr>
          <a:lstStyle/>
          <a:p>
            <a:pPr algn="r">
              <a:defRPr sz="950">
                <a:solidFill>
                  <a:srgbClr val="94A3B8"/>
                </a:solidFill>
                <a:latin typeface="Arial"/>
              </a:defRPr>
            </a:pPr>
            <a:r>
              <a:t>مؤسسة الطاقة الذرية  |  اجتماع اللجنة العلمية الدائمة 2026  |  شريحة 22</a:t>
            </a:r>
          </a:p>
        </p:txBody>
      </p:sp>
      <p:sp>
        <p:nvSpPr>
          <p:cNvPr id="6" name="Rounded Rectangle 5"/>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10180015" cy="4297680"/>
          </a:xfrm>
          <a:prstGeom prst="rect">
            <a:avLst/>
          </a:prstGeom>
          <a:noFill/>
        </p:spPr>
        <p:txBody>
          <a:bodyPr wrap="square">
            <a:spAutoFit/>
          </a:bodyPr>
          <a:lstStyle/>
          <a:p>
            <a:pPr algn="r">
              <a:defRPr sz="2000" b="1">
                <a:solidFill>
                  <a:srgbClr val="D4AF37"/>
                </a:solidFill>
                <a:latin typeface="Arial"/>
              </a:defRPr>
            </a:pPr>
            <a:r>
              <a:t>خارطة طريق التكامل والربط المؤسسي المستقبلي</a:t>
            </a:r>
          </a:p>
          <a:p>
            <a:pPr algn="r">
              <a:spcBef>
                <a:spcPts val="400"/>
              </a:spcBef>
              <a:defRPr sz="1300">
                <a:solidFill>
                  <a:srgbClr val="94A3B8"/>
                </a:solidFill>
                <a:latin typeface="Arial"/>
              </a:defRPr>
            </a:pPr>
            <a:r>
              <a:t>Three-Tier Integration Roadmap: Current, In Progress, &amp; Future Vision</a:t>
            </a:r>
          </a:p>
          <a:p>
            <a:pPr algn="r">
              <a:spcBef>
                <a:spcPts val="600"/>
              </a:spcBef>
              <a:defRPr sz="1200">
                <a:solidFill>
                  <a:srgbClr val="F1F5F9"/>
                </a:solidFill>
                <a:latin typeface="Arial"/>
              </a:defRPr>
            </a:pPr>
            <a:r>
              <a:t>🔹 المرحلة الحالية (تم إنجازها): إعادة هندسة الشهادات + توفير غرفة فارمر + منظومة CAL-QR + منظومة مصادر.</a:t>
            </a:r>
          </a:p>
          <a:p>
            <a:pPr algn="r">
              <a:spcBef>
                <a:spcPts val="600"/>
              </a:spcBef>
              <a:defRPr sz="1200">
                <a:solidFill>
                  <a:srgbClr val="F1F5F9"/>
                </a:solidFill>
                <a:latin typeface="Arial"/>
              </a:defRPr>
            </a:pPr>
            <a:r>
              <a:t>🔹 المرحلة التالية (قيد التطوير): ربط المنظومتين في منصة واحدة وتوحيد الهوية الرقمية لأجهزة ومصادر المؤسسة.</a:t>
            </a:r>
          </a:p>
          <a:p>
            <a:pPr algn="r">
              <a:spcBef>
                <a:spcPts val="600"/>
              </a:spcBef>
              <a:defRPr sz="1200">
                <a:solidFill>
                  <a:srgbClr val="F1F5F9"/>
                </a:solidFill>
                <a:latin typeface="Arial"/>
              </a:defRPr>
            </a:pPr>
            <a:r>
              <a:t>🔹 الرؤية المستقبلية (مقترح للتطوير): منصة مؤسسية شاملة تربط معامل المعايرة والمصادر بكافة المنافذ والمراكز الوطنية.</a:t>
            </a:r>
          </a:p>
          <a:p>
            <a:pPr algn="r">
              <a:spcBef>
                <a:spcPts val="600"/>
              </a:spcBef>
              <a:defRPr sz="1200">
                <a:solidFill>
                  <a:srgbClr val="F1F5F9"/>
                </a:solidFill>
                <a:latin typeface="Arial"/>
              </a:defRPr>
            </a:pPr>
            <a:r>
              <a:t>🔹 الاعتماد الدولي: استكمال متطلبات ملف الجودة والتوثيق للتقدم نحو نيل الاعتماد الرسمي وفق ISO/IEC 17025.</a:t>
            </a:r>
          </a:p>
          <a:p>
            <a:pPr algn="r">
              <a:spcBef>
                <a:spcPts val="600"/>
              </a:spcBef>
              <a:defRPr sz="1200">
                <a:solidFill>
                  <a:srgbClr val="F1F5F9"/>
                </a:solidFill>
                <a:latin typeface="Arial"/>
              </a:defRPr>
            </a:pPr>
            <a:r>
              <a:t>🔹 بناء القدرات: استمرار تدريب المهندسين والفنيين على التشغيل الرقمي الموحد وأنظمة الأمان الإشعاعي المتقدمة.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