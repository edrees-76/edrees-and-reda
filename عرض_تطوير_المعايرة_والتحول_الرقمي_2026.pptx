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00:30</a:t>
            </a:r>
          </a:p>
          <a:p>
            <a:pPr algn="r" rtl="1">
              <a:spcBef>
                <a:spcPts val="600"/>
              </a:spcBef>
            </a:pPr>
            <a:r>
              <a:rPr sz="1200" b="0" lang="ar-SA" altLang="en-US">
                <a:latin typeface="Arial"/>
                <a:cs typeface="Arial"/>
              </a:rPr>
              <a:t>🎙️ نص الإلقاء المقترح:
السيد رئيس وأعضاء اللجنة العلمية الدائمة المحترمون، السلام عليكم ورحمة الله وبركاته. يسرنا أن نقدم لكم اليوم هذا العرض الخاص بتطوير وتحديث قسم المعايرة وقياس وتقدير الجرعات الشخصية بمركز البحوث النووية تاجوراء، متضمناً مسار التطوير العلمي والفني والرقمي وفق متطلبات المواصفة الدولية </a:t>
            </a:r>
            <a:r>
              <a:rPr sz="1200" b="0" lang="en-US" altLang="ar-SA">
                <a:latin typeface="Arial"/>
              </a:rPr>
              <a:t>ISO/IEC 17025:2017</a:t>
            </a:r>
            <a:r>
              <a:rPr sz="1200" b="0" lang="ar-SA" altLang="en-US">
                <a:latin typeface="Arial"/>
                <a:cs typeface="Arial"/>
              </a:rPr>
              <a:t>، كثمرة عمل مشترك يجمع بين مركز البحوث النووية ومركز القياسات الإشعاعية والتدريب.</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00:45</a:t>
            </a:r>
          </a:p>
          <a:p>
            <a:pPr algn="r" rtl="1">
              <a:spcBef>
                <a:spcPts val="600"/>
              </a:spcBef>
            </a:pPr>
            <a:r>
              <a:rPr sz="1200" b="0" lang="ar-SA" altLang="en-US">
                <a:latin typeface="Arial"/>
                <a:cs typeface="Arial"/>
              </a:rPr>
              <a:t>🎙️ نص الإلقاء المقترح:
قسم المعايرة وقياس وتقدير الجرعات الشخصية هو قسم فني رائد يجمع بين المعايرة والقياسات والوقاية من الإشعاع وتوثيق النتائج وإصدار الشهادات. يتكون القسم هيكلياً من وحدتين رئيستين: وحدة الجرعات الشخصية المعتمدة على تقنية </a:t>
            </a:r>
            <a:r>
              <a:rPr sz="1200" b="0" lang="en-US" altLang="ar-SA">
                <a:latin typeface="Arial"/>
              </a:rPr>
              <a:t>TLD</a:t>
            </a:r>
            <a:r>
              <a:rPr sz="1200" b="0" lang="ar-SA" altLang="en-US">
                <a:latin typeface="Arial"/>
                <a:cs typeface="Arial"/>
              </a:rPr>
              <a:t>، ووحدة المعايرة بشقيها: معايرة كواشف وأجهزة المسح الإشعاعي، ومعايرة العلاج الإشعاعي.</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00:45</a:t>
            </a:r>
          </a:p>
          <a:p>
            <a:pPr algn="r" rtl="1">
              <a:spcBef>
                <a:spcPts val="600"/>
              </a:spcBef>
            </a:pPr>
            <a:r>
              <a:rPr sz="1200" b="0" lang="ar-SA" altLang="en-US">
                <a:latin typeface="Arial"/>
                <a:cs typeface="Arial"/>
              </a:rPr>
              <a:t>🎙️ نص الإلقاء المقترح:
مختبر </a:t>
            </a:r>
            <a:r>
              <a:rPr sz="1200" b="0" lang="en-US" altLang="ar-SA">
                <a:latin typeface="Arial"/>
              </a:rPr>
              <a:t>SSDL</a:t>
            </a:r>
            <a:r>
              <a:rPr sz="1200" b="0" lang="ar-SA" altLang="en-US">
                <a:latin typeface="Arial"/>
                <a:cs typeface="Arial"/>
              </a:rPr>
              <a:t> بمركز البحوث النووية تاجوراء هو أول مختبر من نوعه في ليبيا وشمال أفريقيا، متخصص في معايرة أجهزة القياس والجرعات الإشعاعية وإجراء القياسات المرجعية، وله تعاون فني عريق مع الوكالة الدولية للطاقة الذرية </a:t>
            </a:r>
            <a:r>
              <a:rPr sz="1200" b="0" lang="en-US" altLang="ar-SA">
                <a:latin typeface="Arial"/>
              </a:rPr>
              <a:t>IAEA</a:t>
            </a:r>
            <a:r>
              <a:rPr sz="1200" b="0" lang="ar-SA" altLang="en-US">
                <a:latin typeface="Arial"/>
                <a:cs typeface="Arial"/>
              </a:rPr>
              <a:t>، وهو المرجع الوطني لإصدار وتوثيق شهادات المعايرة.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00:50</a:t>
            </a:r>
          </a:p>
          <a:p>
            <a:pPr algn="r" rtl="1">
              <a:spcBef>
                <a:spcPts val="600"/>
              </a:spcBef>
            </a:pPr>
            <a:r>
              <a:rPr sz="1200" b="0" lang="ar-SA" altLang="en-US">
                <a:latin typeface="Arial"/>
                <a:cs typeface="Arial"/>
              </a:rPr>
              <a:t>🎙️ نص الإلقاء المقترح:
تتوزع الأعمال الفنية بين وحدة معايرة الكواشف التي تواصل إجراء القياسات وتحليل النتائج وإصدار الشهادات، ووحدة معايرة العلاج الإشعاعي التي كانت متوقفة لعدم توفر غرفة التأين المرجعية </a:t>
            </a:r>
            <a:r>
              <a:rPr sz="1200" b="0" lang="en-US" altLang="ar-SA">
                <a:latin typeface="Arial"/>
              </a:rPr>
              <a:t>Farmer Chamber.</a:t>
            </a:r>
            <a:r>
              <a:rPr sz="1200" b="0" lang="ar-SA" altLang="en-US">
                <a:latin typeface="Arial"/>
                <a:cs typeface="Arial"/>
              </a:rPr>
              <a:t> والخبر الهام أنه بعد توفير هذه الغرفة المرجعية، بدأت بالفعل إجراءات إعادة تفعيل وتطوير الوحدة وتجهيزها لبدء العمل.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00:50</a:t>
            </a:r>
          </a:p>
          <a:p>
            <a:pPr algn="r" rtl="1">
              <a:spcBef>
                <a:spcPts val="600"/>
              </a:spcBef>
            </a:pPr>
            <a:r>
              <a:rPr sz="1200" b="0" lang="ar-SA" altLang="en-US">
                <a:latin typeface="Arial"/>
                <a:cs typeface="Arial"/>
              </a:rPr>
              <a:t>🎙️ نص الإلقاء المقترح:
واجه القسم حزمة من التحديات الفنية والإدارية: الحاجة لتطوير وتوحيد محتوى شهادة المعايرة علمياً، الاعتماد على الأرشفة الورقية وصعوبة الاسترجاع، غياب وسيلة رقمية للتحقق من الشهادات، وتوقف معايرة العلاج الإشعاعي لغياب غرفة فارمر. هذه التحديات الثمانية حددت برنامج عمل التطوير الذي تم تنفيذه.</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00:50</a:t>
            </a:r>
          </a:p>
          <a:p>
            <a:pPr algn="r" rtl="1">
              <a:spcBef>
                <a:spcPts val="600"/>
              </a:spcBef>
            </a:pPr>
            <a:r>
              <a:rPr sz="1200" b="0" lang="ar-SA" altLang="en-US">
                <a:latin typeface="Arial"/>
                <a:cs typeface="Arial"/>
              </a:rPr>
              <a:t>🎙️ نص الإلقاء المقترح:
تطوير الشهادة فكرياً وعلمياً وفق متطلبات </a:t>
            </a:r>
            <a:r>
              <a:rPr sz="1200" b="0" lang="en-US" altLang="ar-SA">
                <a:latin typeface="Arial"/>
              </a:rPr>
              <a:t>ISO/IEC 17025:2017</a:t>
            </a:r>
            <a:r>
              <a:rPr sz="1200" b="0" lang="ar-SA" altLang="en-US">
                <a:latin typeface="Arial"/>
                <a:cs typeface="Arial"/>
              </a:rPr>
              <a:t> سبق أي كود برمجي، وهذا هو الأساس الصلب الذي مكننا لاحقاً من بناء منظومة </a:t>
            </a:r>
            <a:r>
              <a:rPr sz="1200" b="0" lang="en-US" altLang="ar-SA">
                <a:latin typeface="Arial"/>
              </a:rPr>
              <a:t>CAL-QR</a:t>
            </a:r>
            <a:r>
              <a:rPr sz="1200" b="0" lang="ar-SA" altLang="en-US">
                <a:latin typeface="Arial"/>
                <a:cs typeface="Arial"/>
              </a:rPr>
              <a:t> بنجاح.</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00:50</a:t>
            </a:r>
          </a:p>
          <a:p>
            <a:pPr algn="r" rtl="1">
              <a:spcBef>
                <a:spcPts val="600"/>
              </a:spcBef>
            </a:pPr>
            <a:r>
              <a:rPr sz="1200" b="0" lang="ar-SA" altLang="en-US">
                <a:latin typeface="Arial"/>
                <a:cs typeface="Arial"/>
              </a:rPr>
              <a:t>🎙️ نص الإلقاء المقترح:
بعد توفير غرفة التأين المرجعية </a:t>
            </a:r>
            <a:r>
              <a:rPr sz="1200" b="0" lang="en-US" altLang="ar-SA">
                <a:latin typeface="Arial"/>
              </a:rPr>
              <a:t>Farmer Chamber</a:t>
            </a:r>
            <a:r>
              <a:rPr sz="1200" b="0" lang="ar-SA" altLang="en-US">
                <a:latin typeface="Arial"/>
                <a:cs typeface="Arial"/>
              </a:rPr>
              <a:t> بدأنا مرحلة إعادة تفعيل وحدة معايرة العلاج الإشعاعي، وتجهيز منظومات القياس وتطوير الإجراءات للاستعداد لبدء العمل الفعلي وخدمة القطاع الصحي والمراكز العلاجية.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00:40</a:t>
            </a:r>
          </a:p>
          <a:p>
            <a:pPr algn="r" rtl="1">
              <a:spcBef>
                <a:spcPts val="600"/>
              </a:spcBef>
            </a:pPr>
            <a:r>
              <a:rPr sz="1200" b="0" lang="ar-SA" altLang="en-US">
                <a:latin typeface="Arial"/>
                <a:cs typeface="Arial"/>
              </a:rPr>
              <a:t>🎙️ نص الإلقاء المقترح:
رضا يقول بعد الشريحة 8:
«بعد أن قمنا أولاً بتطوير شهادات المعايرة من الناحية العلمية والفنية، وتهيئتها وفق متطلبات </a:t>
            </a:r>
            <a:r>
              <a:rPr sz="1200" b="0" lang="en-US" altLang="ar-SA">
                <a:latin typeface="Arial"/>
              </a:rPr>
              <a:t>ISO/IEC 17025:2017</a:t>
            </a:r>
            <a:r>
              <a:rPr sz="1200" b="0" lang="ar-SA" altLang="en-US">
                <a:latin typeface="Arial"/>
                <a:cs typeface="Arial"/>
              </a:rPr>
              <a:t>، ظهرت الحاجة إلى تحويل هذه البيانات والإجراءات إلى نظام رقمي متكامل. وهنا بدأ التعاون مع الزميل إدريس، حيث تم تزويده بالمتطلبات العلمية والفنية وبيانات الشهادة، ليقوم بتحويلها إلى منظومة إلكترونية متخصصة.»
ثم:
«وسيقدم لنا الزميل إدريس الآن شرحًا تفصيليًا لمنظومة </a:t>
            </a:r>
            <a:r>
              <a:rPr sz="1200" b="0" lang="en-US" altLang="ar-SA">
                <a:latin typeface="Arial"/>
              </a:rPr>
              <a:t>CAL-QR</a:t>
            </a:r>
            <a:r>
              <a:rPr sz="1200" b="0" lang="ar-SA" altLang="en-US">
                <a:latin typeface="Arial"/>
                <a:cs typeface="Arial"/>
              </a:rPr>
              <a:t>، من حيث فكرة المنظومة، وقاعدة البيانات، وآلية إصدار الشهادة، والأرشفة، والبحث والاسترجاع، والـ</a:t>
            </a:r>
            <a:r>
              <a:rPr sz="1200" b="0" lang="en-US" altLang="ar-SA">
                <a:latin typeface="Arial"/>
              </a:rPr>
              <a:t>QR Code</a:t>
            </a:r>
            <a:r>
              <a:rPr sz="1200" b="0" lang="ar-SA" altLang="en-US">
                <a:latin typeface="Arial"/>
                <a:cs typeface="Arial"/>
              </a:rPr>
              <a:t>، ثم سينتقل إلى منظومة مصادر المشعة وآلية عملها.»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00:50</a:t>
            </a:r>
          </a:p>
          <a:p>
            <a:pPr algn="r" rtl="1">
              <a:spcBef>
                <a:spcPts val="600"/>
              </a:spcBef>
            </a:pPr>
            <a:r>
              <a:rPr sz="1200" b="0" lang="ar-SA" altLang="en-US">
                <a:latin typeface="Arial"/>
                <a:cs typeface="Arial"/>
              </a:rPr>
              <a:t>🎙️ نص الإلقاء المقترح:
يقوم إدريس الآن ببدء الجزء الرقمي: بعد أن استلمنا المتطلبات الفنية من الزميل رضا، قمنا بتصميم معمارية رقمية متكاملة لـ </a:t>
            </a:r>
            <a:r>
              <a:rPr sz="1200" b="0" lang="en-US" altLang="ar-SA">
                <a:latin typeface="Arial"/>
              </a:rPr>
              <a:t>CAL-QR</a:t>
            </a:r>
            <a:r>
              <a:rPr sz="1200" b="0" lang="ar-SA" altLang="en-US">
                <a:latin typeface="Arial"/>
                <a:cs typeface="Arial"/>
              </a:rPr>
              <a:t>، بدءاً من بناء قاعدة البيانات وواجهات الإدخال، وصولاً لبرمجة التوقيع المشفر وتوليد رمز </a:t>
            </a:r>
            <a:r>
              <a:rPr sz="1200" b="0" lang="en-US" altLang="ar-SA">
                <a:latin typeface="Arial"/>
              </a:rPr>
              <a:t>QR</a:t>
            </a:r>
            <a:r>
              <a:rPr sz="1200" b="0" lang="ar-SA" altLang="en-US">
                <a:latin typeface="Arial"/>
                <a:cs typeface="Arial"/>
              </a:rPr>
              <a:t> والأرشفة المركزية.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00:50</a:t>
            </a:r>
          </a:p>
          <a:p>
            <a:pPr algn="r" rtl="1">
              <a:spcBef>
                <a:spcPts val="600"/>
              </a:spcBef>
            </a:pPr>
            <a:r>
              <a:rPr sz="1200" b="0" lang="ar-SA" altLang="en-US">
                <a:latin typeface="Arial"/>
                <a:cs typeface="Arial"/>
              </a:rPr>
              <a:t>🎙️ نص الإلقاء المقترح:
يقوم إدريس بشرح واجهة المنظومة وقاعدة البيانات وآلية البرمجة: مسار العمل يبدأ بإدخال بيانات الجهاز ثم تسجيل نتائج المعايرة، وإنشاء الشهادة، وتسجيلها في قاعدة البيانات المحلية، وحفظ نسخة أرشيفية مستقلة، وتوليد رمز </a:t>
            </a:r>
            <a:r>
              <a:rPr sz="1200" b="0" lang="en-US" altLang="ar-SA">
                <a:latin typeface="Arial"/>
              </a:rPr>
              <a:t>QR</a:t>
            </a:r>
            <a:r>
              <a:rPr sz="1200" b="0" lang="ar-SA" altLang="en-US">
                <a:latin typeface="Arial"/>
                <a:cs typeface="Arial"/>
              </a:rPr>
              <a:t> للتحقق الميداني الفوري.</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00:45</a:t>
            </a:r>
          </a:p>
          <a:p>
            <a:pPr algn="r" rtl="1">
              <a:spcBef>
                <a:spcPts val="600"/>
              </a:spcBef>
            </a:pPr>
            <a:r>
              <a:rPr sz="1200" b="0" lang="ar-SA" altLang="en-US">
                <a:latin typeface="Arial"/>
                <a:cs typeface="Arial"/>
              </a:rPr>
              <a:t>🎙️ نص الإلقاء المقترح:
أحدثت منظومة </a:t>
            </a:r>
            <a:r>
              <a:rPr sz="1200" b="0" lang="en-US" altLang="ar-SA">
                <a:latin typeface="Arial"/>
              </a:rPr>
              <a:t>CAL-QR</a:t>
            </a:r>
            <a:r>
              <a:rPr sz="1200" b="0" lang="ar-SA" altLang="en-US">
                <a:latin typeface="Arial"/>
                <a:cs typeface="Arial"/>
              </a:rPr>
              <a:t> نقلة نوعية حقيقية بنقل العمل من الأرشفة الورقية المعرضة للتلف إلى أرشفة رقمية آمنة، ومن البحث اليدوي إلى استرجاع فوري، ومن شهادة معزولة إلى وثيقة مرتبطة ببياناتها داخل النظام، ومن الوصول البطيء إلى تحقق ميداني سريع عبر </a:t>
            </a:r>
            <a:r>
              <a:rPr sz="1200" b="0" lang="en-US" altLang="ar-SA">
                <a:latin typeface="Arial"/>
              </a:rPr>
              <a:t>QR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00:45</a:t>
            </a:r>
          </a:p>
          <a:p>
            <a:pPr algn="r" rtl="1">
              <a:spcBef>
                <a:spcPts val="600"/>
              </a:spcBef>
            </a:pPr>
            <a:r>
              <a:rPr sz="1200" b="0" lang="ar-SA" altLang="en-US">
                <a:latin typeface="Arial"/>
                <a:cs typeface="Arial"/>
              </a:rPr>
              <a:t>🎙️ نص الإلقاء المقترح:
بالتوازي مع منظومة المعايرة، قمنا بتطوير منظومة مصادر كمشروع رقمي مستقل يهدف إلى الحصر الشامل للمصادر المشعة بمركز البحوث النووية تاجوراء، وتسجيل بياناتها وحركتها، وتسهيل الوصول للمعلومات ودعم اتخاذ القرار الرقابي والفني.</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00:50</a:t>
            </a:r>
          </a:p>
          <a:p>
            <a:pPr algn="r" rtl="1">
              <a:spcBef>
                <a:spcPts val="600"/>
              </a:spcBef>
            </a:pPr>
            <a:r>
              <a:rPr sz="1200" b="0" lang="ar-SA" altLang="en-US">
                <a:latin typeface="Arial"/>
                <a:cs typeface="Arial"/>
              </a:rPr>
              <a:t>🎙️ نص الإلقاء المقترح:
يوضح هذا الجزء التكامل بين الجانب العلمي الذي حدد معايير الحصر والحقول المطلوبة، والجانب البرمجي الذي صمم قاعدة البيانات والواجهات؛ ومسار العمل يبدأ من إدخال بيانات المصدر وتسجيله وحفظه ومتابعته وصولاً إلى الاسترجاع والتقارير.</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المقترح: 00:45</a:t>
            </a:r>
          </a:p>
          <a:p>
            <a:pPr algn="r" rtl="1">
              <a:spcBef>
                <a:spcPts val="600"/>
              </a:spcBef>
            </a:pPr>
            <a:r>
              <a:rPr sz="1200" b="0" lang="ar-SA" altLang="en-US">
                <a:latin typeface="Arial"/>
                <a:cs typeface="Arial"/>
              </a:rPr>
              <a:t>🎙️ نص الإلقاء المقترح:
ختام العرض: نلخص ما تحقق في أربعة إنجازات رئيسية (تطوير الشهادات، تفعيل معايرة العلاج الإشعاعي، منظومة </a:t>
            </a:r>
            <a:r>
              <a:rPr sz="1200" b="0" lang="en-US" altLang="ar-SA">
                <a:latin typeface="Arial"/>
              </a:rPr>
              <a:t>CAL-QR</a:t>
            </a:r>
            <a:r>
              <a:rPr sz="1200" b="0" lang="ar-SA" altLang="en-US">
                <a:latin typeface="Arial"/>
                <a:cs typeface="Arial"/>
              </a:rPr>
              <a:t>، ومنظومة مصادر)، مع خطة التوجه المستقبلي لاستكمال الاعتماد والتوسع في الأرشفة الرقمية. نشكر رئيس وأعضاء اللجنة العلمية على حسن استماعهم.</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Rounded Rectangle 1"/>
          <p:cNvSpPr/>
          <p:nvPr/>
        </p:nvSpPr>
        <p:spPr>
          <a:xfrm>
            <a:off x="548640" y="457200"/>
            <a:ext cx="11094415" cy="5943600"/>
          </a:xfrm>
          <a:prstGeom prst="roundRect">
            <a:avLst/>
          </a:prstGeom>
          <a:solidFill>
            <a:srgbClr val="112240"/>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pic>
        <p:nvPicPr>
          <p:cNvPr id="3" name="Picture 2" descr="aee.jpg"/>
          <p:cNvPicPr>
            <a:picLocks noChangeAspect="1"/>
          </p:cNvPicPr>
          <p:nvPr/>
        </p:nvPicPr>
        <p:blipFill>
          <a:blip r:embed="rId2"/>
          <a:stretch>
            <a:fillRect/>
          </a:stretch>
        </p:blipFill>
        <p:spPr>
          <a:xfrm>
            <a:off x="1005840" y="777240"/>
            <a:ext cx="1280160" cy="1280160"/>
          </a:xfrm>
          <a:prstGeom prst="rect">
            <a:avLst/>
          </a:prstGeom>
        </p:spPr>
      </p:pic>
      <p:pic>
        <p:nvPicPr>
          <p:cNvPr id="4" name="Picture 3" descr="tnrc.jpg"/>
          <p:cNvPicPr>
            <a:picLocks noChangeAspect="1"/>
          </p:cNvPicPr>
          <p:nvPr/>
        </p:nvPicPr>
        <p:blipFill>
          <a:blip r:embed="rId3"/>
          <a:stretch>
            <a:fillRect/>
          </a:stretch>
        </p:blipFill>
        <p:spPr>
          <a:xfrm>
            <a:off x="9875520" y="777240"/>
            <a:ext cx="1280160" cy="1280160"/>
          </a:xfrm>
          <a:prstGeom prst="rect">
            <a:avLst/>
          </a:prstGeom>
        </p:spPr>
      </p:pic>
      <p:sp>
        <p:nvSpPr>
          <p:cNvPr id="5" name="TextBox 4"/>
          <p:cNvSpPr txBox="1"/>
          <p:nvPr/>
        </p:nvSpPr>
        <p:spPr>
          <a:xfrm>
            <a:off x="1371600" y="2011680"/>
            <a:ext cx="9448495" cy="2286000"/>
          </a:xfrm>
          <a:prstGeom prst="rect">
            <a:avLst/>
          </a:prstGeom>
          <a:noFill/>
        </p:spPr>
        <p:txBody>
          <a:bodyPr wrap="square" rtlCol="1">
            <a:spAutoFit/>
          </a:bodyPr>
          <a:lstStyle/>
          <a:p>
            <a:pPr algn="ctr" rtl="1"/>
            <a:r>
              <a:rPr sz="1300" b="1" lang="ar-SA" altLang="en-US">
                <a:solidFill>
                  <a:srgbClr val="D97706"/>
                </a:solidFill>
                <a:latin typeface="Arial"/>
                <a:cs typeface="Arial"/>
              </a:rPr>
              <a:t>العرض النهائي  |  اجتماع اللجنة العلمية الدائمة لسنة 2026م</a:t>
            </a:r>
          </a:p>
          <a:p>
            <a:pPr algn="ctr" rtl="1">
              <a:spcBef>
                <a:spcPts val="600"/>
              </a:spcBef>
            </a:pPr>
            <a:r>
              <a:rPr sz="2600" b="1" lang="ar-SA" altLang="en-US">
                <a:solidFill>
                  <a:srgbClr val="F8FAFC"/>
                </a:solidFill>
                <a:latin typeface="Arial"/>
                <a:cs typeface="Arial"/>
              </a:rPr>
              <a:t>تطوير وتحديث قسم المعايرة وقياس وتقدير الجرعات الشخصية</a:t>
            </a:r>
          </a:p>
          <a:p>
            <a:pPr algn="ctr" rtl="1">
              <a:spcBef>
                <a:spcPts val="600"/>
              </a:spcBef>
            </a:pPr>
            <a:r>
              <a:rPr sz="1800" b="1" lang="ar-SA" altLang="en-US">
                <a:solidFill>
                  <a:srgbClr val="DBEAFE"/>
                </a:solidFill>
                <a:latin typeface="Arial"/>
                <a:cs typeface="Arial"/>
              </a:rPr>
              <a:t>مركز البحوث النووية – تاجوراء</a:t>
            </a:r>
          </a:p>
          <a:p>
            <a:pPr algn="ctr" rtl="1">
              <a:spcBef>
                <a:spcPts val="600"/>
              </a:spcBef>
            </a:pPr>
            <a:r>
              <a:rPr sz="1300" b="1" lang="ar-SA" altLang="en-US">
                <a:solidFill>
                  <a:srgbClr val="0284C7"/>
                </a:solidFill>
                <a:latin typeface="Arial"/>
                <a:cs typeface="Arial"/>
              </a:rPr>
              <a:t>التطوير العلمي والفني والرقمي وفق متطلبات المواصفة الدولية </a:t>
            </a:r>
            <a:r>
              <a:rPr sz="1300" b="1" lang="en-US" altLang="ar-SA">
                <a:solidFill>
                  <a:srgbClr val="0284C7"/>
                </a:solidFill>
                <a:latin typeface="Arial"/>
              </a:rPr>
              <a:t>ISO/IEC 17025:2017</a:t>
            </a:r>
          </a:p>
        </p:txBody>
      </p:sp>
      <p:sp>
        <p:nvSpPr>
          <p:cNvPr id="6" name="Rounded Rectangle 5"/>
          <p:cNvSpPr/>
          <p:nvPr/>
        </p:nvSpPr>
        <p:spPr>
          <a:xfrm>
            <a:off x="1371600" y="4434840"/>
            <a:ext cx="9448495" cy="1508760"/>
          </a:xfrm>
          <a:prstGeom prst="roundRect">
            <a:avLst/>
          </a:prstGeom>
          <a:solidFill>
            <a:srgbClr val="172A4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1554480" y="4526280"/>
            <a:ext cx="9082735" cy="1325880"/>
          </a:xfrm>
          <a:prstGeom prst="rect">
            <a:avLst/>
          </a:prstGeom>
          <a:noFill/>
        </p:spPr>
        <p:txBody>
          <a:bodyPr wrap="square" rtlCol="1">
            <a:spAutoFit/>
          </a:bodyPr>
          <a:lstStyle/>
          <a:p>
            <a:pPr algn="ctr" rtl="1"/>
            <a:r>
              <a:rPr sz="1200" b="1" lang="ar-SA" altLang="en-US">
                <a:solidFill>
                  <a:srgbClr val="D97706"/>
                </a:solidFill>
                <a:latin typeface="Arial"/>
                <a:cs typeface="Arial"/>
              </a:rPr>
              <a:t>إعداد وتقديم:</a:t>
            </a:r>
          </a:p>
          <a:p>
            <a:pPr algn="ctr" rtl="1">
              <a:spcBef>
                <a:spcPts val="400"/>
              </a:spcBef>
            </a:pPr>
            <a:r>
              <a:rPr sz="1250" b="1" lang="ar-SA" altLang="en-US">
                <a:solidFill>
                  <a:srgbClr val="F8FAFC"/>
                </a:solidFill>
                <a:latin typeface="Arial"/>
                <a:cs typeface="Arial"/>
              </a:rPr>
              <a:t>رضا علي المريمي — رئيس قسم المعايرة وقياس وتقدير الجرعات الشخصية بمركز البحوث النووية</a:t>
            </a:r>
          </a:p>
          <a:p>
            <a:pPr algn="ctr" rtl="1">
              <a:spcBef>
                <a:spcPts val="300"/>
              </a:spcBef>
            </a:pPr>
            <a:r>
              <a:rPr sz="1250" b="1" lang="ar-SA" altLang="en-US">
                <a:solidFill>
                  <a:srgbClr val="F8FAFC"/>
                </a:solidFill>
                <a:latin typeface="Arial"/>
                <a:cs typeface="Arial"/>
              </a:rPr>
              <a:t>ادريس فتح الله الهري — رئيس مختبر بنغازي بمركز القياسات الاشعاعية</a:t>
            </a:r>
          </a:p>
          <a:p>
            <a:pPr algn="ctr" rtl="1">
              <a:spcBef>
                <a:spcPts val="400"/>
              </a:spcBef>
            </a:pPr>
            <a:r>
              <a:rPr sz="1050" b="0" lang="ar-SA" altLang="en-US">
                <a:solidFill>
                  <a:srgbClr val="94A3B8"/>
                </a:solidFill>
                <a:latin typeface="Arial"/>
                <a:cs typeface="Arial"/>
              </a:rPr>
              <a:t>22 سبتمبر 2026م  |  مؤسسة الطاقة الذرية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rtlCol="1">
            <a:spAutoFit/>
          </a:bodyPr>
          <a:lstStyle/>
          <a:p>
            <a:pPr algn="r" rtl="1"/>
            <a:r>
              <a:rPr sz="1050" b="1" lang="ar-SA" altLang="en-US">
                <a:solidFill>
                  <a:srgbClr val="D97706"/>
                </a:solidFill>
                <a:latin typeface="Arial"/>
                <a:cs typeface="Arial"/>
              </a:rPr>
              <a:t>الشريحة 2 — التعريف بالقسم</a:t>
            </a:r>
          </a:p>
          <a:p>
            <a:pPr algn="r" rtl="1">
              <a:spcBef>
                <a:spcPts val="200"/>
              </a:spcBef>
            </a:pPr>
            <a:r>
              <a:rPr sz="2100" b="1" lang="ar-SA" altLang="en-US">
                <a:solidFill>
                  <a:srgbClr val="1E3A8A"/>
                </a:solidFill>
                <a:latin typeface="Arial"/>
                <a:cs typeface="Arial"/>
              </a:rPr>
              <a:t>التعريف بقسم المعايرة وقياس وتقدير الجرعات الشخصية</a:t>
            </a:r>
          </a:p>
        </p:txBody>
      </p:sp>
      <p:sp>
        <p:nvSpPr>
          <p:cNvPr id="3" name="Rectangle 2"/>
          <p:cNvSpPr/>
          <p:nvPr/>
        </p:nvSpPr>
        <p:spPr>
          <a:xfrm>
            <a:off x="731520" y="1207008"/>
            <a:ext cx="10728655" cy="18288"/>
          </a:xfrm>
          <a:prstGeom prst="rect">
            <a:avLst/>
          </a:prstGeom>
          <a:solidFill>
            <a:srgbClr val="DBE5F0"/>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82512"/>
            <a:ext cx="10728655" cy="292608"/>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2 من 14</a:t>
            </a:r>
          </a:p>
        </p:txBody>
      </p:sp>
      <p:sp>
        <p:nvSpPr>
          <p:cNvPr id="5" name="Rounded Rectangle 4"/>
          <p:cNvSpPr/>
          <p:nvPr/>
        </p:nvSpPr>
        <p:spPr>
          <a:xfrm>
            <a:off x="731520" y="1417320"/>
            <a:ext cx="32918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pic>
        <p:nvPicPr>
          <p:cNvPr id="6" name="Picture 5" descr="18.jfif"/>
          <p:cNvPicPr>
            <a:picLocks noChangeAspect="1"/>
          </p:cNvPicPr>
          <p:nvPr/>
        </p:nvPicPr>
        <p:blipFill>
          <a:blip r:embed="rId2"/>
          <a:stretch>
            <a:fillRect/>
          </a:stretch>
        </p:blipFill>
        <p:spPr>
          <a:xfrm>
            <a:off x="804672" y="1490472"/>
            <a:ext cx="3145536" cy="4224528"/>
          </a:xfrm>
          <a:prstGeom prst="rect">
            <a:avLst/>
          </a:prstGeom>
        </p:spPr>
      </p:pic>
      <p:sp>
        <p:nvSpPr>
          <p:cNvPr id="7" name="TextBox 6"/>
          <p:cNvSpPr txBox="1"/>
          <p:nvPr/>
        </p:nvSpPr>
        <p:spPr>
          <a:xfrm>
            <a:off x="804672" y="5715000"/>
            <a:ext cx="3145536" cy="292608"/>
          </a:xfrm>
          <a:prstGeom prst="rect">
            <a:avLst/>
          </a:prstGeom>
          <a:noFill/>
        </p:spPr>
        <p:txBody>
          <a:bodyPr wrap="none" lIns="0" rIns="0" tIns="0" bIns="0" rtlCol="1">
            <a:spAutoFit/>
          </a:bodyPr>
          <a:lstStyle/>
          <a:p>
            <a:pPr algn="ctr" rtl="1"/>
            <a:r>
              <a:rPr sz="900" b="1" lang="ar-SA" altLang="en-US">
                <a:solidFill>
                  <a:srgbClr val="475569"/>
                </a:solidFill>
                <a:latin typeface="Arial"/>
                <a:cs typeface="Arial"/>
              </a:rPr>
              <a:t>القياسات والمسح الإشعاعي بالكواشف المعملية</a:t>
            </a:r>
          </a:p>
        </p:txBody>
      </p:sp>
      <p:sp>
        <p:nvSpPr>
          <p:cNvPr id="8" name="Rounded Rectangle 7"/>
          <p:cNvSpPr/>
          <p:nvPr/>
        </p:nvSpPr>
        <p:spPr>
          <a:xfrm>
            <a:off x="4297680" y="1417320"/>
            <a:ext cx="713232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9" name="Rectangle 8"/>
          <p:cNvSpPr/>
          <p:nvPr/>
        </p:nvSpPr>
        <p:spPr>
          <a:xfrm>
            <a:off x="4297680" y="1417320"/>
            <a:ext cx="71323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0" name="TextBox 9"/>
          <p:cNvSpPr txBox="1"/>
          <p:nvPr/>
        </p:nvSpPr>
        <p:spPr>
          <a:xfrm>
            <a:off x="4480560" y="1572768"/>
            <a:ext cx="6766560" cy="2103120"/>
          </a:xfrm>
          <a:prstGeom prst="rect">
            <a:avLst/>
          </a:prstGeom>
          <a:noFill/>
        </p:spPr>
        <p:txBody>
          <a:bodyPr wrap="square" rtlCol="1">
            <a:spAutoFit/>
          </a:bodyPr>
          <a:lstStyle/>
          <a:p>
            <a:pPr algn="r" rtl="1"/>
            <a:r>
              <a:rPr sz="1450" b="1" lang="ar-SA" altLang="en-US">
                <a:solidFill>
                  <a:srgbClr val="1E3A8A"/>
                </a:solidFill>
                <a:latin typeface="Arial"/>
                <a:cs typeface="Arial"/>
              </a:rPr>
              <a:t>قسم فني متخصص في مجالات:</a:t>
            </a:r>
          </a:p>
          <a:p>
            <a:pPr algn="r" rtl="1">
              <a:spcBef>
                <a:spcPts val="200"/>
              </a:spcBef>
            </a:pPr>
            <a:r>
              <a:rPr sz="1100" b="0" lang="ar-SA" altLang="en-US">
                <a:solidFill>
                  <a:srgbClr val="0F172A"/>
                </a:solidFill>
                <a:latin typeface="Arial"/>
                <a:cs typeface="Arial"/>
              </a:rPr>
              <a:t>• المعايرة والقياسات الإشعاعية.</a:t>
            </a:r>
          </a:p>
          <a:p>
            <a:pPr algn="r" rtl="1">
              <a:spcBef>
                <a:spcPts val="200"/>
              </a:spcBef>
            </a:pPr>
            <a:r>
              <a:rPr sz="1100" b="0" lang="ar-SA" altLang="en-US">
                <a:solidFill>
                  <a:srgbClr val="0F172A"/>
                </a:solidFill>
                <a:latin typeface="Arial"/>
                <a:cs typeface="Arial"/>
              </a:rPr>
              <a:t>• قياس وتقدير الجرعات الشخصية.</a:t>
            </a:r>
          </a:p>
          <a:p>
            <a:pPr algn="r" rtl="1">
              <a:spcBef>
                <a:spcPts val="200"/>
              </a:spcBef>
            </a:pPr>
            <a:r>
              <a:rPr sz="1100" b="0" lang="ar-SA" altLang="en-US">
                <a:solidFill>
                  <a:srgbClr val="0F172A"/>
                </a:solidFill>
                <a:latin typeface="Arial"/>
                <a:cs typeface="Arial"/>
              </a:rPr>
              <a:t>• الحماية من الإشعاع.</a:t>
            </a:r>
          </a:p>
          <a:p>
            <a:pPr algn="r" rtl="1">
              <a:spcBef>
                <a:spcPts val="200"/>
              </a:spcBef>
            </a:pPr>
            <a:r>
              <a:rPr sz="1100" b="0" lang="ar-SA" altLang="en-US">
                <a:solidFill>
                  <a:srgbClr val="0F172A"/>
                </a:solidFill>
                <a:latin typeface="Arial"/>
                <a:cs typeface="Arial"/>
              </a:rPr>
              <a:t>• توثيق نتائج القياسات والمعايرات.</a:t>
            </a:r>
          </a:p>
          <a:p>
            <a:pPr algn="r" rtl="1">
              <a:spcBef>
                <a:spcPts val="200"/>
              </a:spcBef>
            </a:pPr>
            <a:r>
              <a:rPr sz="1100" b="0" lang="ar-SA" altLang="en-US">
                <a:solidFill>
                  <a:srgbClr val="0F172A"/>
                </a:solidFill>
                <a:latin typeface="Arial"/>
                <a:cs typeface="Arial"/>
              </a:rPr>
              <a:t>• إصدار شهادات المعايرة.</a:t>
            </a:r>
          </a:p>
          <a:p>
            <a:pPr algn="r" rtl="1">
              <a:spcBef>
                <a:spcPts val="200"/>
              </a:spcBef>
            </a:pPr>
            <a:r>
              <a:rPr sz="1100" b="0" lang="ar-SA" altLang="en-US">
                <a:solidFill>
                  <a:srgbClr val="0F172A"/>
                </a:solidFill>
                <a:latin typeface="Arial"/>
                <a:cs typeface="Arial"/>
              </a:rPr>
              <a:t>• تطوير الإجراءات والأنظمة الفنية والرقمية.</a:t>
            </a:r>
          </a:p>
        </p:txBody>
      </p:sp>
      <p:sp>
        <p:nvSpPr>
          <p:cNvPr id="11" name="Rounded Rectangle 10"/>
          <p:cNvSpPr/>
          <p:nvPr/>
        </p:nvSpPr>
        <p:spPr>
          <a:xfrm>
            <a:off x="4297680" y="3931920"/>
            <a:ext cx="71323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2" name="Rectangle 11"/>
          <p:cNvSpPr/>
          <p:nvPr/>
        </p:nvSpPr>
        <p:spPr>
          <a:xfrm>
            <a:off x="4297680" y="3931920"/>
            <a:ext cx="713232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3" name="TextBox 12"/>
          <p:cNvSpPr txBox="1"/>
          <p:nvPr/>
        </p:nvSpPr>
        <p:spPr>
          <a:xfrm>
            <a:off x="4480560" y="4069080"/>
            <a:ext cx="6766560" cy="1920240"/>
          </a:xfrm>
          <a:prstGeom prst="rect">
            <a:avLst/>
          </a:prstGeom>
          <a:noFill/>
        </p:spPr>
        <p:txBody>
          <a:bodyPr wrap="square" rtlCol="1">
            <a:spAutoFit/>
          </a:bodyPr>
          <a:lstStyle/>
          <a:p>
            <a:pPr algn="r" rtl="1"/>
            <a:r>
              <a:rPr sz="1450" b="1" lang="ar-SA" altLang="en-US">
                <a:solidFill>
                  <a:srgbClr val="1E3A8A"/>
                </a:solidFill>
                <a:latin typeface="Arial"/>
                <a:cs typeface="Arial"/>
              </a:rPr>
              <a:t>يتكون القسم من وحدتين رئيسيتين:</a:t>
            </a:r>
          </a:p>
          <a:p>
            <a:pPr algn="r" rtl="1">
              <a:spcBef>
                <a:spcPts val="400"/>
              </a:spcBef>
            </a:pPr>
            <a:r>
              <a:rPr sz="1200" b="1" lang="ar-SA" altLang="en-US">
                <a:solidFill>
                  <a:srgbClr val="D97706"/>
                </a:solidFill>
                <a:latin typeface="Arial"/>
                <a:cs typeface="Arial"/>
              </a:rPr>
              <a:t>1. وحدة قياس وتقدير الجرعات الشخصية — </a:t>
            </a:r>
            <a:r>
              <a:rPr sz="1200" b="1" lang="en-US" altLang="ar-SA">
                <a:solidFill>
                  <a:srgbClr val="D97706"/>
                </a:solidFill>
                <a:latin typeface="Arial"/>
              </a:rPr>
              <a:t>Personal Dosimetry Unit</a:t>
            </a:r>
          </a:p>
          <a:p>
            <a:pPr algn="r" rtl="1">
              <a:spcBef>
                <a:spcPts val="200"/>
              </a:spcBef>
            </a:pPr>
            <a:r>
              <a:rPr sz="1100" b="0" lang="ar-SA" altLang="en-US">
                <a:solidFill>
                  <a:srgbClr val="0F172A"/>
                </a:solidFill>
                <a:latin typeface="Arial"/>
                <a:cs typeface="Arial"/>
              </a:rPr>
              <a:t>   وتعتمد على تقنية التلألؤ الحراري: </a:t>
            </a:r>
            <a:r>
              <a:rPr sz="1100" b="0" lang="en-US" altLang="ar-SA">
                <a:solidFill>
                  <a:srgbClr val="0F172A"/>
                </a:solidFill>
                <a:latin typeface="Arial"/>
              </a:rPr>
              <a:t>TLD – Thermoluminescent Dosimetry</a:t>
            </a:r>
          </a:p>
          <a:p>
            <a:pPr algn="r" rtl="1">
              <a:spcBef>
                <a:spcPts val="400"/>
              </a:spcBef>
            </a:pPr>
            <a:r>
              <a:rPr sz="1200" b="1" lang="ar-SA" altLang="en-US">
                <a:solidFill>
                  <a:srgbClr val="0D9488"/>
                </a:solidFill>
                <a:latin typeface="Arial"/>
                <a:cs typeface="Arial"/>
              </a:rPr>
              <a:t>2. وحدة المعايرة — </a:t>
            </a:r>
            <a:r>
              <a:rPr sz="1200" b="1" lang="en-US" altLang="ar-SA">
                <a:solidFill>
                  <a:srgbClr val="0D9488"/>
                </a:solidFill>
                <a:latin typeface="Arial"/>
              </a:rPr>
              <a:t>Calibration Unit</a:t>
            </a:r>
          </a:p>
          <a:p>
            <a:pPr algn="r" rtl="1">
              <a:spcBef>
                <a:spcPts val="200"/>
              </a:spcBef>
            </a:pPr>
            <a:r>
              <a:rPr sz="1100" b="0" lang="ar-SA" altLang="en-US">
                <a:solidFill>
                  <a:srgbClr val="0F172A"/>
                </a:solidFill>
                <a:latin typeface="Arial"/>
                <a:cs typeface="Arial"/>
              </a:rPr>
              <a:t>   • وحدة معايرة الكواشف وأجهزة القياس الإشعاعي.</a:t>
            </a:r>
          </a:p>
          <a:p>
            <a:pPr algn="r" rtl="1">
              <a:spcBef>
                <a:spcPts val="200"/>
              </a:spcBef>
            </a:pPr>
            <a:r>
              <a:rPr sz="1100" b="0" lang="ar-SA" altLang="en-US">
                <a:solidFill>
                  <a:srgbClr val="0F172A"/>
                </a:solidFill>
                <a:latin typeface="Arial"/>
                <a:cs typeface="Arial"/>
              </a:rPr>
              <a:t>   • وحدة معايرة العلاج الإشعاعي.</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rtlCol="1">
            <a:spAutoFit/>
          </a:bodyPr>
          <a:lstStyle/>
          <a:p>
            <a:pPr algn="r" rtl="1"/>
            <a:r>
              <a:rPr sz="1050" b="1" lang="ar-SA" altLang="en-US">
                <a:solidFill>
                  <a:srgbClr val="D97706"/>
                </a:solidFill>
                <a:latin typeface="Arial"/>
                <a:cs typeface="Arial"/>
              </a:rPr>
              <a:t>الشريحة 3 — مختبر </a:t>
            </a:r>
            <a:r>
              <a:rPr sz="1050" b="1" lang="en-US" altLang="ar-SA">
                <a:solidFill>
                  <a:srgbClr val="D97706"/>
                </a:solidFill>
                <a:latin typeface="Arial"/>
              </a:rPr>
              <a:t>SSDL</a:t>
            </a:r>
            <a:r>
              <a:rPr sz="1050" b="1" lang="ar-SA" altLang="en-US">
                <a:solidFill>
                  <a:srgbClr val="D97706"/>
                </a:solidFill>
                <a:latin typeface="Arial"/>
                <a:cs typeface="Arial"/>
              </a:rPr>
              <a:t> المرجعي</a:t>
            </a:r>
          </a:p>
          <a:p>
            <a:pPr algn="r" rtl="1">
              <a:spcBef>
                <a:spcPts val="200"/>
              </a:spcBef>
            </a:pPr>
            <a:r>
              <a:rPr sz="2100" b="1" lang="ar-SA" altLang="en-US">
                <a:solidFill>
                  <a:srgbClr val="1E3A8A"/>
                </a:solidFill>
                <a:latin typeface="Arial"/>
                <a:cs typeface="Arial"/>
              </a:rPr>
              <a:t>مختبر المعايير الثانوية للجرعات — </a:t>
            </a:r>
            <a:r>
              <a:rPr sz="2100" b="1" lang="en-US" altLang="ar-SA">
                <a:solidFill>
                  <a:srgbClr val="1E3A8A"/>
                </a:solidFill>
                <a:latin typeface="Arial"/>
              </a:rPr>
              <a:t>SSDL</a:t>
            </a:r>
          </a:p>
        </p:txBody>
      </p:sp>
      <p:sp>
        <p:nvSpPr>
          <p:cNvPr id="3" name="Rectangle 2"/>
          <p:cNvSpPr/>
          <p:nvPr/>
        </p:nvSpPr>
        <p:spPr>
          <a:xfrm>
            <a:off x="731520" y="1207008"/>
            <a:ext cx="10728655" cy="18288"/>
          </a:xfrm>
          <a:prstGeom prst="rect">
            <a:avLst/>
          </a:prstGeom>
          <a:solidFill>
            <a:srgbClr val="DBE5F0"/>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82512"/>
            <a:ext cx="10728655" cy="292608"/>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3 من 14</a:t>
            </a:r>
          </a:p>
        </p:txBody>
      </p:sp>
      <p:sp>
        <p:nvSpPr>
          <p:cNvPr id="5" name="Rounded Rectangle 4"/>
          <p:cNvSpPr/>
          <p:nvPr/>
        </p:nvSpPr>
        <p:spPr>
          <a:xfrm>
            <a:off x="731520" y="1417320"/>
            <a:ext cx="32918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pic>
        <p:nvPicPr>
          <p:cNvPr id="6" name="Picture 5" descr="16.jfif"/>
          <p:cNvPicPr>
            <a:picLocks noChangeAspect="1"/>
          </p:cNvPicPr>
          <p:nvPr/>
        </p:nvPicPr>
        <p:blipFill>
          <a:blip r:embed="rId2"/>
          <a:stretch>
            <a:fillRect/>
          </a:stretch>
        </p:blipFill>
        <p:spPr>
          <a:xfrm>
            <a:off x="804672" y="1490472"/>
            <a:ext cx="3145536" cy="4224528"/>
          </a:xfrm>
          <a:prstGeom prst="rect">
            <a:avLst/>
          </a:prstGeom>
        </p:spPr>
      </p:pic>
      <p:sp>
        <p:nvSpPr>
          <p:cNvPr id="7" name="TextBox 6"/>
          <p:cNvSpPr txBox="1"/>
          <p:nvPr/>
        </p:nvSpPr>
        <p:spPr>
          <a:xfrm>
            <a:off x="804672" y="5715000"/>
            <a:ext cx="3145536" cy="292608"/>
          </a:xfrm>
          <a:prstGeom prst="rect">
            <a:avLst/>
          </a:prstGeom>
          <a:noFill/>
        </p:spPr>
        <p:txBody>
          <a:bodyPr wrap="none" lIns="0" rIns="0" tIns="0" bIns="0" rtlCol="1">
            <a:spAutoFit/>
          </a:bodyPr>
          <a:lstStyle/>
          <a:p>
            <a:pPr algn="ctr" rtl="1"/>
            <a:r>
              <a:rPr sz="900" b="1" lang="ar-SA" altLang="en-US">
                <a:solidFill>
                  <a:srgbClr val="475569"/>
                </a:solidFill>
                <a:latin typeface="Arial"/>
                <a:cs typeface="Arial"/>
              </a:rPr>
              <a:t>مختبر </a:t>
            </a:r>
            <a:r>
              <a:rPr sz="900" b="1" lang="en-US" altLang="ar-SA">
                <a:solidFill>
                  <a:srgbClr val="475569"/>
                </a:solidFill>
                <a:latin typeface="Arial"/>
              </a:rPr>
              <a:t>SSDL</a:t>
            </a:r>
            <a:r>
              <a:rPr sz="900" b="1" lang="ar-SA" altLang="en-US">
                <a:solidFill>
                  <a:srgbClr val="475569"/>
                </a:solidFill>
                <a:latin typeface="Arial"/>
                <a:cs typeface="Arial"/>
              </a:rPr>
              <a:t> بتاجوراء – مسار المعايرة المرجعي</a:t>
            </a:r>
          </a:p>
        </p:txBody>
      </p:sp>
      <p:sp>
        <p:nvSpPr>
          <p:cNvPr id="8" name="Rounded Rectangle 7"/>
          <p:cNvSpPr/>
          <p:nvPr/>
        </p:nvSpPr>
        <p:spPr>
          <a:xfrm>
            <a:off x="4297680" y="1417320"/>
            <a:ext cx="7132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9" name="Rectangle 8"/>
          <p:cNvSpPr/>
          <p:nvPr/>
        </p:nvSpPr>
        <p:spPr>
          <a:xfrm>
            <a:off x="4297680" y="1417320"/>
            <a:ext cx="71323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0" name="TextBox 9"/>
          <p:cNvSpPr txBox="1"/>
          <p:nvPr/>
        </p:nvSpPr>
        <p:spPr>
          <a:xfrm>
            <a:off x="4480560" y="1600200"/>
            <a:ext cx="6766560" cy="4297680"/>
          </a:xfrm>
          <a:prstGeom prst="rect">
            <a:avLst/>
          </a:prstGeom>
          <a:noFill/>
        </p:spPr>
        <p:txBody>
          <a:bodyPr wrap="square" rtlCol="1">
            <a:spAutoFit/>
          </a:bodyPr>
          <a:lstStyle/>
          <a:p>
            <a:pPr algn="r" rtl="1"/>
            <a:r>
              <a:rPr sz="1250" b="1" lang="ar-SA" altLang="en-US">
                <a:solidFill>
                  <a:srgbClr val="D97706"/>
                </a:solidFill>
                <a:latin typeface="Arial"/>
                <a:cs typeface="Arial"/>
              </a:rPr>
              <a:t>مختبر المعايير الثانوية للجرعات — </a:t>
            </a:r>
            <a:r>
              <a:rPr sz="1250" b="1" lang="en-US" altLang="ar-SA">
                <a:solidFill>
                  <a:srgbClr val="D97706"/>
                </a:solidFill>
                <a:latin typeface="Arial"/>
              </a:rPr>
              <a:t>Secondary Standard Dosimetry Laboratory – SSDL</a:t>
            </a:r>
          </a:p>
          <a:p>
            <a:pPr algn="r" rtl="1">
              <a:spcBef>
                <a:spcPts val="400"/>
              </a:spcBef>
            </a:pPr>
            <a:r>
              <a:rPr sz="1300" b="1" lang="ar-SA" altLang="en-US">
                <a:solidFill>
                  <a:srgbClr val="1E3A8A"/>
                </a:solidFill>
                <a:latin typeface="Arial"/>
                <a:cs typeface="Arial"/>
              </a:rPr>
              <a:t>يمثل المختبر أحد المكونات الفنية الأساسية في مجال المعايرة والقياسات الإشعاعية.</a:t>
            </a:r>
          </a:p>
          <a:p>
            <a:pPr algn="r" rtl="1">
              <a:spcBef>
                <a:spcPts val="400"/>
              </a:spcBef>
            </a:pPr>
            <a:r>
              <a:rPr sz="1200" b="1" lang="ar-SA" altLang="en-US">
                <a:solidFill>
                  <a:srgbClr val="059669"/>
                </a:solidFill>
                <a:latin typeface="Arial"/>
                <a:cs typeface="Arial"/>
              </a:rPr>
              <a:t>أول مختبر من نوعه في ليبيا وشمال قارة أفريقيا، متخصص في معايرة أجهزة القياس والجرعات الإشعاعية.</a:t>
            </a:r>
          </a:p>
          <a:p>
            <a:pPr algn="r" rtl="1">
              <a:spcBef>
                <a:spcPts val="800"/>
              </a:spcBef>
            </a:pPr>
            <a:r>
              <a:rPr sz="1400" b="1" lang="ar-SA" altLang="en-US">
                <a:solidFill>
                  <a:srgbClr val="1E3A8A"/>
                </a:solidFill>
                <a:latin typeface="Arial"/>
                <a:cs typeface="Arial"/>
              </a:rPr>
              <a:t>أهم مجالات العمل بالمختبر:</a:t>
            </a:r>
          </a:p>
          <a:p>
            <a:pPr algn="r" rtl="1">
              <a:spcBef>
                <a:spcPts val="300"/>
              </a:spcBef>
            </a:pPr>
            <a:r>
              <a:rPr sz="1150" b="0" lang="ar-SA" altLang="en-US">
                <a:solidFill>
                  <a:srgbClr val="0F172A"/>
                </a:solidFill>
                <a:latin typeface="Arial"/>
                <a:cs typeface="Arial"/>
              </a:rPr>
              <a:t>• معايرة أجهزة وكواشف القياس الإشعاعي.</a:t>
            </a:r>
          </a:p>
          <a:p>
            <a:pPr algn="r" rtl="1">
              <a:spcBef>
                <a:spcPts val="300"/>
              </a:spcBef>
            </a:pPr>
            <a:r>
              <a:rPr sz="1150" b="0" lang="ar-SA" altLang="en-US">
                <a:solidFill>
                  <a:srgbClr val="0F172A"/>
                </a:solidFill>
                <a:latin typeface="Arial"/>
                <a:cs typeface="Arial"/>
              </a:rPr>
              <a:t>• إجراء القياسات المرجعية للجرعات.</a:t>
            </a:r>
          </a:p>
          <a:p>
            <a:pPr algn="r" rtl="1">
              <a:spcBef>
                <a:spcPts val="300"/>
              </a:spcBef>
            </a:pPr>
            <a:r>
              <a:rPr sz="1150" b="0" lang="ar-SA" altLang="en-US">
                <a:solidFill>
                  <a:srgbClr val="0F172A"/>
                </a:solidFill>
                <a:latin typeface="Arial"/>
                <a:cs typeface="Arial"/>
              </a:rPr>
              <a:t>• قياس وتقدير الجرعات الشخصية.</a:t>
            </a:r>
          </a:p>
          <a:p>
            <a:pPr algn="r" rtl="1">
              <a:spcBef>
                <a:spcPts val="300"/>
              </a:spcBef>
            </a:pPr>
            <a:r>
              <a:rPr sz="1150" b="0" lang="ar-SA" altLang="en-US">
                <a:solidFill>
                  <a:srgbClr val="0F172A"/>
                </a:solidFill>
                <a:latin typeface="Arial"/>
                <a:cs typeface="Arial"/>
              </a:rPr>
              <a:t>• دعم أعمال الحماية من الإشعاع.</a:t>
            </a:r>
          </a:p>
          <a:p>
            <a:pPr algn="r" rtl="1">
              <a:spcBef>
                <a:spcPts val="300"/>
              </a:spcBef>
            </a:pPr>
            <a:r>
              <a:rPr sz="1150" b="0" lang="ar-SA" altLang="en-US">
                <a:solidFill>
                  <a:srgbClr val="0F172A"/>
                </a:solidFill>
                <a:latin typeface="Arial"/>
                <a:cs typeface="Arial"/>
              </a:rPr>
              <a:t>• إصدار وتوثيق شهادات المعايرة.</a:t>
            </a:r>
          </a:p>
          <a:p>
            <a:pPr algn="r" rtl="1">
              <a:spcBef>
                <a:spcPts val="300"/>
              </a:spcBef>
            </a:pPr>
            <a:r>
              <a:rPr sz="1150" b="0" lang="ar-SA" altLang="en-US">
                <a:solidFill>
                  <a:srgbClr val="0F172A"/>
                </a:solidFill>
                <a:latin typeface="Arial"/>
                <a:cs typeface="Arial"/>
              </a:rPr>
              <a:t>• حفظ السجلات والبيانات الفنية.</a:t>
            </a:r>
          </a:p>
          <a:p>
            <a:pPr algn="r" rtl="1">
              <a:spcBef>
                <a:spcPts val="300"/>
              </a:spcBef>
            </a:pPr>
            <a:r>
              <a:rPr sz="1150" b="0" lang="ar-SA" altLang="en-US">
                <a:solidFill>
                  <a:srgbClr val="0F172A"/>
                </a:solidFill>
                <a:latin typeface="Arial"/>
                <a:cs typeface="Arial"/>
              </a:rPr>
              <a:t>• التعاون الفني مع الوكالة الدولية للطاقة الذرية </a:t>
            </a:r>
            <a:r>
              <a:rPr sz="1150" b="0" lang="en-US" altLang="ar-SA">
                <a:solidFill>
                  <a:srgbClr val="0F172A"/>
                </a:solidFill>
                <a:latin typeface="Arial"/>
              </a:rPr>
              <a:t>IAEA.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rtlCol="1">
            <a:spAutoFit/>
          </a:bodyPr>
          <a:lstStyle/>
          <a:p>
            <a:pPr algn="r" rtl="1"/>
            <a:r>
              <a:rPr sz="1050" b="1" lang="ar-SA" altLang="en-US">
                <a:solidFill>
                  <a:srgbClr val="D97706"/>
                </a:solidFill>
                <a:latin typeface="Arial"/>
                <a:cs typeface="Arial"/>
              </a:rPr>
              <a:t>الشريحة 4 — الوحدات الفنية</a:t>
            </a:r>
          </a:p>
          <a:p>
            <a:pPr algn="r" rtl="1">
              <a:spcBef>
                <a:spcPts val="200"/>
              </a:spcBef>
            </a:pPr>
            <a:r>
              <a:rPr sz="2100" b="1" lang="ar-SA" altLang="en-US">
                <a:solidFill>
                  <a:srgbClr val="1E3A8A"/>
                </a:solidFill>
                <a:latin typeface="Arial"/>
                <a:cs typeface="Arial"/>
              </a:rPr>
              <a:t>الوحدات الفنية والتجهيزات الحالية بالقسم</a:t>
            </a:r>
          </a:p>
        </p:txBody>
      </p:sp>
      <p:sp>
        <p:nvSpPr>
          <p:cNvPr id="3" name="Rectangle 2"/>
          <p:cNvSpPr/>
          <p:nvPr/>
        </p:nvSpPr>
        <p:spPr>
          <a:xfrm>
            <a:off x="731520" y="1207008"/>
            <a:ext cx="10728655" cy="18288"/>
          </a:xfrm>
          <a:prstGeom prst="rect">
            <a:avLst/>
          </a:prstGeom>
          <a:solidFill>
            <a:srgbClr val="DBE5F0"/>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82512"/>
            <a:ext cx="10728655" cy="292608"/>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4 من 14</a:t>
            </a:r>
          </a:p>
        </p:txBody>
      </p:sp>
      <p:sp>
        <p:nvSpPr>
          <p:cNvPr id="5" name="Rounded Rectangle 4"/>
          <p:cNvSpPr/>
          <p:nvPr/>
        </p:nvSpPr>
        <p:spPr>
          <a:xfrm>
            <a:off x="6217920" y="14173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6" name="Rectangle 5"/>
          <p:cNvSpPr/>
          <p:nvPr/>
        </p:nvSpPr>
        <p:spPr>
          <a:xfrm>
            <a:off x="6217920" y="1417320"/>
            <a:ext cx="521208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6400800" y="1554480"/>
            <a:ext cx="4846320" cy="2011680"/>
          </a:xfrm>
          <a:prstGeom prst="rect">
            <a:avLst/>
          </a:prstGeom>
          <a:noFill/>
        </p:spPr>
        <p:txBody>
          <a:bodyPr wrap="square" rtlCol="1">
            <a:spAutoFit/>
          </a:bodyPr>
          <a:lstStyle/>
          <a:p>
            <a:pPr algn="r" rtl="1"/>
            <a:r>
              <a:rPr sz="1450" b="1" lang="ar-SA" altLang="en-US">
                <a:solidFill>
                  <a:srgbClr val="1E3A8A"/>
                </a:solidFill>
                <a:latin typeface="Arial"/>
                <a:cs typeface="Arial"/>
              </a:rPr>
              <a:t>وحدة معايرة الكواشف وأجهزة القياس</a:t>
            </a:r>
          </a:p>
          <a:p>
            <a:pPr algn="r" rtl="1">
              <a:spcBef>
                <a:spcPts val="100"/>
              </a:spcBef>
            </a:pPr>
            <a:r>
              <a:rPr sz="1050" b="1" lang="en-US" altLang="ar-SA">
                <a:solidFill>
                  <a:srgbClr val="0284C7"/>
                </a:solidFill>
                <a:latin typeface="Arial"/>
              </a:rPr>
              <a:t>Radiation Detector Calibration Unit</a:t>
            </a:r>
          </a:p>
          <a:p>
            <a:pPr algn="r" rtl="1">
              <a:spcBef>
                <a:spcPts val="200"/>
              </a:spcBef>
            </a:pPr>
            <a:r>
              <a:rPr sz="1050" b="0" lang="ar-SA" altLang="en-US">
                <a:solidFill>
                  <a:srgbClr val="0F172A"/>
                </a:solidFill>
                <a:latin typeface="Arial"/>
                <a:cs typeface="Arial"/>
              </a:rPr>
              <a:t>• معايرة الكواشف وأجهزة القياس.</a:t>
            </a:r>
          </a:p>
          <a:p>
            <a:pPr algn="r" rtl="1">
              <a:spcBef>
                <a:spcPts val="200"/>
              </a:spcBef>
            </a:pPr>
            <a:r>
              <a:rPr sz="1050" b="0" lang="ar-SA" altLang="en-US">
                <a:solidFill>
                  <a:srgbClr val="0F172A"/>
                </a:solidFill>
                <a:latin typeface="Arial"/>
                <a:cs typeface="Arial"/>
              </a:rPr>
              <a:t>• إجراء الاختبارات والقياسات.</a:t>
            </a:r>
          </a:p>
          <a:p>
            <a:pPr algn="r" rtl="1">
              <a:spcBef>
                <a:spcPts val="200"/>
              </a:spcBef>
            </a:pPr>
            <a:r>
              <a:rPr sz="1050" b="0" lang="ar-SA" altLang="en-US">
                <a:solidFill>
                  <a:srgbClr val="0F172A"/>
                </a:solidFill>
                <a:latin typeface="Arial"/>
                <a:cs typeface="Arial"/>
              </a:rPr>
              <a:t>• تحليل النتائج وتوثيقها.</a:t>
            </a:r>
          </a:p>
          <a:p>
            <a:pPr algn="r" rtl="1">
              <a:spcBef>
                <a:spcPts val="200"/>
              </a:spcBef>
            </a:pPr>
            <a:r>
              <a:rPr sz="1050" b="0" lang="ar-SA" altLang="en-US">
                <a:solidFill>
                  <a:srgbClr val="0F172A"/>
                </a:solidFill>
                <a:latin typeface="Arial"/>
                <a:cs typeface="Arial"/>
              </a:rPr>
              <a:t>• إصدار شهادات المعايرة.</a:t>
            </a:r>
          </a:p>
          <a:p>
            <a:pPr algn="r" rtl="1">
              <a:spcBef>
                <a:spcPts val="200"/>
              </a:spcBef>
            </a:pPr>
            <a:r>
              <a:rPr sz="1050" b="0" lang="ar-SA" altLang="en-US">
                <a:solidFill>
                  <a:srgbClr val="0F172A"/>
                </a:solidFill>
                <a:latin typeface="Arial"/>
                <a:cs typeface="Arial"/>
              </a:rPr>
              <a:t>• حفظ بيانات الأجهزة ونتائج المعايرة.</a:t>
            </a:r>
          </a:p>
        </p:txBody>
      </p:sp>
      <p:sp>
        <p:nvSpPr>
          <p:cNvPr id="8" name="Rounded Rectangle 7"/>
          <p:cNvSpPr/>
          <p:nvPr/>
        </p:nvSpPr>
        <p:spPr>
          <a:xfrm>
            <a:off x="6400800" y="3703320"/>
            <a:ext cx="484632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pic>
        <p:nvPicPr>
          <p:cNvPr id="9" name="Picture 8" descr="17.jfif"/>
          <p:cNvPicPr>
            <a:picLocks noChangeAspect="1"/>
          </p:cNvPicPr>
          <p:nvPr/>
        </p:nvPicPr>
        <p:blipFill>
          <a:blip r:embed="rId2"/>
          <a:stretch>
            <a:fillRect/>
          </a:stretch>
        </p:blipFill>
        <p:spPr>
          <a:xfrm>
            <a:off x="6473952" y="3776472"/>
            <a:ext cx="4700016" cy="1801368"/>
          </a:xfrm>
          <a:prstGeom prst="rect">
            <a:avLst/>
          </a:prstGeom>
        </p:spPr>
      </p:pic>
      <p:sp>
        <p:nvSpPr>
          <p:cNvPr id="10" name="TextBox 9"/>
          <p:cNvSpPr txBox="1"/>
          <p:nvPr/>
        </p:nvSpPr>
        <p:spPr>
          <a:xfrm>
            <a:off x="6473952" y="5577840"/>
            <a:ext cx="4700016" cy="292608"/>
          </a:xfrm>
          <a:prstGeom prst="rect">
            <a:avLst/>
          </a:prstGeom>
          <a:noFill/>
        </p:spPr>
        <p:txBody>
          <a:bodyPr wrap="none" lIns="0" rIns="0" tIns="0" bIns="0" rtlCol="1">
            <a:spAutoFit/>
          </a:bodyPr>
          <a:lstStyle/>
          <a:p>
            <a:pPr algn="ctr" rtl="1"/>
            <a:r>
              <a:rPr sz="900" b="1" lang="ar-SA" altLang="en-US">
                <a:solidFill>
                  <a:srgbClr val="475569"/>
                </a:solidFill>
                <a:latin typeface="Arial"/>
                <a:cs typeface="Arial"/>
              </a:rPr>
              <a:t>كواشف المسح الإشعاعي (</a:t>
            </a:r>
            <a:r>
              <a:rPr sz="900" b="1" lang="en-US" altLang="ar-SA">
                <a:solidFill>
                  <a:srgbClr val="475569"/>
                </a:solidFill>
                <a:latin typeface="Arial"/>
              </a:rPr>
              <a:t>Ludlum</a:t>
            </a:r>
            <a:r>
              <a:rPr sz="900" b="1" lang="ar-SA" altLang="en-US">
                <a:solidFill>
                  <a:srgbClr val="475569"/>
                </a:solidFill>
                <a:latin typeface="Arial"/>
                <a:cs typeface="Arial"/>
              </a:rPr>
              <a:t>) قيد المعايرة بالمعمل</a:t>
            </a:r>
          </a:p>
        </p:txBody>
      </p:sp>
      <p:sp>
        <p:nvSpPr>
          <p:cNvPr id="11" name="Rounded Rectangle 10"/>
          <p:cNvSpPr/>
          <p:nvPr/>
        </p:nvSpPr>
        <p:spPr>
          <a:xfrm>
            <a:off x="731520" y="14173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2" name="Rectangle 11"/>
          <p:cNvSpPr/>
          <p:nvPr/>
        </p:nvSpPr>
        <p:spPr>
          <a:xfrm>
            <a:off x="731520" y="1417320"/>
            <a:ext cx="521208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3" name="TextBox 12"/>
          <p:cNvSpPr txBox="1"/>
          <p:nvPr/>
        </p:nvSpPr>
        <p:spPr>
          <a:xfrm>
            <a:off x="914400" y="1554480"/>
            <a:ext cx="4846320" cy="2011680"/>
          </a:xfrm>
          <a:prstGeom prst="rect">
            <a:avLst/>
          </a:prstGeom>
          <a:noFill/>
        </p:spPr>
        <p:txBody>
          <a:bodyPr wrap="square" rtlCol="1">
            <a:spAutoFit/>
          </a:bodyPr>
          <a:lstStyle/>
          <a:p>
            <a:pPr algn="r" rtl="1"/>
            <a:r>
              <a:rPr sz="1450" b="1" lang="ar-SA" altLang="en-US">
                <a:solidFill>
                  <a:srgbClr val="1E3A8A"/>
                </a:solidFill>
                <a:latin typeface="Arial"/>
                <a:cs typeface="Arial"/>
              </a:rPr>
              <a:t>وحدة معايرة العلاج الإشعاعي</a:t>
            </a:r>
          </a:p>
          <a:p>
            <a:pPr algn="r" rtl="1">
              <a:spcBef>
                <a:spcPts val="100"/>
              </a:spcBef>
            </a:pPr>
            <a:r>
              <a:rPr sz="1050" b="1" lang="en-US" altLang="ar-SA">
                <a:solidFill>
                  <a:srgbClr val="0284C7"/>
                </a:solidFill>
                <a:latin typeface="Arial"/>
              </a:rPr>
              <a:t>Radiotherapy Calibration Unit</a:t>
            </a:r>
          </a:p>
          <a:p>
            <a:pPr algn="r" rtl="1">
              <a:spcBef>
                <a:spcPts val="200"/>
              </a:spcBef>
            </a:pPr>
            <a:r>
              <a:rPr sz="1050" b="0" lang="ar-SA" altLang="en-US">
                <a:solidFill>
                  <a:srgbClr val="0F172A"/>
                </a:solidFill>
                <a:latin typeface="Arial"/>
                <a:cs typeface="Arial"/>
              </a:rPr>
              <a:t>• القياسات المرجعية للجرعات.</a:t>
            </a:r>
          </a:p>
          <a:p>
            <a:pPr algn="r" rtl="1">
              <a:spcBef>
                <a:spcPts val="200"/>
              </a:spcBef>
            </a:pPr>
            <a:r>
              <a:rPr sz="1050" b="0" lang="ar-SA" altLang="en-US">
                <a:solidFill>
                  <a:srgbClr val="0F172A"/>
                </a:solidFill>
                <a:latin typeface="Arial"/>
                <a:cs typeface="Arial"/>
              </a:rPr>
              <a:t>• معايرة أجهزة قياس الجرعات.</a:t>
            </a:r>
          </a:p>
          <a:p>
            <a:pPr algn="r" rtl="1">
              <a:spcBef>
                <a:spcPts val="200"/>
              </a:spcBef>
            </a:pPr>
            <a:r>
              <a:rPr sz="1050" b="0" lang="ar-SA" altLang="en-US">
                <a:solidFill>
                  <a:srgbClr val="0F172A"/>
                </a:solidFill>
                <a:latin typeface="Arial"/>
                <a:cs typeface="Arial"/>
              </a:rPr>
              <a:t>• التحقق من أداء أجهزة القياس.</a:t>
            </a:r>
          </a:p>
          <a:p>
            <a:pPr algn="r" rtl="1">
              <a:spcBef>
                <a:spcPts val="200"/>
              </a:spcBef>
            </a:pPr>
            <a:r>
              <a:rPr sz="1050" b="0" lang="ar-SA" altLang="en-US">
                <a:solidFill>
                  <a:srgbClr val="0F172A"/>
                </a:solidFill>
                <a:latin typeface="Arial"/>
                <a:cs typeface="Arial"/>
              </a:rPr>
              <a:t>• دعم أعمال العلاج الإشعاعي.</a:t>
            </a:r>
          </a:p>
          <a:p>
            <a:pPr algn="r" rtl="1">
              <a:spcBef>
                <a:spcPts val="200"/>
              </a:spcBef>
            </a:pPr>
            <a:r>
              <a:rPr sz="1050" b="0" lang="ar-SA" altLang="en-US">
                <a:solidFill>
                  <a:srgbClr val="0F172A"/>
                </a:solidFill>
                <a:latin typeface="Arial"/>
                <a:cs typeface="Arial"/>
              </a:rPr>
              <a:t>• إعداد التقارير والوثائق الفنية.</a:t>
            </a:r>
          </a:p>
        </p:txBody>
      </p:sp>
      <p:sp>
        <p:nvSpPr>
          <p:cNvPr id="14" name="Rounded Rectangle 13"/>
          <p:cNvSpPr/>
          <p:nvPr/>
        </p:nvSpPr>
        <p:spPr>
          <a:xfrm>
            <a:off x="914400" y="3703320"/>
            <a:ext cx="2926080" cy="2240280"/>
          </a:xfrm>
          <a:prstGeom prst="roundRect">
            <a:avLst/>
          </a:prstGeom>
          <a:solidFill>
            <a:srgbClr val="F1F5F9"/>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5" name="TextBox 14"/>
          <p:cNvSpPr txBox="1"/>
          <p:nvPr/>
        </p:nvSpPr>
        <p:spPr>
          <a:xfrm>
            <a:off x="1005840" y="3767328"/>
            <a:ext cx="2743200" cy="2103120"/>
          </a:xfrm>
          <a:prstGeom prst="rect">
            <a:avLst/>
          </a:prstGeom>
          <a:noFill/>
        </p:spPr>
        <p:txBody>
          <a:bodyPr wrap="square" rtlCol="1">
            <a:spAutoFit/>
          </a:bodyPr>
          <a:lstStyle/>
          <a:p>
            <a:pPr algn="r" rtl="1"/>
            <a:r>
              <a:rPr sz="1150" b="1" lang="ar-SA" altLang="en-US">
                <a:solidFill>
                  <a:srgbClr val="D97706"/>
                </a:solidFill>
                <a:latin typeface="Arial"/>
                <a:cs typeface="Arial"/>
              </a:rPr>
              <a:t>التطوير الحالي للوحدة:</a:t>
            </a:r>
          </a:p>
          <a:p>
            <a:pPr algn="r" rtl="1">
              <a:spcBef>
                <a:spcPts val="200"/>
              </a:spcBef>
            </a:pPr>
            <a:r>
              <a:rPr sz="1000" b="0" lang="ar-SA" altLang="en-US">
                <a:solidFill>
                  <a:srgbClr val="0F172A"/>
                </a:solidFill>
                <a:latin typeface="Arial"/>
                <a:cs typeface="Arial"/>
              </a:rPr>
              <a:t>كانت أعمال الوحدة متوقفة بسبب عدم توفر:</a:t>
            </a:r>
          </a:p>
          <a:p>
            <a:pPr algn="r" rtl="1">
              <a:spcBef>
                <a:spcPts val="100"/>
              </a:spcBef>
            </a:pPr>
            <a:r>
              <a:rPr sz="1050" b="1" lang="ar-SA" altLang="en-US">
                <a:solidFill>
                  <a:srgbClr val="E11D48"/>
                </a:solidFill>
                <a:latin typeface="Arial"/>
                <a:cs typeface="Arial"/>
              </a:rPr>
              <a:t>غرفة التأين المرجعية </a:t>
            </a:r>
            <a:r>
              <a:rPr sz="1050" b="1" lang="en-US" altLang="ar-SA">
                <a:solidFill>
                  <a:srgbClr val="E11D48"/>
                </a:solidFill>
                <a:latin typeface="Arial"/>
              </a:rPr>
              <a:t>Farmer Ionization Chamber</a:t>
            </a:r>
          </a:p>
          <a:p>
            <a:pPr algn="r" rtl="1">
              <a:spcBef>
                <a:spcPts val="300"/>
              </a:spcBef>
            </a:pPr>
            <a:r>
              <a:rPr sz="1000" b="1" lang="ar-SA" altLang="en-US">
                <a:solidFill>
                  <a:srgbClr val="1E3A8A"/>
                </a:solidFill>
                <a:latin typeface="Arial"/>
                <a:cs typeface="Arial"/>
              </a:rPr>
              <a:t>وبعد توفير غرفة التأين المرجعية، بدأت إجراءات إعادة تفعيل وتطوير الوحدة وتجهيزها لبدء العمل الفعلي.</a:t>
            </a:r>
          </a:p>
        </p:txBody>
      </p:sp>
      <p:sp>
        <p:nvSpPr>
          <p:cNvPr id="16" name="Rounded Rectangle 15"/>
          <p:cNvSpPr/>
          <p:nvPr/>
        </p:nvSpPr>
        <p:spPr>
          <a:xfrm>
            <a:off x="3931920" y="3703320"/>
            <a:ext cx="1828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pic>
        <p:nvPicPr>
          <p:cNvPr id="17" name="Picture 16" descr="1.jpeg"/>
          <p:cNvPicPr>
            <a:picLocks noChangeAspect="1"/>
          </p:cNvPicPr>
          <p:nvPr/>
        </p:nvPicPr>
        <p:blipFill>
          <a:blip r:embed="rId3"/>
          <a:stretch>
            <a:fillRect/>
          </a:stretch>
        </p:blipFill>
        <p:spPr>
          <a:xfrm>
            <a:off x="4005072" y="3776472"/>
            <a:ext cx="1682496" cy="1801368"/>
          </a:xfrm>
          <a:prstGeom prst="rect">
            <a:avLst/>
          </a:prstGeom>
        </p:spPr>
      </p:pic>
      <p:sp>
        <p:nvSpPr>
          <p:cNvPr id="18" name="TextBox 17"/>
          <p:cNvSpPr txBox="1"/>
          <p:nvPr/>
        </p:nvSpPr>
        <p:spPr>
          <a:xfrm>
            <a:off x="4005072" y="5577840"/>
            <a:ext cx="1682496" cy="292608"/>
          </a:xfrm>
          <a:prstGeom prst="rect">
            <a:avLst/>
          </a:prstGeom>
          <a:noFill/>
        </p:spPr>
        <p:txBody>
          <a:bodyPr wrap="none" lIns="0" rIns="0" tIns="0" bIns="0" rtlCol="1">
            <a:spAutoFit/>
          </a:bodyPr>
          <a:lstStyle/>
          <a:p>
            <a:pPr algn="ctr" rtl="1"/>
            <a:r>
              <a:rPr sz="900" b="1" lang="ar-SA" altLang="en-US">
                <a:solidFill>
                  <a:srgbClr val="475569"/>
                </a:solidFill>
                <a:latin typeface="Arial"/>
                <a:cs typeface="Arial"/>
              </a:rPr>
              <a:t>منظومة </a:t>
            </a:r>
            <a:r>
              <a:rPr sz="900" b="1" lang="en-US" altLang="ar-SA">
                <a:solidFill>
                  <a:srgbClr val="475569"/>
                </a:solidFill>
                <a:latin typeface="Arial"/>
              </a:rPr>
              <a:t>UNIDOS &amp; Farmer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rtlCol="1">
            <a:spAutoFit/>
          </a:bodyPr>
          <a:lstStyle/>
          <a:p>
            <a:pPr algn="r" rtl="1"/>
            <a:r>
              <a:rPr sz="1050" b="1" lang="ar-SA" altLang="en-US">
                <a:solidFill>
                  <a:srgbClr val="D97706"/>
                </a:solidFill>
                <a:latin typeface="Arial"/>
                <a:cs typeface="Arial"/>
              </a:rPr>
              <a:t>الشريحة 5 — التحديات السابقة</a:t>
            </a:r>
          </a:p>
          <a:p>
            <a:pPr algn="r" rtl="1">
              <a:spcBef>
                <a:spcPts val="200"/>
              </a:spcBef>
            </a:pPr>
            <a:r>
              <a:rPr sz="2100" b="1" lang="ar-SA" altLang="en-US">
                <a:solidFill>
                  <a:srgbClr val="1E3A8A"/>
                </a:solidFill>
                <a:latin typeface="Arial"/>
                <a:cs typeface="Arial"/>
              </a:rPr>
              <a:t>أهم الاحتياجات والتحديات السابقة بالقسم</a:t>
            </a:r>
          </a:p>
        </p:txBody>
      </p:sp>
      <p:sp>
        <p:nvSpPr>
          <p:cNvPr id="3" name="Rectangle 2"/>
          <p:cNvSpPr/>
          <p:nvPr/>
        </p:nvSpPr>
        <p:spPr>
          <a:xfrm>
            <a:off x="731520" y="1207008"/>
            <a:ext cx="10728655" cy="18288"/>
          </a:xfrm>
          <a:prstGeom prst="rect">
            <a:avLst/>
          </a:prstGeom>
          <a:solidFill>
            <a:srgbClr val="DBE5F0"/>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82512"/>
            <a:ext cx="10728655" cy="292608"/>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5 من 14</a:t>
            </a:r>
          </a:p>
        </p:txBody>
      </p:sp>
      <p:sp>
        <p:nvSpPr>
          <p:cNvPr id="5" name="Rounded Rectangle 4"/>
          <p:cNvSpPr/>
          <p:nvPr/>
        </p:nvSpPr>
        <p:spPr>
          <a:xfrm>
            <a:off x="6217920" y="1463040"/>
            <a:ext cx="52120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6" name="Rounded Rectangle 5"/>
          <p:cNvSpPr/>
          <p:nvPr/>
        </p:nvSpPr>
        <p:spPr>
          <a:xfrm>
            <a:off x="10698480" y="1645920"/>
            <a:ext cx="594360" cy="411480"/>
          </a:xfrm>
          <a:prstGeom prst="round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10698480" y="1645920"/>
            <a:ext cx="594360" cy="411480"/>
          </a:xfrm>
          <a:prstGeom prst="rect">
            <a:avLst/>
          </a:prstGeom>
          <a:noFill/>
        </p:spPr>
        <p:txBody>
          <a:bodyPr wrap="none" rtlCol="1">
            <a:spAutoFit/>
          </a:bodyPr>
          <a:lstStyle/>
          <a:p>
            <a:pPr algn="ctr" rtl="1"/>
            <a:r>
              <a:rPr sz="1200" b="1" lang="en-US" altLang="ar-SA">
                <a:solidFill>
                  <a:srgbClr val="1E3A8A"/>
                </a:solidFill>
                <a:latin typeface="Arial"/>
                <a:cs typeface="Arial"/>
              </a:rPr>
              <a:t>01</a:t>
            </a:r>
          </a:p>
        </p:txBody>
      </p:sp>
      <p:sp>
        <p:nvSpPr>
          <p:cNvPr id="8" name="TextBox 7"/>
          <p:cNvSpPr txBox="1"/>
          <p:nvPr/>
        </p:nvSpPr>
        <p:spPr>
          <a:xfrm>
            <a:off x="6400800" y="1627632"/>
            <a:ext cx="4206240" cy="777240"/>
          </a:xfrm>
          <a:prstGeom prst="rect">
            <a:avLst/>
          </a:prstGeom>
          <a:noFill/>
        </p:spPr>
        <p:txBody>
          <a:bodyPr wrap="square" rtlCol="1">
            <a:spAutoFit/>
          </a:bodyPr>
          <a:lstStyle/>
          <a:p>
            <a:pPr algn="r" rtl="1"/>
            <a:r>
              <a:rPr sz="1200" b="0" lang="ar-SA" altLang="en-US">
                <a:solidFill>
                  <a:srgbClr val="0F172A"/>
                </a:solidFill>
                <a:latin typeface="Arial"/>
                <a:cs typeface="Arial"/>
              </a:rPr>
              <a:t>الحاجة إلى تطوير شهادات المعايرة علميًا وفنيًا.</a:t>
            </a:r>
          </a:p>
        </p:txBody>
      </p:sp>
      <p:sp>
        <p:nvSpPr>
          <p:cNvPr id="9" name="Rounded Rectangle 8"/>
          <p:cNvSpPr/>
          <p:nvPr/>
        </p:nvSpPr>
        <p:spPr>
          <a:xfrm>
            <a:off x="6217920" y="2606040"/>
            <a:ext cx="52120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0" name="Rounded Rectangle 9"/>
          <p:cNvSpPr/>
          <p:nvPr/>
        </p:nvSpPr>
        <p:spPr>
          <a:xfrm>
            <a:off x="10698480" y="2788920"/>
            <a:ext cx="594360" cy="411480"/>
          </a:xfrm>
          <a:prstGeom prst="round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1" name="TextBox 10"/>
          <p:cNvSpPr txBox="1"/>
          <p:nvPr/>
        </p:nvSpPr>
        <p:spPr>
          <a:xfrm>
            <a:off x="10698480" y="2788920"/>
            <a:ext cx="594360" cy="411480"/>
          </a:xfrm>
          <a:prstGeom prst="rect">
            <a:avLst/>
          </a:prstGeom>
          <a:noFill/>
        </p:spPr>
        <p:txBody>
          <a:bodyPr wrap="none" rtlCol="1">
            <a:spAutoFit/>
          </a:bodyPr>
          <a:lstStyle/>
          <a:p>
            <a:pPr algn="ctr" rtl="1"/>
            <a:r>
              <a:rPr sz="1200" b="1" lang="en-US" altLang="ar-SA">
                <a:solidFill>
                  <a:srgbClr val="1E3A8A"/>
                </a:solidFill>
                <a:latin typeface="Arial"/>
                <a:cs typeface="Arial"/>
              </a:rPr>
              <a:t>02</a:t>
            </a:r>
          </a:p>
        </p:txBody>
      </p:sp>
      <p:sp>
        <p:nvSpPr>
          <p:cNvPr id="12" name="TextBox 11"/>
          <p:cNvSpPr txBox="1"/>
          <p:nvPr/>
        </p:nvSpPr>
        <p:spPr>
          <a:xfrm>
            <a:off x="6400800" y="2770632"/>
            <a:ext cx="4206240" cy="777240"/>
          </a:xfrm>
          <a:prstGeom prst="rect">
            <a:avLst/>
          </a:prstGeom>
          <a:noFill/>
        </p:spPr>
        <p:txBody>
          <a:bodyPr wrap="square" rtlCol="1">
            <a:spAutoFit/>
          </a:bodyPr>
          <a:lstStyle/>
          <a:p>
            <a:pPr algn="r" rtl="1"/>
            <a:r>
              <a:rPr sz="1200" b="0" lang="ar-SA" altLang="en-US">
                <a:solidFill>
                  <a:srgbClr val="0F172A"/>
                </a:solidFill>
                <a:latin typeface="Arial"/>
                <a:cs typeface="Arial"/>
              </a:rPr>
              <a:t>الحاجة إلى توحيد محتوى وبيانات الشهادة.</a:t>
            </a:r>
          </a:p>
        </p:txBody>
      </p:sp>
      <p:sp>
        <p:nvSpPr>
          <p:cNvPr id="13" name="Rounded Rectangle 12"/>
          <p:cNvSpPr/>
          <p:nvPr/>
        </p:nvSpPr>
        <p:spPr>
          <a:xfrm>
            <a:off x="6217920" y="3749040"/>
            <a:ext cx="52120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4" name="Rounded Rectangle 13"/>
          <p:cNvSpPr/>
          <p:nvPr/>
        </p:nvSpPr>
        <p:spPr>
          <a:xfrm>
            <a:off x="10698480" y="3931920"/>
            <a:ext cx="594360" cy="411480"/>
          </a:xfrm>
          <a:prstGeom prst="round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5" name="TextBox 14"/>
          <p:cNvSpPr txBox="1"/>
          <p:nvPr/>
        </p:nvSpPr>
        <p:spPr>
          <a:xfrm>
            <a:off x="10698480" y="3931920"/>
            <a:ext cx="594360" cy="411480"/>
          </a:xfrm>
          <a:prstGeom prst="rect">
            <a:avLst/>
          </a:prstGeom>
          <a:noFill/>
        </p:spPr>
        <p:txBody>
          <a:bodyPr wrap="none" rtlCol="1">
            <a:spAutoFit/>
          </a:bodyPr>
          <a:lstStyle/>
          <a:p>
            <a:pPr algn="ctr" rtl="1"/>
            <a:r>
              <a:rPr sz="1200" b="1" lang="en-US" altLang="ar-SA">
                <a:solidFill>
                  <a:srgbClr val="1E3A8A"/>
                </a:solidFill>
                <a:latin typeface="Arial"/>
                <a:cs typeface="Arial"/>
              </a:rPr>
              <a:t>03</a:t>
            </a:r>
          </a:p>
        </p:txBody>
      </p:sp>
      <p:sp>
        <p:nvSpPr>
          <p:cNvPr id="16" name="TextBox 15"/>
          <p:cNvSpPr txBox="1"/>
          <p:nvPr/>
        </p:nvSpPr>
        <p:spPr>
          <a:xfrm>
            <a:off x="6400800" y="3913632"/>
            <a:ext cx="4206240" cy="777240"/>
          </a:xfrm>
          <a:prstGeom prst="rect">
            <a:avLst/>
          </a:prstGeom>
          <a:noFill/>
        </p:spPr>
        <p:txBody>
          <a:bodyPr wrap="square" rtlCol="1">
            <a:spAutoFit/>
          </a:bodyPr>
          <a:lstStyle/>
          <a:p>
            <a:pPr algn="r" rtl="1"/>
            <a:r>
              <a:rPr sz="1200" b="0" lang="ar-SA" altLang="en-US">
                <a:solidFill>
                  <a:srgbClr val="0F172A"/>
                </a:solidFill>
                <a:latin typeface="Arial"/>
                <a:cs typeface="Arial"/>
              </a:rPr>
              <a:t>الحاجة إلى تحسين التوثيق والسجلات.</a:t>
            </a:r>
          </a:p>
        </p:txBody>
      </p:sp>
      <p:sp>
        <p:nvSpPr>
          <p:cNvPr id="17" name="Rounded Rectangle 16"/>
          <p:cNvSpPr/>
          <p:nvPr/>
        </p:nvSpPr>
        <p:spPr>
          <a:xfrm>
            <a:off x="6217920" y="4892040"/>
            <a:ext cx="52120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8" name="Rounded Rectangle 17"/>
          <p:cNvSpPr/>
          <p:nvPr/>
        </p:nvSpPr>
        <p:spPr>
          <a:xfrm>
            <a:off x="10698480" y="5074920"/>
            <a:ext cx="594360" cy="411480"/>
          </a:xfrm>
          <a:prstGeom prst="round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9" name="TextBox 18"/>
          <p:cNvSpPr txBox="1"/>
          <p:nvPr/>
        </p:nvSpPr>
        <p:spPr>
          <a:xfrm>
            <a:off x="10698480" y="5074920"/>
            <a:ext cx="594360" cy="411480"/>
          </a:xfrm>
          <a:prstGeom prst="rect">
            <a:avLst/>
          </a:prstGeom>
          <a:noFill/>
        </p:spPr>
        <p:txBody>
          <a:bodyPr wrap="none" rtlCol="1">
            <a:spAutoFit/>
          </a:bodyPr>
          <a:lstStyle/>
          <a:p>
            <a:pPr algn="ctr" rtl="1"/>
            <a:r>
              <a:rPr sz="1200" b="1" lang="en-US" altLang="ar-SA">
                <a:solidFill>
                  <a:srgbClr val="1E3A8A"/>
                </a:solidFill>
                <a:latin typeface="Arial"/>
                <a:cs typeface="Arial"/>
              </a:rPr>
              <a:t>04</a:t>
            </a:r>
          </a:p>
        </p:txBody>
      </p:sp>
      <p:sp>
        <p:nvSpPr>
          <p:cNvPr id="20" name="TextBox 19"/>
          <p:cNvSpPr txBox="1"/>
          <p:nvPr/>
        </p:nvSpPr>
        <p:spPr>
          <a:xfrm>
            <a:off x="6400800" y="5056632"/>
            <a:ext cx="4206240" cy="777240"/>
          </a:xfrm>
          <a:prstGeom prst="rect">
            <a:avLst/>
          </a:prstGeom>
          <a:noFill/>
        </p:spPr>
        <p:txBody>
          <a:bodyPr wrap="square" rtlCol="1">
            <a:spAutoFit/>
          </a:bodyPr>
          <a:lstStyle/>
          <a:p>
            <a:pPr algn="r" rtl="1"/>
            <a:r>
              <a:rPr sz="1200" b="0" lang="ar-SA" altLang="en-US">
                <a:solidFill>
                  <a:srgbClr val="0F172A"/>
                </a:solidFill>
                <a:latin typeface="Arial"/>
                <a:cs typeface="Arial"/>
              </a:rPr>
              <a:t>الاعتماد على الأرشفة التقليدية.</a:t>
            </a:r>
          </a:p>
        </p:txBody>
      </p:sp>
      <p:sp>
        <p:nvSpPr>
          <p:cNvPr id="21" name="Rounded Rectangle 20"/>
          <p:cNvSpPr/>
          <p:nvPr/>
        </p:nvSpPr>
        <p:spPr>
          <a:xfrm>
            <a:off x="731520" y="1463040"/>
            <a:ext cx="52120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2" name="Rounded Rectangle 21"/>
          <p:cNvSpPr/>
          <p:nvPr/>
        </p:nvSpPr>
        <p:spPr>
          <a:xfrm>
            <a:off x="5212080" y="1645920"/>
            <a:ext cx="594360" cy="411480"/>
          </a:xfrm>
          <a:prstGeom prst="round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3" name="TextBox 22"/>
          <p:cNvSpPr txBox="1"/>
          <p:nvPr/>
        </p:nvSpPr>
        <p:spPr>
          <a:xfrm>
            <a:off x="5212080" y="1645920"/>
            <a:ext cx="594360" cy="411480"/>
          </a:xfrm>
          <a:prstGeom prst="rect">
            <a:avLst/>
          </a:prstGeom>
          <a:noFill/>
        </p:spPr>
        <p:txBody>
          <a:bodyPr wrap="none" rtlCol="1">
            <a:spAutoFit/>
          </a:bodyPr>
          <a:lstStyle/>
          <a:p>
            <a:pPr algn="ctr" rtl="1"/>
            <a:r>
              <a:rPr sz="1200" b="1" lang="en-US" altLang="ar-SA">
                <a:solidFill>
                  <a:srgbClr val="1E3A8A"/>
                </a:solidFill>
                <a:latin typeface="Arial"/>
                <a:cs typeface="Arial"/>
              </a:rPr>
              <a:t>05</a:t>
            </a:r>
          </a:p>
        </p:txBody>
      </p:sp>
      <p:sp>
        <p:nvSpPr>
          <p:cNvPr id="24" name="TextBox 23"/>
          <p:cNvSpPr txBox="1"/>
          <p:nvPr/>
        </p:nvSpPr>
        <p:spPr>
          <a:xfrm>
            <a:off x="914400" y="1627632"/>
            <a:ext cx="4206240" cy="777240"/>
          </a:xfrm>
          <a:prstGeom prst="rect">
            <a:avLst/>
          </a:prstGeom>
          <a:noFill/>
        </p:spPr>
        <p:txBody>
          <a:bodyPr wrap="square" rtlCol="1">
            <a:spAutoFit/>
          </a:bodyPr>
          <a:lstStyle/>
          <a:p>
            <a:pPr algn="r" rtl="1"/>
            <a:r>
              <a:rPr sz="1200" b="0" lang="ar-SA" altLang="en-US">
                <a:solidFill>
                  <a:srgbClr val="0F172A"/>
                </a:solidFill>
                <a:latin typeface="Arial"/>
                <a:cs typeface="Arial"/>
              </a:rPr>
              <a:t>صعوبة البحث والاسترجاع السريع للوثائق.</a:t>
            </a:r>
          </a:p>
        </p:txBody>
      </p:sp>
      <p:sp>
        <p:nvSpPr>
          <p:cNvPr id="25" name="Rounded Rectangle 24"/>
          <p:cNvSpPr/>
          <p:nvPr/>
        </p:nvSpPr>
        <p:spPr>
          <a:xfrm>
            <a:off x="731520" y="2606040"/>
            <a:ext cx="52120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6" name="Rounded Rectangle 25"/>
          <p:cNvSpPr/>
          <p:nvPr/>
        </p:nvSpPr>
        <p:spPr>
          <a:xfrm>
            <a:off x="5212080" y="2788920"/>
            <a:ext cx="594360" cy="411480"/>
          </a:xfrm>
          <a:prstGeom prst="round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7" name="TextBox 26"/>
          <p:cNvSpPr txBox="1"/>
          <p:nvPr/>
        </p:nvSpPr>
        <p:spPr>
          <a:xfrm>
            <a:off x="5212080" y="2788920"/>
            <a:ext cx="594360" cy="411480"/>
          </a:xfrm>
          <a:prstGeom prst="rect">
            <a:avLst/>
          </a:prstGeom>
          <a:noFill/>
        </p:spPr>
        <p:txBody>
          <a:bodyPr wrap="none" rtlCol="1">
            <a:spAutoFit/>
          </a:bodyPr>
          <a:lstStyle/>
          <a:p>
            <a:pPr algn="ctr" rtl="1"/>
            <a:r>
              <a:rPr sz="1200" b="1" lang="en-US" altLang="ar-SA">
                <a:solidFill>
                  <a:srgbClr val="1E3A8A"/>
                </a:solidFill>
                <a:latin typeface="Arial"/>
                <a:cs typeface="Arial"/>
              </a:rPr>
              <a:t>06</a:t>
            </a:r>
          </a:p>
        </p:txBody>
      </p:sp>
      <p:sp>
        <p:nvSpPr>
          <p:cNvPr id="28" name="TextBox 27"/>
          <p:cNvSpPr txBox="1"/>
          <p:nvPr/>
        </p:nvSpPr>
        <p:spPr>
          <a:xfrm>
            <a:off x="914400" y="2770632"/>
            <a:ext cx="4206240" cy="777240"/>
          </a:xfrm>
          <a:prstGeom prst="rect">
            <a:avLst/>
          </a:prstGeom>
          <a:noFill/>
        </p:spPr>
        <p:txBody>
          <a:bodyPr wrap="square" rtlCol="1">
            <a:spAutoFit/>
          </a:bodyPr>
          <a:lstStyle/>
          <a:p>
            <a:pPr algn="r" rtl="1"/>
            <a:r>
              <a:rPr sz="1200" b="0" lang="ar-SA" altLang="en-US">
                <a:solidFill>
                  <a:srgbClr val="0F172A"/>
                </a:solidFill>
                <a:latin typeface="Arial"/>
                <a:cs typeface="Arial"/>
              </a:rPr>
              <a:t>عدم وجود منظومة رقمية متخصصة لإدارة شهادات المعايرة.</a:t>
            </a:r>
          </a:p>
        </p:txBody>
      </p:sp>
      <p:sp>
        <p:nvSpPr>
          <p:cNvPr id="29" name="Rounded Rectangle 28"/>
          <p:cNvSpPr/>
          <p:nvPr/>
        </p:nvSpPr>
        <p:spPr>
          <a:xfrm>
            <a:off x="731520" y="3749040"/>
            <a:ext cx="52120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30" name="Rounded Rectangle 29"/>
          <p:cNvSpPr/>
          <p:nvPr/>
        </p:nvSpPr>
        <p:spPr>
          <a:xfrm>
            <a:off x="5212080" y="3931920"/>
            <a:ext cx="594360" cy="411480"/>
          </a:xfrm>
          <a:prstGeom prst="round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31" name="TextBox 30"/>
          <p:cNvSpPr txBox="1"/>
          <p:nvPr/>
        </p:nvSpPr>
        <p:spPr>
          <a:xfrm>
            <a:off x="5212080" y="3931920"/>
            <a:ext cx="594360" cy="411480"/>
          </a:xfrm>
          <a:prstGeom prst="rect">
            <a:avLst/>
          </a:prstGeom>
          <a:noFill/>
        </p:spPr>
        <p:txBody>
          <a:bodyPr wrap="none" rtlCol="1">
            <a:spAutoFit/>
          </a:bodyPr>
          <a:lstStyle/>
          <a:p>
            <a:pPr algn="ctr" rtl="1"/>
            <a:r>
              <a:rPr sz="1200" b="1" lang="en-US" altLang="ar-SA">
                <a:solidFill>
                  <a:srgbClr val="1E3A8A"/>
                </a:solidFill>
                <a:latin typeface="Arial"/>
                <a:cs typeface="Arial"/>
              </a:rPr>
              <a:t>07</a:t>
            </a:r>
          </a:p>
        </p:txBody>
      </p:sp>
      <p:sp>
        <p:nvSpPr>
          <p:cNvPr id="32" name="TextBox 31"/>
          <p:cNvSpPr txBox="1"/>
          <p:nvPr/>
        </p:nvSpPr>
        <p:spPr>
          <a:xfrm>
            <a:off x="914400" y="3913632"/>
            <a:ext cx="4206240" cy="777240"/>
          </a:xfrm>
          <a:prstGeom prst="rect">
            <a:avLst/>
          </a:prstGeom>
          <a:noFill/>
        </p:spPr>
        <p:txBody>
          <a:bodyPr wrap="square" rtlCol="1">
            <a:spAutoFit/>
          </a:bodyPr>
          <a:lstStyle/>
          <a:p>
            <a:pPr algn="r" rtl="1"/>
            <a:r>
              <a:rPr sz="1200" b="0" lang="ar-SA" altLang="en-US">
                <a:solidFill>
                  <a:srgbClr val="0F172A"/>
                </a:solidFill>
                <a:latin typeface="Arial"/>
                <a:cs typeface="Arial"/>
              </a:rPr>
              <a:t>الحاجة إلى وسيلة إلكترونية للتحقق من الشهادات.</a:t>
            </a:r>
          </a:p>
        </p:txBody>
      </p:sp>
      <p:sp>
        <p:nvSpPr>
          <p:cNvPr id="33" name="Rounded Rectangle 32"/>
          <p:cNvSpPr/>
          <p:nvPr/>
        </p:nvSpPr>
        <p:spPr>
          <a:xfrm>
            <a:off x="731520" y="4892040"/>
            <a:ext cx="5212080" cy="1051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34" name="Rounded Rectangle 33"/>
          <p:cNvSpPr/>
          <p:nvPr/>
        </p:nvSpPr>
        <p:spPr>
          <a:xfrm>
            <a:off x="5212080" y="5074920"/>
            <a:ext cx="594360" cy="41148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35" name="TextBox 34"/>
          <p:cNvSpPr txBox="1"/>
          <p:nvPr/>
        </p:nvSpPr>
        <p:spPr>
          <a:xfrm>
            <a:off x="5212080" y="5074920"/>
            <a:ext cx="594360" cy="411480"/>
          </a:xfrm>
          <a:prstGeom prst="rect">
            <a:avLst/>
          </a:prstGeom>
          <a:noFill/>
        </p:spPr>
        <p:txBody>
          <a:bodyPr wrap="none" rtlCol="1">
            <a:spAutoFit/>
          </a:bodyPr>
          <a:lstStyle/>
          <a:p>
            <a:pPr algn="ctr" rtl="1"/>
            <a:r>
              <a:rPr sz="1200" b="1" lang="en-US" altLang="ar-SA">
                <a:solidFill>
                  <a:srgbClr val="D97706"/>
                </a:solidFill>
                <a:latin typeface="Arial"/>
                <a:cs typeface="Arial"/>
              </a:rPr>
              <a:t>08</a:t>
            </a:r>
          </a:p>
        </p:txBody>
      </p:sp>
      <p:sp>
        <p:nvSpPr>
          <p:cNvPr id="36" name="TextBox 35"/>
          <p:cNvSpPr txBox="1"/>
          <p:nvPr/>
        </p:nvSpPr>
        <p:spPr>
          <a:xfrm>
            <a:off x="914400" y="5056632"/>
            <a:ext cx="4206240" cy="777240"/>
          </a:xfrm>
          <a:prstGeom prst="rect">
            <a:avLst/>
          </a:prstGeom>
          <a:noFill/>
        </p:spPr>
        <p:txBody>
          <a:bodyPr wrap="square" rtlCol="1">
            <a:spAutoFit/>
          </a:bodyPr>
          <a:lstStyle/>
          <a:p>
            <a:pPr algn="r" rtl="1"/>
            <a:r>
              <a:rPr sz="1200" b="1" lang="ar-SA" altLang="en-US">
                <a:solidFill>
                  <a:srgbClr val="1E3A8A"/>
                </a:solidFill>
                <a:latin typeface="Arial"/>
                <a:cs typeface="Arial"/>
              </a:rPr>
              <a:t>توقف أعمال معايرة العلاج الإشعاعي بسبب عدم توفر غرفة التأين </a:t>
            </a:r>
            <a:r>
              <a:rPr sz="1200" b="1" lang="en-US" altLang="ar-SA">
                <a:solidFill>
                  <a:srgbClr val="1E3A8A"/>
                </a:solidFill>
                <a:latin typeface="Arial"/>
              </a:rPr>
              <a:t>Farmer Ionization Chamber.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rtlCol="1">
            <a:spAutoFit/>
          </a:bodyPr>
          <a:lstStyle/>
          <a:p>
            <a:pPr algn="r" rtl="1"/>
            <a:r>
              <a:rPr sz="1050" b="1" lang="ar-SA" altLang="en-US">
                <a:solidFill>
                  <a:srgbClr val="D97706"/>
                </a:solidFill>
                <a:latin typeface="Arial"/>
                <a:cs typeface="Arial"/>
              </a:rPr>
              <a:t>الشريحة 6 — تطوير شهادات المعايرة</a:t>
            </a:r>
          </a:p>
          <a:p>
            <a:pPr algn="r" rtl="1">
              <a:spcBef>
                <a:spcPts val="200"/>
              </a:spcBef>
            </a:pPr>
            <a:r>
              <a:rPr sz="2100" b="1" lang="ar-SA" altLang="en-US">
                <a:solidFill>
                  <a:srgbClr val="1E3A8A"/>
                </a:solidFill>
                <a:latin typeface="Arial"/>
                <a:cs typeface="Arial"/>
              </a:rPr>
              <a:t>التطوير الأول: شهادات المعايرة علمياً وفنياً</a:t>
            </a:r>
          </a:p>
        </p:txBody>
      </p:sp>
      <p:sp>
        <p:nvSpPr>
          <p:cNvPr id="3" name="Rectangle 2"/>
          <p:cNvSpPr/>
          <p:nvPr/>
        </p:nvSpPr>
        <p:spPr>
          <a:xfrm>
            <a:off x="731520" y="1207008"/>
            <a:ext cx="10728655" cy="18288"/>
          </a:xfrm>
          <a:prstGeom prst="rect">
            <a:avLst/>
          </a:prstGeom>
          <a:solidFill>
            <a:srgbClr val="DBE5F0"/>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82512"/>
            <a:ext cx="10728655" cy="292608"/>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6 من 14</a:t>
            </a:r>
          </a:p>
        </p:txBody>
      </p:sp>
      <p:sp>
        <p:nvSpPr>
          <p:cNvPr id="5" name="Rounded Rectangle 4"/>
          <p:cNvSpPr/>
          <p:nvPr/>
        </p:nvSpPr>
        <p:spPr>
          <a:xfrm>
            <a:off x="731520" y="1371600"/>
            <a:ext cx="10728655" cy="5943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6" name="TextBox 5"/>
          <p:cNvSpPr txBox="1"/>
          <p:nvPr/>
        </p:nvSpPr>
        <p:spPr>
          <a:xfrm>
            <a:off x="914400" y="1426464"/>
            <a:ext cx="10362895" cy="457200"/>
          </a:xfrm>
          <a:prstGeom prst="rect">
            <a:avLst/>
          </a:prstGeom>
          <a:noFill/>
        </p:spPr>
        <p:txBody>
          <a:bodyPr wrap="none" rtlCol="1">
            <a:spAutoFit/>
          </a:bodyPr>
          <a:lstStyle/>
          <a:p>
            <a:pPr algn="ctr" rtl="1"/>
            <a:r>
              <a:rPr sz="1350" b="1" lang="ar-SA" altLang="en-US">
                <a:solidFill>
                  <a:srgbClr val="1E3A8A"/>
                </a:solidFill>
                <a:latin typeface="Arial"/>
                <a:cs typeface="Arial"/>
              </a:rPr>
              <a:t>«قبل البدء في إنشاء أي منظومة رقمية، تم أولاً العمل على تطوير شهادة المعايرة نفسها من الناحية العلمية والفنية»</a:t>
            </a:r>
          </a:p>
        </p:txBody>
      </p:sp>
      <p:sp>
        <p:nvSpPr>
          <p:cNvPr id="7" name="Rounded Rectangle 6"/>
          <p:cNvSpPr/>
          <p:nvPr/>
        </p:nvSpPr>
        <p:spPr>
          <a:xfrm>
            <a:off x="5029200" y="2103120"/>
            <a:ext cx="640080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8" name="Rectangle 7"/>
          <p:cNvSpPr/>
          <p:nvPr/>
        </p:nvSpPr>
        <p:spPr>
          <a:xfrm>
            <a:off x="5029200" y="2103120"/>
            <a:ext cx="640080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9" name="TextBox 8"/>
          <p:cNvSpPr txBox="1"/>
          <p:nvPr/>
        </p:nvSpPr>
        <p:spPr>
          <a:xfrm>
            <a:off x="5212080" y="2240280"/>
            <a:ext cx="6035040" cy="3794760"/>
          </a:xfrm>
          <a:prstGeom prst="rect">
            <a:avLst/>
          </a:prstGeom>
          <a:noFill/>
        </p:spPr>
        <p:txBody>
          <a:bodyPr wrap="square" rtlCol="1">
            <a:spAutoFit/>
          </a:bodyPr>
          <a:lstStyle/>
          <a:p>
            <a:pPr algn="r" rtl="1"/>
            <a:r>
              <a:rPr sz="1500" b="1" lang="ar-SA" altLang="en-US">
                <a:solidFill>
                  <a:srgbClr val="1E3A8A"/>
                </a:solidFill>
                <a:latin typeface="Arial"/>
                <a:cs typeface="Arial"/>
              </a:rPr>
              <a:t>شمل تطوير شهادة المعايرة علمياً وفنياً:</a:t>
            </a:r>
          </a:p>
          <a:p>
            <a:pPr algn="r" rtl="1">
              <a:spcBef>
                <a:spcPts val="500"/>
              </a:spcBef>
            </a:pPr>
            <a:r>
              <a:rPr sz="1200" b="0" lang="ar-SA" altLang="en-US">
                <a:solidFill>
                  <a:srgbClr val="0F172A"/>
                </a:solidFill>
                <a:latin typeface="Arial"/>
                <a:cs typeface="Arial"/>
              </a:rPr>
              <a:t>✔  تطوير المحتوى العلمي والفني.</a:t>
            </a:r>
          </a:p>
          <a:p>
            <a:pPr algn="r" rtl="1">
              <a:spcBef>
                <a:spcPts val="500"/>
              </a:spcBef>
            </a:pPr>
            <a:r>
              <a:rPr sz="1200" b="0" lang="ar-SA" altLang="en-US">
                <a:solidFill>
                  <a:srgbClr val="0F172A"/>
                </a:solidFill>
                <a:latin typeface="Arial"/>
                <a:cs typeface="Arial"/>
              </a:rPr>
              <a:t>✔  تنظيم بيانات الجهاز.</a:t>
            </a:r>
          </a:p>
          <a:p>
            <a:pPr algn="r" rtl="1">
              <a:spcBef>
                <a:spcPts val="500"/>
              </a:spcBef>
            </a:pPr>
            <a:r>
              <a:rPr sz="1200" b="0" lang="ar-SA" altLang="en-US">
                <a:solidFill>
                  <a:srgbClr val="0F172A"/>
                </a:solidFill>
                <a:latin typeface="Arial"/>
                <a:cs typeface="Arial"/>
              </a:rPr>
              <a:t>✔  تحديد بيانات المعايرة والقياسات.</a:t>
            </a:r>
          </a:p>
          <a:p>
            <a:pPr algn="r" rtl="1">
              <a:spcBef>
                <a:spcPts val="500"/>
              </a:spcBef>
            </a:pPr>
            <a:r>
              <a:rPr sz="1200" b="0" lang="ar-SA" altLang="en-US">
                <a:solidFill>
                  <a:srgbClr val="0F172A"/>
                </a:solidFill>
                <a:latin typeface="Arial"/>
                <a:cs typeface="Arial"/>
              </a:rPr>
              <a:t>✔  تنظيم عرض النتائج.</a:t>
            </a:r>
          </a:p>
          <a:p>
            <a:pPr algn="r" rtl="1">
              <a:spcBef>
                <a:spcPts val="500"/>
              </a:spcBef>
            </a:pPr>
            <a:r>
              <a:rPr sz="1200" b="0" lang="ar-SA" altLang="en-US">
                <a:solidFill>
                  <a:srgbClr val="0F172A"/>
                </a:solidFill>
                <a:latin typeface="Arial"/>
                <a:cs typeface="Arial"/>
              </a:rPr>
              <a:t>✔  توحيد شكل ومحتوى الشهادة.</a:t>
            </a:r>
          </a:p>
          <a:p>
            <a:pPr algn="r" rtl="1">
              <a:spcBef>
                <a:spcPts val="500"/>
              </a:spcBef>
            </a:pPr>
            <a:r>
              <a:rPr sz="1200" b="0" lang="ar-SA" altLang="en-US">
                <a:solidFill>
                  <a:srgbClr val="0F172A"/>
                </a:solidFill>
                <a:latin typeface="Arial"/>
                <a:cs typeface="Arial"/>
              </a:rPr>
              <a:t>✔  تحسين التوثيق.</a:t>
            </a:r>
          </a:p>
          <a:p>
            <a:pPr algn="r" rtl="1">
              <a:spcBef>
                <a:spcPts val="500"/>
              </a:spcBef>
            </a:pPr>
            <a:r>
              <a:rPr sz="1200" b="0" lang="ar-SA" altLang="en-US">
                <a:solidFill>
                  <a:srgbClr val="0F172A"/>
                </a:solidFill>
                <a:latin typeface="Arial"/>
                <a:cs typeface="Arial"/>
              </a:rPr>
              <a:t>✔  تنظيم البيانات اللازمة لإصدار الشهادة.</a:t>
            </a:r>
          </a:p>
        </p:txBody>
      </p:sp>
      <p:sp>
        <p:nvSpPr>
          <p:cNvPr id="10" name="Rounded Rectangle 9"/>
          <p:cNvSpPr/>
          <p:nvPr/>
        </p:nvSpPr>
        <p:spPr>
          <a:xfrm>
            <a:off x="731520" y="2103120"/>
            <a:ext cx="4023360" cy="19659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1" name="TextBox 10"/>
          <p:cNvSpPr txBox="1"/>
          <p:nvPr/>
        </p:nvSpPr>
        <p:spPr>
          <a:xfrm>
            <a:off x="914400" y="2240280"/>
            <a:ext cx="3657600" cy="1691640"/>
          </a:xfrm>
          <a:prstGeom prst="rect">
            <a:avLst/>
          </a:prstGeom>
          <a:noFill/>
        </p:spPr>
        <p:txBody>
          <a:bodyPr wrap="square" rtlCol="1">
            <a:spAutoFit/>
          </a:bodyPr>
          <a:lstStyle/>
          <a:p>
            <a:pPr algn="r" rtl="1"/>
            <a:r>
              <a:rPr sz="1300" b="1" lang="ar-SA" altLang="en-US">
                <a:solidFill>
                  <a:srgbClr val="0D9488"/>
                </a:solidFill>
                <a:latin typeface="Arial"/>
                <a:cs typeface="Arial"/>
              </a:rPr>
              <a:t>المنهجية والمعايير المعتمدة:</a:t>
            </a:r>
          </a:p>
          <a:p>
            <a:pPr algn="r" rtl="1">
              <a:spcBef>
                <a:spcPts val="400"/>
              </a:spcBef>
            </a:pPr>
            <a:r>
              <a:rPr sz="1150" b="0" lang="ar-SA" altLang="en-US">
                <a:solidFill>
                  <a:srgbClr val="0F172A"/>
                </a:solidFill>
                <a:latin typeface="Arial"/>
                <a:cs typeface="Arial"/>
              </a:rPr>
              <a:t>تم تطوير الشهادة ضمن منهجية تتوافق مع متطلبات المواصفة الدولية:</a:t>
            </a:r>
          </a:p>
          <a:p>
            <a:pPr algn="ctr" rtl="1">
              <a:spcBef>
                <a:spcPts val="400"/>
              </a:spcBef>
            </a:pPr>
            <a:r>
              <a:rPr sz="1500" b="1" lang="en-US" altLang="ar-SA">
                <a:solidFill>
                  <a:srgbClr val="1E3A8A"/>
                </a:solidFill>
                <a:latin typeface="Arial"/>
              </a:rPr>
              <a:t>ISO/IEC 17025:2017</a:t>
            </a:r>
          </a:p>
        </p:txBody>
      </p:sp>
      <p:sp>
        <p:nvSpPr>
          <p:cNvPr id="12" name="Rounded Rectangle 11"/>
          <p:cNvSpPr/>
          <p:nvPr/>
        </p:nvSpPr>
        <p:spPr>
          <a:xfrm>
            <a:off x="731520" y="4206240"/>
            <a:ext cx="4023360" cy="1965960"/>
          </a:xfrm>
          <a:prstGeom prst="roundRect">
            <a:avLst/>
          </a:prstGeom>
          <a:solidFill>
            <a:srgbClr val="112240"/>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3" name="TextBox 12"/>
          <p:cNvSpPr txBox="1"/>
          <p:nvPr/>
        </p:nvSpPr>
        <p:spPr>
          <a:xfrm>
            <a:off x="914400" y="4343400"/>
            <a:ext cx="3657600" cy="1691640"/>
          </a:xfrm>
          <a:prstGeom prst="rect">
            <a:avLst/>
          </a:prstGeom>
          <a:noFill/>
        </p:spPr>
        <p:txBody>
          <a:bodyPr wrap="square" rtlCol="1">
            <a:spAutoFit/>
          </a:bodyPr>
          <a:lstStyle/>
          <a:p>
            <a:pPr algn="r" rtl="1"/>
            <a:r>
              <a:rPr sz="1300" b="1" lang="ar-SA" altLang="en-US">
                <a:solidFill>
                  <a:srgbClr val="D97706"/>
                </a:solidFill>
                <a:latin typeface="Arial"/>
                <a:cs typeface="Arial"/>
              </a:rPr>
              <a:t>الأساس المترولوجي لمنظومة </a:t>
            </a:r>
            <a:r>
              <a:rPr sz="1300" b="1" lang="en-US" altLang="ar-SA">
                <a:solidFill>
                  <a:srgbClr val="D97706"/>
                </a:solidFill>
                <a:latin typeface="Arial"/>
              </a:rPr>
              <a:t>CAL-QR:</a:t>
            </a:r>
          </a:p>
          <a:p>
            <a:pPr algn="ctr" rtl="1">
              <a:spcBef>
                <a:spcPts val="600"/>
              </a:spcBef>
            </a:pPr>
            <a:r>
              <a:rPr sz="1250" b="1" lang="ar-SA" altLang="en-US">
                <a:solidFill>
                  <a:srgbClr val="F8FAFC"/>
                </a:solidFill>
                <a:latin typeface="Arial"/>
                <a:cs typeface="Arial"/>
              </a:rPr>
              <a:t>«هذه الشهادة المطورة هي الأساس الذي بُنيت عليه لاحقًا منظومة </a:t>
            </a:r>
            <a:r>
              <a:rPr sz="1250" b="1" lang="en-US" altLang="ar-SA">
                <a:solidFill>
                  <a:srgbClr val="F8FAFC"/>
                </a:solidFill>
                <a:latin typeface="Arial"/>
              </a:rPr>
              <a:t>CAL-QR</a:t>
            </a:r>
            <a:r>
              <a:rPr sz="1250" b="1" lang="en-US" altLang="ar-SA">
                <a:solidFill>
                  <a:srgbClr val="F8FAFC"/>
                </a:solidFill>
                <a:latin typeface="Arial"/>
                <a:cs typeface="Arial"/>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rtlCol="1">
            <a:spAutoFit/>
          </a:bodyPr>
          <a:lstStyle/>
          <a:p>
            <a:pPr algn="r" rtl="1"/>
            <a:r>
              <a:rPr sz="1050" b="1" lang="ar-SA" altLang="en-US">
                <a:solidFill>
                  <a:srgbClr val="D97706"/>
                </a:solidFill>
                <a:latin typeface="Arial"/>
                <a:cs typeface="Arial"/>
              </a:rPr>
              <a:t>الشريحة 7 — إعادة تفعيل معايرة العلاج الإشعاعي</a:t>
            </a:r>
          </a:p>
          <a:p>
            <a:pPr algn="r" rtl="1">
              <a:spcBef>
                <a:spcPts val="200"/>
              </a:spcBef>
            </a:pPr>
            <a:r>
              <a:rPr sz="2100" b="1" lang="ar-SA" altLang="en-US">
                <a:solidFill>
                  <a:srgbClr val="1E3A8A"/>
                </a:solidFill>
                <a:latin typeface="Arial"/>
                <a:cs typeface="Arial"/>
              </a:rPr>
              <a:t>التطوير الثاني: وحدة معايرة العلاج الإشعاعي</a:t>
            </a:r>
          </a:p>
        </p:txBody>
      </p:sp>
      <p:sp>
        <p:nvSpPr>
          <p:cNvPr id="3" name="Rectangle 2"/>
          <p:cNvSpPr/>
          <p:nvPr/>
        </p:nvSpPr>
        <p:spPr>
          <a:xfrm>
            <a:off x="731520" y="1207008"/>
            <a:ext cx="10728655" cy="18288"/>
          </a:xfrm>
          <a:prstGeom prst="rect">
            <a:avLst/>
          </a:prstGeom>
          <a:solidFill>
            <a:srgbClr val="DBE5F0"/>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82512"/>
            <a:ext cx="10728655" cy="292608"/>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7 من 14</a:t>
            </a:r>
          </a:p>
        </p:txBody>
      </p:sp>
      <p:sp>
        <p:nvSpPr>
          <p:cNvPr id="5" name="Rounded Rectangle 4"/>
          <p:cNvSpPr/>
          <p:nvPr/>
        </p:nvSpPr>
        <p:spPr>
          <a:xfrm>
            <a:off x="731520" y="1417320"/>
            <a:ext cx="38404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pic>
        <p:nvPicPr>
          <p:cNvPr id="6" name="Picture 5" descr="2.jpeg"/>
          <p:cNvPicPr>
            <a:picLocks noChangeAspect="1"/>
          </p:cNvPicPr>
          <p:nvPr/>
        </p:nvPicPr>
        <p:blipFill>
          <a:blip r:embed="rId2"/>
          <a:stretch>
            <a:fillRect/>
          </a:stretch>
        </p:blipFill>
        <p:spPr>
          <a:xfrm>
            <a:off x="804672" y="1490472"/>
            <a:ext cx="3694176" cy="4224528"/>
          </a:xfrm>
          <a:prstGeom prst="rect">
            <a:avLst/>
          </a:prstGeom>
        </p:spPr>
      </p:pic>
      <p:sp>
        <p:nvSpPr>
          <p:cNvPr id="7" name="TextBox 6"/>
          <p:cNvSpPr txBox="1"/>
          <p:nvPr/>
        </p:nvSpPr>
        <p:spPr>
          <a:xfrm>
            <a:off x="804672" y="5715000"/>
            <a:ext cx="3694176" cy="292608"/>
          </a:xfrm>
          <a:prstGeom prst="rect">
            <a:avLst/>
          </a:prstGeom>
          <a:noFill/>
        </p:spPr>
        <p:txBody>
          <a:bodyPr wrap="none" lIns="0" rIns="0" tIns="0" bIns="0" rtlCol="1">
            <a:spAutoFit/>
          </a:bodyPr>
          <a:lstStyle/>
          <a:p>
            <a:pPr algn="ctr" rtl="1"/>
            <a:r>
              <a:rPr sz="900" b="1" lang="ar-SA" altLang="en-US">
                <a:solidFill>
                  <a:srgbClr val="475569"/>
                </a:solidFill>
                <a:latin typeface="Arial"/>
                <a:cs typeface="Arial"/>
              </a:rPr>
              <a:t>وحدة العلاج الإشعاعي بالكوبالت 60 وشعاع المحاذاة الليزري</a:t>
            </a:r>
          </a:p>
        </p:txBody>
      </p:sp>
      <p:sp>
        <p:nvSpPr>
          <p:cNvPr id="8" name="Rounded Rectangle 7"/>
          <p:cNvSpPr/>
          <p:nvPr/>
        </p:nvSpPr>
        <p:spPr>
          <a:xfrm>
            <a:off x="4846320" y="1417320"/>
            <a:ext cx="6583680" cy="10972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9" name="TextBox 8"/>
          <p:cNvSpPr txBox="1"/>
          <p:nvPr/>
        </p:nvSpPr>
        <p:spPr>
          <a:xfrm>
            <a:off x="5029200" y="1508760"/>
            <a:ext cx="6217920" cy="914400"/>
          </a:xfrm>
          <a:prstGeom prst="rect">
            <a:avLst/>
          </a:prstGeom>
          <a:noFill/>
        </p:spPr>
        <p:txBody>
          <a:bodyPr wrap="square" rtlCol="1">
            <a:spAutoFit/>
          </a:bodyPr>
          <a:lstStyle/>
          <a:p>
            <a:pPr algn="r" rtl="1"/>
            <a:r>
              <a:rPr sz="1300" b="1" lang="ar-SA" altLang="en-US">
                <a:solidFill>
                  <a:srgbClr val="D97706"/>
                </a:solidFill>
                <a:latin typeface="Arial"/>
                <a:cs typeface="Arial"/>
              </a:rPr>
              <a:t>بعد توفير غرفة التأين المرجعية — </a:t>
            </a:r>
            <a:r>
              <a:rPr sz="1300" b="1" lang="en-US" altLang="ar-SA">
                <a:solidFill>
                  <a:srgbClr val="D97706"/>
                </a:solidFill>
                <a:latin typeface="Arial"/>
              </a:rPr>
              <a:t>Farmer Ionization Chamber</a:t>
            </a:r>
          </a:p>
          <a:p>
            <a:pPr algn="r" rtl="1">
              <a:spcBef>
                <a:spcPts val="300"/>
              </a:spcBef>
            </a:pPr>
            <a:r>
              <a:rPr sz="1250" b="1" lang="ar-SA" altLang="en-US">
                <a:solidFill>
                  <a:srgbClr val="1E3A8A"/>
                </a:solidFill>
                <a:latin typeface="Arial"/>
                <a:cs typeface="Arial"/>
              </a:rPr>
              <a:t>بدأ العمل على إعادة تفعيل وتطوير وحدة معايرة العلاج الإشعاعي وتجهيزها لبدء العمل.</a:t>
            </a:r>
          </a:p>
        </p:txBody>
      </p:sp>
      <p:sp>
        <p:nvSpPr>
          <p:cNvPr id="10" name="Rounded Rectangle 9"/>
          <p:cNvSpPr/>
          <p:nvPr/>
        </p:nvSpPr>
        <p:spPr>
          <a:xfrm>
            <a:off x="4846320" y="2651760"/>
            <a:ext cx="6583680" cy="3429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1" name="Rectangle 10"/>
          <p:cNvSpPr/>
          <p:nvPr/>
        </p:nvSpPr>
        <p:spPr>
          <a:xfrm>
            <a:off x="4846320" y="2651760"/>
            <a:ext cx="658368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2" name="TextBox 11"/>
          <p:cNvSpPr txBox="1"/>
          <p:nvPr/>
        </p:nvSpPr>
        <p:spPr>
          <a:xfrm>
            <a:off x="5029200" y="2834640"/>
            <a:ext cx="6217920" cy="3108960"/>
          </a:xfrm>
          <a:prstGeom prst="rect">
            <a:avLst/>
          </a:prstGeom>
          <a:noFill/>
        </p:spPr>
        <p:txBody>
          <a:bodyPr wrap="square" rtlCol="1">
            <a:spAutoFit/>
          </a:bodyPr>
          <a:lstStyle/>
          <a:p>
            <a:pPr algn="r" rtl="1"/>
            <a:r>
              <a:rPr sz="1500" b="1" lang="ar-SA" altLang="en-US">
                <a:solidFill>
                  <a:srgbClr val="1E3A8A"/>
                </a:solidFill>
                <a:latin typeface="Arial"/>
                <a:cs typeface="Arial"/>
              </a:rPr>
              <a:t>يشمل التطوير الحالي للوحدة:</a:t>
            </a:r>
          </a:p>
          <a:p>
            <a:pPr algn="r" rtl="1">
              <a:spcBef>
                <a:spcPts val="600"/>
              </a:spcBef>
            </a:pPr>
            <a:r>
              <a:rPr sz="1250" b="0" lang="ar-SA" altLang="en-US">
                <a:solidFill>
                  <a:srgbClr val="0F172A"/>
                </a:solidFill>
                <a:latin typeface="Arial"/>
                <a:cs typeface="Arial"/>
              </a:rPr>
              <a:t>⚙️  تجهيز الوحدة.</a:t>
            </a:r>
          </a:p>
          <a:p>
            <a:pPr algn="r" rtl="1">
              <a:spcBef>
                <a:spcPts val="600"/>
              </a:spcBef>
            </a:pPr>
            <a:r>
              <a:rPr sz="1250" b="0" lang="ar-SA" altLang="en-US">
                <a:solidFill>
                  <a:srgbClr val="0F172A"/>
                </a:solidFill>
                <a:latin typeface="Arial"/>
                <a:cs typeface="Arial"/>
              </a:rPr>
              <a:t>⚙️  تطوير الإجراءات الفنية.</a:t>
            </a:r>
          </a:p>
          <a:p>
            <a:pPr algn="r" rtl="1">
              <a:spcBef>
                <a:spcPts val="600"/>
              </a:spcBef>
            </a:pPr>
            <a:r>
              <a:rPr sz="1250" b="0" lang="ar-SA" altLang="en-US">
                <a:solidFill>
                  <a:srgbClr val="0F172A"/>
                </a:solidFill>
                <a:latin typeface="Arial"/>
                <a:cs typeface="Arial"/>
              </a:rPr>
              <a:t>⚙️  تنظيم القياسات والمعايرات.</a:t>
            </a:r>
          </a:p>
          <a:p>
            <a:pPr algn="r" rtl="1">
              <a:spcBef>
                <a:spcPts val="600"/>
              </a:spcBef>
            </a:pPr>
            <a:r>
              <a:rPr sz="1250" b="0" lang="ar-SA" altLang="en-US">
                <a:solidFill>
                  <a:srgbClr val="0F172A"/>
                </a:solidFill>
                <a:latin typeface="Arial"/>
                <a:cs typeface="Arial"/>
              </a:rPr>
              <a:t>⚙️  استخدام منظومة القياس المرجعية.</a:t>
            </a:r>
          </a:p>
          <a:p>
            <a:pPr algn="r" rtl="1">
              <a:spcBef>
                <a:spcPts val="600"/>
              </a:spcBef>
            </a:pPr>
            <a:r>
              <a:rPr sz="1250" b="0" lang="ar-SA" altLang="en-US">
                <a:solidFill>
                  <a:srgbClr val="0F172A"/>
                </a:solidFill>
                <a:latin typeface="Arial"/>
                <a:cs typeface="Arial"/>
              </a:rPr>
              <a:t>⚙️  إعداد التوثيق والسجلات.</a:t>
            </a:r>
          </a:p>
          <a:p>
            <a:pPr algn="r" rtl="1">
              <a:spcBef>
                <a:spcPts val="600"/>
              </a:spcBef>
            </a:pPr>
            <a:r>
              <a:rPr sz="1250" b="0" lang="ar-SA" altLang="en-US">
                <a:solidFill>
                  <a:srgbClr val="0F172A"/>
                </a:solidFill>
                <a:latin typeface="Arial"/>
                <a:cs typeface="Arial"/>
              </a:rPr>
              <a:t>⚙️  الاستعداد لبدء الأعمال الفنية للوحدة.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Rounded Rectangle 1"/>
          <p:cNvSpPr/>
          <p:nvPr/>
        </p:nvSpPr>
        <p:spPr>
          <a:xfrm>
            <a:off x="548640" y="457200"/>
            <a:ext cx="11094415" cy="5943600"/>
          </a:xfrm>
          <a:prstGeom prst="roundRect">
            <a:avLst/>
          </a:prstGeom>
          <a:solidFill>
            <a:srgbClr val="112240"/>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3" name="TextBox 2"/>
          <p:cNvSpPr txBox="1"/>
          <p:nvPr/>
        </p:nvSpPr>
        <p:spPr>
          <a:xfrm>
            <a:off x="914400" y="731520"/>
            <a:ext cx="10362895" cy="1188720"/>
          </a:xfrm>
          <a:prstGeom prst="rect">
            <a:avLst/>
          </a:prstGeom>
          <a:noFill/>
        </p:spPr>
        <p:txBody>
          <a:bodyPr wrap="none" rtlCol="1">
            <a:spAutoFit/>
          </a:bodyPr>
          <a:lstStyle/>
          <a:p>
            <a:pPr algn="ctr" rtl="1"/>
            <a:r>
              <a:rPr sz="1300" b="1" lang="ar-SA" altLang="en-US">
                <a:solidFill>
                  <a:srgbClr val="D97706"/>
                </a:solidFill>
                <a:latin typeface="Arial"/>
                <a:cs typeface="Arial"/>
              </a:rPr>
              <a:t>الشريحة 8 — التحول والانتقال المشترك</a:t>
            </a:r>
          </a:p>
          <a:p>
            <a:pPr algn="ctr" rtl="1">
              <a:spcBef>
                <a:spcPts val="400"/>
              </a:spcBef>
            </a:pPr>
            <a:r>
              <a:rPr sz="2250" b="1" lang="ar-SA" altLang="en-US">
                <a:solidFill>
                  <a:srgbClr val="F8FAFC"/>
                </a:solidFill>
                <a:latin typeface="Arial"/>
                <a:cs typeface="Arial"/>
              </a:rPr>
              <a:t>من الشهادة الورقية إلى المنظومة الرقمية — أسباب ومبررات إنشاء منظومة </a:t>
            </a:r>
            <a:r>
              <a:rPr sz="2250" b="1" lang="en-US" altLang="ar-SA">
                <a:solidFill>
                  <a:srgbClr val="F8FAFC"/>
                </a:solidFill>
                <a:latin typeface="Arial"/>
              </a:rPr>
              <a:t>CAL-QR</a:t>
            </a:r>
          </a:p>
        </p:txBody>
      </p:sp>
      <p:sp>
        <p:nvSpPr>
          <p:cNvPr id="4" name="Rounded Rectangle 3"/>
          <p:cNvSpPr/>
          <p:nvPr/>
        </p:nvSpPr>
        <p:spPr>
          <a:xfrm>
            <a:off x="1371600" y="2011680"/>
            <a:ext cx="9448495" cy="1051560"/>
          </a:xfrm>
          <a:prstGeom prst="roundRect">
            <a:avLst/>
          </a:prstGeom>
          <a:solidFill>
            <a:srgbClr val="172A4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5" name="TextBox 4"/>
          <p:cNvSpPr txBox="1"/>
          <p:nvPr/>
        </p:nvSpPr>
        <p:spPr>
          <a:xfrm>
            <a:off x="1554480" y="2103120"/>
            <a:ext cx="9082735" cy="868680"/>
          </a:xfrm>
          <a:prstGeom prst="rect">
            <a:avLst/>
          </a:prstGeom>
          <a:noFill/>
        </p:spPr>
        <p:txBody>
          <a:bodyPr wrap="none" rtlCol="1">
            <a:spAutoFit/>
          </a:bodyPr>
          <a:lstStyle/>
          <a:p>
            <a:pPr algn="ctr" rtl="1"/>
            <a:r>
              <a:rPr sz="1250" b="1" lang="ar-SA" altLang="en-US">
                <a:solidFill>
                  <a:srgbClr val="D97706"/>
                </a:solidFill>
                <a:latin typeface="Arial"/>
                <a:cs typeface="Arial"/>
              </a:rPr>
              <a:t>بعد الانتهاء من تطوير شهادات المعايرة علميًا وفنيًا وفق متطلبات </a:t>
            </a:r>
            <a:r>
              <a:rPr sz="1250" b="1" lang="en-US" altLang="ar-SA">
                <a:solidFill>
                  <a:srgbClr val="D97706"/>
                </a:solidFill>
                <a:latin typeface="Arial"/>
              </a:rPr>
              <a:t>ISO/IEC 17025:2017</a:t>
            </a:r>
            <a:r>
              <a:rPr sz="1250" b="1" lang="ar-SA" altLang="en-US">
                <a:solidFill>
                  <a:srgbClr val="D97706"/>
                </a:solidFill>
                <a:latin typeface="Arial"/>
                <a:cs typeface="Arial"/>
              </a:rPr>
              <a:t>، ظهرت حاجة جديدة:</a:t>
            </a:r>
          </a:p>
          <a:p>
            <a:pPr algn="ctr" rtl="1">
              <a:spcBef>
                <a:spcPts val="300"/>
              </a:spcBef>
            </a:pPr>
            <a:r>
              <a:rPr sz="1200" b="0" lang="ar-SA" altLang="en-US">
                <a:solidFill>
                  <a:srgbClr val="F8FAFC"/>
                </a:solidFill>
                <a:latin typeface="Arial"/>
                <a:cs typeface="Arial"/>
              </a:rPr>
              <a:t>«كيف يمكن إدارة هذه الشهادات وحفظها واسترجاعها بطريقة إلكترونية منظمة؟ ومن هنا بدأت فكرة إنشاء منظومة رقمية خاصة بشهادات المعايرة»</a:t>
            </a:r>
          </a:p>
        </p:txBody>
      </p:sp>
      <p:sp>
        <p:nvSpPr>
          <p:cNvPr id="6" name="Rounded Rectangle 5"/>
          <p:cNvSpPr/>
          <p:nvPr/>
        </p:nvSpPr>
        <p:spPr>
          <a:xfrm>
            <a:off x="9765792" y="3291840"/>
            <a:ext cx="1645920" cy="1097280"/>
          </a:xfrm>
          <a:prstGeom prst="roundRect">
            <a:avLst/>
          </a:prstGeom>
          <a:solidFill>
            <a:srgbClr val="172A4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9811512" y="3474720"/>
            <a:ext cx="1554480" cy="731520"/>
          </a:xfrm>
          <a:prstGeom prst="rect">
            <a:avLst/>
          </a:prstGeom>
          <a:noFill/>
        </p:spPr>
        <p:txBody>
          <a:bodyPr wrap="none" rtlCol="1">
            <a:spAutoFit/>
          </a:bodyPr>
          <a:lstStyle/>
          <a:p>
            <a:pPr algn="ctr" rtl="1"/>
            <a:r>
              <a:rPr sz="1100" b="1" lang="ar-SA" altLang="en-US">
                <a:solidFill>
                  <a:srgbClr val="F8FAFC"/>
                </a:solidFill>
                <a:latin typeface="Arial"/>
                <a:cs typeface="Arial"/>
              </a:rPr>
              <a:t>الخطوة 1: تطوير الشهادة</a:t>
            </a:r>
          </a:p>
        </p:txBody>
      </p:sp>
      <p:sp>
        <p:nvSpPr>
          <p:cNvPr id="8" name="TextBox 7"/>
          <p:cNvSpPr txBox="1"/>
          <p:nvPr/>
        </p:nvSpPr>
        <p:spPr>
          <a:xfrm>
            <a:off x="9601200" y="3657600"/>
            <a:ext cx="182880" cy="365760"/>
          </a:xfrm>
          <a:prstGeom prst="rect">
            <a:avLst/>
          </a:prstGeom>
          <a:noFill/>
        </p:spPr>
        <p:txBody>
          <a:bodyPr wrap="none" rtlCol="1">
            <a:spAutoFit/>
          </a:bodyPr>
          <a:lstStyle/>
          <a:p>
            <a:pPr algn="ctr" rtl="1"/>
            <a:r>
              <a:rPr sz="1400" b="1" lang="en-US" altLang="ar-SA">
                <a:solidFill>
                  <a:srgbClr val="0284C7"/>
                </a:solidFill>
                <a:latin typeface="Arial"/>
                <a:cs typeface="Arial"/>
              </a:rPr>
              <a:t>←</a:t>
            </a:r>
          </a:p>
        </p:txBody>
      </p:sp>
      <p:sp>
        <p:nvSpPr>
          <p:cNvPr id="9" name="Rounded Rectangle 8"/>
          <p:cNvSpPr/>
          <p:nvPr/>
        </p:nvSpPr>
        <p:spPr>
          <a:xfrm>
            <a:off x="7964424" y="3291840"/>
            <a:ext cx="1645920" cy="1097280"/>
          </a:xfrm>
          <a:prstGeom prst="roundRect">
            <a:avLst/>
          </a:prstGeom>
          <a:solidFill>
            <a:srgbClr val="172A4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0" name="TextBox 9"/>
          <p:cNvSpPr txBox="1"/>
          <p:nvPr/>
        </p:nvSpPr>
        <p:spPr>
          <a:xfrm>
            <a:off x="8010144" y="3474720"/>
            <a:ext cx="1554480" cy="731520"/>
          </a:xfrm>
          <a:prstGeom prst="rect">
            <a:avLst/>
          </a:prstGeom>
          <a:noFill/>
        </p:spPr>
        <p:txBody>
          <a:bodyPr wrap="none" rtlCol="1">
            <a:spAutoFit/>
          </a:bodyPr>
          <a:lstStyle/>
          <a:p>
            <a:pPr algn="ctr" rtl="1"/>
            <a:r>
              <a:rPr sz="1100" b="1" lang="ar-SA" altLang="en-US">
                <a:solidFill>
                  <a:srgbClr val="F8FAFC"/>
                </a:solidFill>
                <a:latin typeface="Arial"/>
                <a:cs typeface="Arial"/>
              </a:rPr>
              <a:t>الخطوة 2: تحديد البيانات والحقول</a:t>
            </a:r>
          </a:p>
        </p:txBody>
      </p:sp>
      <p:sp>
        <p:nvSpPr>
          <p:cNvPr id="11" name="TextBox 10"/>
          <p:cNvSpPr txBox="1"/>
          <p:nvPr/>
        </p:nvSpPr>
        <p:spPr>
          <a:xfrm>
            <a:off x="7799832" y="3657600"/>
            <a:ext cx="182880" cy="365760"/>
          </a:xfrm>
          <a:prstGeom prst="rect">
            <a:avLst/>
          </a:prstGeom>
          <a:noFill/>
        </p:spPr>
        <p:txBody>
          <a:bodyPr wrap="none" rtlCol="1">
            <a:spAutoFit/>
          </a:bodyPr>
          <a:lstStyle/>
          <a:p>
            <a:pPr algn="ctr" rtl="1"/>
            <a:r>
              <a:rPr sz="1400" b="1" lang="en-US" altLang="ar-SA">
                <a:solidFill>
                  <a:srgbClr val="0284C7"/>
                </a:solidFill>
                <a:latin typeface="Arial"/>
                <a:cs typeface="Arial"/>
              </a:rPr>
              <a:t>←</a:t>
            </a:r>
          </a:p>
        </p:txBody>
      </p:sp>
      <p:sp>
        <p:nvSpPr>
          <p:cNvPr id="12" name="Rounded Rectangle 11"/>
          <p:cNvSpPr/>
          <p:nvPr/>
        </p:nvSpPr>
        <p:spPr>
          <a:xfrm>
            <a:off x="6163056" y="3291840"/>
            <a:ext cx="1645920" cy="1097280"/>
          </a:xfrm>
          <a:prstGeom prst="roundRect">
            <a:avLst/>
          </a:prstGeom>
          <a:solidFill>
            <a:srgbClr val="172A4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3" name="TextBox 12"/>
          <p:cNvSpPr txBox="1"/>
          <p:nvPr/>
        </p:nvSpPr>
        <p:spPr>
          <a:xfrm>
            <a:off x="6208776" y="3474720"/>
            <a:ext cx="1554480" cy="731520"/>
          </a:xfrm>
          <a:prstGeom prst="rect">
            <a:avLst/>
          </a:prstGeom>
          <a:noFill/>
        </p:spPr>
        <p:txBody>
          <a:bodyPr wrap="none" rtlCol="1">
            <a:spAutoFit/>
          </a:bodyPr>
          <a:lstStyle/>
          <a:p>
            <a:pPr algn="ctr" rtl="1"/>
            <a:r>
              <a:rPr sz="1100" b="1" lang="ar-SA" altLang="en-US">
                <a:solidFill>
                  <a:srgbClr val="F8FAFC"/>
                </a:solidFill>
                <a:latin typeface="Arial"/>
                <a:cs typeface="Arial"/>
              </a:rPr>
              <a:t>الخطوة 3: تحديد آلية إصدار الشهادة</a:t>
            </a:r>
          </a:p>
        </p:txBody>
      </p:sp>
      <p:sp>
        <p:nvSpPr>
          <p:cNvPr id="14" name="TextBox 13"/>
          <p:cNvSpPr txBox="1"/>
          <p:nvPr/>
        </p:nvSpPr>
        <p:spPr>
          <a:xfrm>
            <a:off x="5998464" y="3657600"/>
            <a:ext cx="182880" cy="365760"/>
          </a:xfrm>
          <a:prstGeom prst="rect">
            <a:avLst/>
          </a:prstGeom>
          <a:noFill/>
        </p:spPr>
        <p:txBody>
          <a:bodyPr wrap="none" rtlCol="1">
            <a:spAutoFit/>
          </a:bodyPr>
          <a:lstStyle/>
          <a:p>
            <a:pPr algn="ctr" rtl="1"/>
            <a:r>
              <a:rPr sz="1400" b="1" lang="en-US" altLang="ar-SA">
                <a:solidFill>
                  <a:srgbClr val="0284C7"/>
                </a:solidFill>
                <a:latin typeface="Arial"/>
                <a:cs typeface="Arial"/>
              </a:rPr>
              <a:t>←</a:t>
            </a:r>
          </a:p>
        </p:txBody>
      </p:sp>
      <p:sp>
        <p:nvSpPr>
          <p:cNvPr id="15" name="Rounded Rectangle 14"/>
          <p:cNvSpPr/>
          <p:nvPr/>
        </p:nvSpPr>
        <p:spPr>
          <a:xfrm>
            <a:off x="4361688" y="3291840"/>
            <a:ext cx="1645920" cy="1097280"/>
          </a:xfrm>
          <a:prstGeom prst="roundRect">
            <a:avLst/>
          </a:prstGeom>
          <a:solidFill>
            <a:srgbClr val="172A4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6" name="TextBox 15"/>
          <p:cNvSpPr txBox="1"/>
          <p:nvPr/>
        </p:nvSpPr>
        <p:spPr>
          <a:xfrm>
            <a:off x="4407408" y="3474720"/>
            <a:ext cx="1554480" cy="731520"/>
          </a:xfrm>
          <a:prstGeom prst="rect">
            <a:avLst/>
          </a:prstGeom>
          <a:noFill/>
        </p:spPr>
        <p:txBody>
          <a:bodyPr wrap="none" rtlCol="1">
            <a:spAutoFit/>
          </a:bodyPr>
          <a:lstStyle/>
          <a:p>
            <a:pPr algn="ctr" rtl="1"/>
            <a:r>
              <a:rPr sz="1100" b="1" lang="ar-SA" altLang="en-US">
                <a:solidFill>
                  <a:srgbClr val="F8FAFC"/>
                </a:solidFill>
                <a:latin typeface="Arial"/>
                <a:cs typeface="Arial"/>
              </a:rPr>
              <a:t>الخطوة 4: متطلبات الأرشفة والاسترجاع</a:t>
            </a:r>
          </a:p>
        </p:txBody>
      </p:sp>
      <p:sp>
        <p:nvSpPr>
          <p:cNvPr id="17" name="TextBox 16"/>
          <p:cNvSpPr txBox="1"/>
          <p:nvPr/>
        </p:nvSpPr>
        <p:spPr>
          <a:xfrm>
            <a:off x="4197096" y="3657600"/>
            <a:ext cx="182880" cy="365760"/>
          </a:xfrm>
          <a:prstGeom prst="rect">
            <a:avLst/>
          </a:prstGeom>
          <a:noFill/>
        </p:spPr>
        <p:txBody>
          <a:bodyPr wrap="none" rtlCol="1">
            <a:spAutoFit/>
          </a:bodyPr>
          <a:lstStyle/>
          <a:p>
            <a:pPr algn="ctr" rtl="1"/>
            <a:r>
              <a:rPr sz="1400" b="1" lang="en-US" altLang="ar-SA">
                <a:solidFill>
                  <a:srgbClr val="0284C7"/>
                </a:solidFill>
                <a:latin typeface="Arial"/>
                <a:cs typeface="Arial"/>
              </a:rPr>
              <a:t>←</a:t>
            </a:r>
          </a:p>
        </p:txBody>
      </p:sp>
      <p:sp>
        <p:nvSpPr>
          <p:cNvPr id="18" name="Rounded Rectangle 17"/>
          <p:cNvSpPr/>
          <p:nvPr/>
        </p:nvSpPr>
        <p:spPr>
          <a:xfrm>
            <a:off x="2560320" y="3291840"/>
            <a:ext cx="1645920" cy="1097280"/>
          </a:xfrm>
          <a:prstGeom prst="roundRect">
            <a:avLst/>
          </a:prstGeom>
          <a:solidFill>
            <a:srgbClr val="172A4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9" name="TextBox 18"/>
          <p:cNvSpPr txBox="1"/>
          <p:nvPr/>
        </p:nvSpPr>
        <p:spPr>
          <a:xfrm>
            <a:off x="2606040" y="3474720"/>
            <a:ext cx="1554480" cy="731520"/>
          </a:xfrm>
          <a:prstGeom prst="rect">
            <a:avLst/>
          </a:prstGeom>
          <a:noFill/>
        </p:spPr>
        <p:txBody>
          <a:bodyPr wrap="none" rtlCol="1">
            <a:spAutoFit/>
          </a:bodyPr>
          <a:lstStyle/>
          <a:p>
            <a:pPr algn="ctr" rtl="1"/>
            <a:r>
              <a:rPr sz="1100" b="1" lang="ar-SA" altLang="en-US">
                <a:solidFill>
                  <a:srgbClr val="F8FAFC"/>
                </a:solidFill>
                <a:latin typeface="Arial"/>
                <a:cs typeface="Arial"/>
              </a:rPr>
              <a:t>الخطوة 5: بناء المنظومة الرقمية</a:t>
            </a:r>
          </a:p>
        </p:txBody>
      </p:sp>
      <p:sp>
        <p:nvSpPr>
          <p:cNvPr id="20" name="TextBox 19"/>
          <p:cNvSpPr txBox="1"/>
          <p:nvPr/>
        </p:nvSpPr>
        <p:spPr>
          <a:xfrm>
            <a:off x="2395728" y="3657600"/>
            <a:ext cx="182880" cy="365760"/>
          </a:xfrm>
          <a:prstGeom prst="rect">
            <a:avLst/>
          </a:prstGeom>
          <a:noFill/>
        </p:spPr>
        <p:txBody>
          <a:bodyPr wrap="none" rtlCol="1">
            <a:spAutoFit/>
          </a:bodyPr>
          <a:lstStyle/>
          <a:p>
            <a:pPr algn="ctr" rtl="1"/>
            <a:r>
              <a:rPr sz="1400" b="1" lang="en-US" altLang="ar-SA">
                <a:solidFill>
                  <a:srgbClr val="0284C7"/>
                </a:solidFill>
                <a:latin typeface="Arial"/>
                <a:cs typeface="Arial"/>
              </a:rPr>
              <a:t>←</a:t>
            </a:r>
          </a:p>
        </p:txBody>
      </p:sp>
      <p:sp>
        <p:nvSpPr>
          <p:cNvPr id="21" name="Rounded Rectangle 20"/>
          <p:cNvSpPr/>
          <p:nvPr/>
        </p:nvSpPr>
        <p:spPr>
          <a:xfrm>
            <a:off x="758952" y="3291840"/>
            <a:ext cx="1645920" cy="1097280"/>
          </a:xfrm>
          <a:prstGeom prst="roundRect">
            <a:avLst/>
          </a:prstGeom>
          <a:solidFill>
            <a:srgbClr val="172A4D"/>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2" name="TextBox 21"/>
          <p:cNvSpPr txBox="1"/>
          <p:nvPr/>
        </p:nvSpPr>
        <p:spPr>
          <a:xfrm>
            <a:off x="804672" y="3474720"/>
            <a:ext cx="1554480" cy="731520"/>
          </a:xfrm>
          <a:prstGeom prst="rect">
            <a:avLst/>
          </a:prstGeom>
          <a:noFill/>
        </p:spPr>
        <p:txBody>
          <a:bodyPr wrap="none" rtlCol="1">
            <a:spAutoFit/>
          </a:bodyPr>
          <a:lstStyle/>
          <a:p>
            <a:pPr algn="ctr" rtl="1"/>
            <a:r>
              <a:rPr sz="1100" b="1" lang="ar-SA" altLang="en-US">
                <a:solidFill>
                  <a:srgbClr val="D97706"/>
                </a:solidFill>
                <a:latin typeface="Arial"/>
                <a:cs typeface="Arial"/>
              </a:rPr>
              <a:t>الخطوة 6: إضافة رمز </a:t>
            </a:r>
            <a:r>
              <a:rPr sz="1100" b="1" lang="en-US" altLang="ar-SA">
                <a:solidFill>
                  <a:srgbClr val="D97706"/>
                </a:solidFill>
                <a:latin typeface="Arial"/>
              </a:rPr>
              <a:t>QR Code</a:t>
            </a:r>
          </a:p>
        </p:txBody>
      </p:sp>
      <p:sp>
        <p:nvSpPr>
          <p:cNvPr id="23" name="Rounded Rectangle 22"/>
          <p:cNvSpPr/>
          <p:nvPr/>
        </p:nvSpPr>
        <p:spPr>
          <a:xfrm>
            <a:off x="1371600" y="4663440"/>
            <a:ext cx="9448495" cy="1188720"/>
          </a:xfrm>
          <a:prstGeom prst="roundRect">
            <a:avLst/>
          </a:prstGeom>
          <a:solidFill>
            <a:srgbClr val="172A4D"/>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4" name="TextBox 23"/>
          <p:cNvSpPr txBox="1"/>
          <p:nvPr/>
        </p:nvSpPr>
        <p:spPr>
          <a:xfrm>
            <a:off x="1554480" y="4800600"/>
            <a:ext cx="9082735" cy="914400"/>
          </a:xfrm>
          <a:prstGeom prst="rect">
            <a:avLst/>
          </a:prstGeom>
          <a:noFill/>
        </p:spPr>
        <p:txBody>
          <a:bodyPr wrap="none" rtlCol="1">
            <a:spAutoFit/>
          </a:bodyPr>
          <a:lstStyle/>
          <a:p>
            <a:pPr algn="ctr" rtl="1"/>
            <a:r>
              <a:rPr sz="1600" b="1" lang="ar-SA" altLang="en-US">
                <a:solidFill>
                  <a:srgbClr val="D97706"/>
                </a:solidFill>
                <a:latin typeface="Arial"/>
                <a:cs typeface="Arial"/>
              </a:rPr>
              <a:t>«وهنا يبدأ دور الزميل إدريس في الجانب البرمجي»</a:t>
            </a:r>
          </a:p>
          <a:p>
            <a:pPr algn="ctr" rtl="1">
              <a:spcBef>
                <a:spcPts val="400"/>
              </a:spcBef>
            </a:pPr>
            <a:r>
              <a:rPr sz="1150" b="0" lang="ar-SA" altLang="en-US">
                <a:solidFill>
                  <a:srgbClr val="F8FAFC"/>
                </a:solidFill>
                <a:latin typeface="Arial"/>
                <a:cs typeface="Arial"/>
              </a:rPr>
              <a:t>تحويل المتطلبات الفنية والمترولوجية إلى حل رقمي متكامل يجمع بين قاعدة البيانات المحلية، آلية الإصدار، والتوقيع الرقمي، ورمز الاستجابة السريعة.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rtlCol="1">
            <a:spAutoFit/>
          </a:bodyPr>
          <a:lstStyle/>
          <a:p>
            <a:pPr algn="r" rtl="1"/>
            <a:r>
              <a:rPr sz="1050" b="1" lang="ar-SA" altLang="en-US">
                <a:solidFill>
                  <a:srgbClr val="D97706"/>
                </a:solidFill>
                <a:latin typeface="Arial"/>
                <a:cs typeface="Arial"/>
              </a:rPr>
              <a:t>الشريحة 9 — إدريس: منظومة </a:t>
            </a:r>
            <a:r>
              <a:rPr sz="1050" b="1" lang="en-US" altLang="ar-SA">
                <a:solidFill>
                  <a:srgbClr val="D97706"/>
                </a:solidFill>
                <a:latin typeface="Arial"/>
              </a:rPr>
              <a:t>CAL-QR</a:t>
            </a:r>
          </a:p>
          <a:p>
            <a:pPr algn="r" rtl="1">
              <a:spcBef>
                <a:spcPts val="200"/>
              </a:spcBef>
            </a:pPr>
            <a:r>
              <a:rPr sz="2100" b="1" lang="ar-SA" altLang="en-US">
                <a:solidFill>
                  <a:srgbClr val="1E3A8A"/>
                </a:solidFill>
                <a:latin typeface="Arial"/>
                <a:cs typeface="Arial"/>
              </a:rPr>
              <a:t>منظومة </a:t>
            </a:r>
            <a:r>
              <a:rPr sz="2100" b="1" lang="en-US" altLang="ar-SA">
                <a:solidFill>
                  <a:srgbClr val="1E3A8A"/>
                </a:solidFill>
                <a:latin typeface="Arial"/>
              </a:rPr>
              <a:t>CAL-QR</a:t>
            </a:r>
            <a:r>
              <a:rPr sz="2100" b="1" lang="ar-SA" altLang="en-US">
                <a:solidFill>
                  <a:srgbClr val="1E3A8A"/>
                </a:solidFill>
                <a:latin typeface="Arial"/>
                <a:cs typeface="Arial"/>
              </a:rPr>
              <a:t> — الفكرة والمتطلبات ودور البرمجة</a:t>
            </a:r>
          </a:p>
        </p:txBody>
      </p:sp>
      <p:sp>
        <p:nvSpPr>
          <p:cNvPr id="3" name="Rectangle 2"/>
          <p:cNvSpPr/>
          <p:nvPr/>
        </p:nvSpPr>
        <p:spPr>
          <a:xfrm>
            <a:off x="731520" y="1207008"/>
            <a:ext cx="10728655" cy="18288"/>
          </a:xfrm>
          <a:prstGeom prst="rect">
            <a:avLst/>
          </a:prstGeom>
          <a:solidFill>
            <a:srgbClr val="DBE5F0"/>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82512"/>
            <a:ext cx="10728655" cy="292608"/>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9 من 14</a:t>
            </a:r>
          </a:p>
        </p:txBody>
      </p:sp>
      <p:sp>
        <p:nvSpPr>
          <p:cNvPr id="5" name="Rounded Rectangle 4"/>
          <p:cNvSpPr/>
          <p:nvPr/>
        </p:nvSpPr>
        <p:spPr>
          <a:xfrm>
            <a:off x="731520" y="1417320"/>
            <a:ext cx="32918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pic>
        <p:nvPicPr>
          <p:cNvPr id="6" name="Picture 5" descr="cal-qr logo.png"/>
          <p:cNvPicPr>
            <a:picLocks noChangeAspect="1"/>
          </p:cNvPicPr>
          <p:nvPr/>
        </p:nvPicPr>
        <p:blipFill>
          <a:blip r:embed="rId2"/>
          <a:stretch>
            <a:fillRect/>
          </a:stretch>
        </p:blipFill>
        <p:spPr>
          <a:xfrm>
            <a:off x="1005840" y="1600200"/>
            <a:ext cx="2743200" cy="2743200"/>
          </a:xfrm>
          <a:prstGeom prst="rect">
            <a:avLst/>
          </a:prstGeom>
        </p:spPr>
      </p:pic>
      <p:sp>
        <p:nvSpPr>
          <p:cNvPr id="7" name="TextBox 6"/>
          <p:cNvSpPr txBox="1"/>
          <p:nvPr/>
        </p:nvSpPr>
        <p:spPr>
          <a:xfrm>
            <a:off x="822960" y="4480560"/>
            <a:ext cx="3108960" cy="1508760"/>
          </a:xfrm>
          <a:prstGeom prst="rect">
            <a:avLst/>
          </a:prstGeom>
          <a:noFill/>
        </p:spPr>
        <p:txBody>
          <a:bodyPr wrap="square" rtlCol="1">
            <a:spAutoFit/>
          </a:bodyPr>
          <a:lstStyle/>
          <a:p>
            <a:pPr algn="ctr" rtl="1"/>
            <a:r>
              <a:rPr sz="1100" b="1" lang="ar-SA" altLang="en-US">
                <a:solidFill>
                  <a:srgbClr val="1E3A8A"/>
                </a:solidFill>
                <a:latin typeface="Arial"/>
                <a:cs typeface="Arial"/>
              </a:rPr>
              <a:t>منظومة شهادات المعايرة الرقمية </a:t>
            </a:r>
            <a:r>
              <a:rPr sz="1100" b="1" lang="en-US" altLang="ar-SA">
                <a:solidFill>
                  <a:srgbClr val="1E3A8A"/>
                </a:solidFill>
                <a:latin typeface="Arial"/>
              </a:rPr>
              <a:t>CAL-QR</a:t>
            </a:r>
          </a:p>
          <a:p>
            <a:pPr algn="ctr" rtl="1">
              <a:spcBef>
                <a:spcPts val="100"/>
              </a:spcBef>
            </a:pPr>
            <a:r>
              <a:rPr sz="950" b="1" lang="en-US" altLang="ar-SA">
                <a:solidFill>
                  <a:srgbClr val="0284C7"/>
                </a:solidFill>
                <a:latin typeface="Arial"/>
              </a:rPr>
              <a:t>Digital Calibration Certificate System</a:t>
            </a:r>
          </a:p>
          <a:p>
            <a:pPr algn="r" rtl="1">
              <a:spcBef>
                <a:spcPts val="300"/>
              </a:spcBef>
            </a:pPr>
            <a:r>
              <a:rPr sz="950" b="0" lang="ar-SA" altLang="en-US">
                <a:solidFill>
                  <a:srgbClr val="475569"/>
                </a:solidFill>
                <a:latin typeface="Arial"/>
                <a:cs typeface="Arial"/>
              </a:rPr>
              <a:t>فكرة المنظومة: منظومة رقمية مخصصة لإدارة شهادات المعايرة، بدءًا من إدخال البيانات، مرورًا بإصدار الشهادة، وصولًا إلى حفظها وأرشفتها والوصول إليها عبر </a:t>
            </a:r>
            <a:r>
              <a:rPr sz="950" b="0" lang="en-US" altLang="ar-SA">
                <a:solidFill>
                  <a:srgbClr val="475569"/>
                </a:solidFill>
                <a:latin typeface="Arial"/>
              </a:rPr>
              <a:t>QR Code.</a:t>
            </a:r>
          </a:p>
        </p:txBody>
      </p:sp>
      <p:sp>
        <p:nvSpPr>
          <p:cNvPr id="8" name="Rounded Rectangle 7"/>
          <p:cNvSpPr/>
          <p:nvPr/>
        </p:nvSpPr>
        <p:spPr>
          <a:xfrm>
            <a:off x="4297680" y="1417320"/>
            <a:ext cx="713232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9" name="Rectangle 8"/>
          <p:cNvSpPr/>
          <p:nvPr/>
        </p:nvSpPr>
        <p:spPr>
          <a:xfrm>
            <a:off x="4297680" y="1417320"/>
            <a:ext cx="713232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0" name="TextBox 9"/>
          <p:cNvSpPr txBox="1"/>
          <p:nvPr/>
        </p:nvSpPr>
        <p:spPr>
          <a:xfrm>
            <a:off x="4480560" y="1536192"/>
            <a:ext cx="6766560" cy="2148840"/>
          </a:xfrm>
          <a:prstGeom prst="rect">
            <a:avLst/>
          </a:prstGeom>
          <a:noFill/>
        </p:spPr>
        <p:txBody>
          <a:bodyPr wrap="square" rtlCol="1">
            <a:spAutoFit/>
          </a:bodyPr>
          <a:lstStyle/>
          <a:p>
            <a:pPr algn="r" rtl="1"/>
            <a:r>
              <a:rPr sz="1350" b="1" lang="ar-SA" altLang="en-US">
                <a:solidFill>
                  <a:srgbClr val="1E3A8A"/>
                </a:solidFill>
                <a:latin typeface="Arial"/>
                <a:cs typeface="Arial"/>
              </a:rPr>
              <a:t>المتطلبات العلمية والفنية (تم تحديدها قبل البرمجة وتشمل):</a:t>
            </a:r>
          </a:p>
          <a:p>
            <a:pPr algn="r" rtl="1">
              <a:spcBef>
                <a:spcPts val="400"/>
              </a:spcBef>
            </a:pPr>
            <a:r>
              <a:rPr sz="1100" b="0" lang="ar-SA" altLang="en-US">
                <a:solidFill>
                  <a:srgbClr val="0F172A"/>
                </a:solidFill>
                <a:latin typeface="Arial"/>
                <a:cs typeface="Arial"/>
              </a:rPr>
              <a:t>• محتوى شهادة المعايرة. • بيانات الجهاز. • بيانات المعايرة. • النتائج.</a:t>
            </a:r>
          </a:p>
          <a:p>
            <a:pPr algn="r" rtl="1">
              <a:spcBef>
                <a:spcPts val="300"/>
              </a:spcBef>
            </a:pPr>
            <a:r>
              <a:rPr sz="1100" b="0" lang="ar-SA" altLang="en-US">
                <a:solidFill>
                  <a:srgbClr val="0F172A"/>
                </a:solidFill>
                <a:latin typeface="Arial"/>
                <a:cs typeface="Arial"/>
              </a:rPr>
              <a:t>• الحقول المطلوبة. • طريقة عرض البيانات. • متطلبات التوثيق. • آلية إصدار الشهادة.</a:t>
            </a:r>
          </a:p>
          <a:p>
            <a:pPr algn="r" rtl="1">
              <a:spcBef>
                <a:spcPts val="400"/>
              </a:spcBef>
            </a:pPr>
            <a:r>
              <a:rPr sz="1000" b="0" lang="ar-SA" altLang="en-US">
                <a:solidFill>
                  <a:srgbClr val="475569"/>
                </a:solidFill>
                <a:latin typeface="Arial"/>
                <a:cs typeface="Arial"/>
              </a:rPr>
              <a:t>جميع هذه المتطلبات اعتمدت فكرياً وعلمياً وفق </a:t>
            </a:r>
            <a:r>
              <a:rPr sz="1000" b="0" lang="en-US" altLang="ar-SA">
                <a:solidFill>
                  <a:srgbClr val="475569"/>
                </a:solidFill>
                <a:latin typeface="Arial"/>
              </a:rPr>
              <a:t>ISO/IEC 17025</a:t>
            </a:r>
            <a:r>
              <a:rPr sz="1000" b="0" lang="ar-SA" altLang="en-US">
                <a:solidFill>
                  <a:srgbClr val="475569"/>
                </a:solidFill>
                <a:latin typeface="Arial"/>
                <a:cs typeface="Arial"/>
              </a:rPr>
              <a:t> لتشكل الأساس البرمجي للمنظومة.</a:t>
            </a:r>
          </a:p>
        </p:txBody>
      </p:sp>
      <p:sp>
        <p:nvSpPr>
          <p:cNvPr id="11" name="Rounded Rectangle 10"/>
          <p:cNvSpPr/>
          <p:nvPr/>
        </p:nvSpPr>
        <p:spPr>
          <a:xfrm>
            <a:off x="4297680" y="3977639"/>
            <a:ext cx="713232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2" name="Rectangle 11"/>
          <p:cNvSpPr/>
          <p:nvPr/>
        </p:nvSpPr>
        <p:spPr>
          <a:xfrm>
            <a:off x="4297680" y="3977639"/>
            <a:ext cx="713232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3" name="TextBox 12"/>
          <p:cNvSpPr txBox="1"/>
          <p:nvPr/>
        </p:nvSpPr>
        <p:spPr>
          <a:xfrm>
            <a:off x="4480560" y="4069080"/>
            <a:ext cx="6766560" cy="1965960"/>
          </a:xfrm>
          <a:prstGeom prst="rect">
            <a:avLst/>
          </a:prstGeom>
          <a:noFill/>
        </p:spPr>
        <p:txBody>
          <a:bodyPr wrap="square" rtlCol="1">
            <a:spAutoFit/>
          </a:bodyPr>
          <a:lstStyle/>
          <a:p>
            <a:pPr algn="r" rtl="1"/>
            <a:r>
              <a:rPr sz="1350" b="1" lang="ar-SA" altLang="en-US">
                <a:solidFill>
                  <a:srgbClr val="1E3A8A"/>
                </a:solidFill>
                <a:latin typeface="Arial"/>
                <a:cs typeface="Arial"/>
              </a:rPr>
              <a:t>دور إدريس في تحويل هذه المتطلبات إلى نظام رقمي متكامل:</a:t>
            </a:r>
          </a:p>
          <a:p>
            <a:pPr algn="r" rtl="1">
              <a:spcBef>
                <a:spcPts val="400"/>
              </a:spcBef>
            </a:pPr>
            <a:r>
              <a:rPr sz="1150" b="0" lang="ar-SA" altLang="en-US">
                <a:solidFill>
                  <a:srgbClr val="0F172A"/>
                </a:solidFill>
                <a:latin typeface="Arial"/>
                <a:cs typeface="Arial"/>
              </a:rPr>
              <a:t>✔ تصميم قاعدة البيانات. • إنشاء واجهة النظام. • برمجة وظائف إصدار الشهادة.</a:t>
            </a:r>
          </a:p>
          <a:p>
            <a:pPr algn="r" rtl="1">
              <a:spcBef>
                <a:spcPts val="300"/>
              </a:spcBef>
            </a:pPr>
            <a:r>
              <a:rPr sz="1150" b="0" lang="ar-SA" altLang="en-US">
                <a:solidFill>
                  <a:srgbClr val="0F172A"/>
                </a:solidFill>
                <a:latin typeface="Arial"/>
                <a:cs typeface="Arial"/>
              </a:rPr>
              <a:t>✔ تنظيم وتخزين البيانات. • تطوير البحث والاسترجاع. • إنشاء </a:t>
            </a:r>
            <a:r>
              <a:rPr sz="1150" b="0" lang="en-US" altLang="ar-SA">
                <a:solidFill>
                  <a:srgbClr val="0F172A"/>
                </a:solidFill>
                <a:latin typeface="Arial"/>
              </a:rPr>
              <a:t>QR Code</a:t>
            </a:r>
            <a:r>
              <a:rPr sz="1150" b="0" lang="ar-SA" altLang="en-US">
                <a:solidFill>
                  <a:srgbClr val="0F172A"/>
                </a:solidFill>
                <a:latin typeface="Arial"/>
                <a:cs typeface="Arial"/>
              </a:rPr>
              <a:t> وربطه بالشهادة.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rtlCol="1">
            <a:spAutoFit/>
          </a:bodyPr>
          <a:lstStyle/>
          <a:p>
            <a:pPr algn="r" rtl="1"/>
            <a:r>
              <a:rPr sz="1050" b="1" lang="ar-SA" altLang="en-US">
                <a:solidFill>
                  <a:srgbClr val="D97706"/>
                </a:solidFill>
                <a:latin typeface="Arial"/>
                <a:cs typeface="Arial"/>
              </a:rPr>
              <a:t>الشريحة 10 — آلية العمل والوظائف</a:t>
            </a:r>
          </a:p>
          <a:p>
            <a:pPr algn="r" rtl="1">
              <a:spcBef>
                <a:spcPts val="200"/>
              </a:spcBef>
            </a:pPr>
            <a:r>
              <a:rPr sz="2100" b="1" lang="ar-SA" altLang="en-US">
                <a:solidFill>
                  <a:srgbClr val="1E3A8A"/>
                </a:solidFill>
                <a:latin typeface="Arial"/>
                <a:cs typeface="Arial"/>
              </a:rPr>
              <a:t>منظومة </a:t>
            </a:r>
            <a:r>
              <a:rPr sz="2100" b="1" lang="en-US" altLang="ar-SA">
                <a:solidFill>
                  <a:srgbClr val="1E3A8A"/>
                </a:solidFill>
                <a:latin typeface="Arial"/>
              </a:rPr>
              <a:t>CAL-QR</a:t>
            </a:r>
            <a:r>
              <a:rPr sz="2100" b="1" lang="ar-SA" altLang="en-US">
                <a:solidFill>
                  <a:srgbClr val="1E3A8A"/>
                </a:solidFill>
                <a:latin typeface="Arial"/>
                <a:cs typeface="Arial"/>
              </a:rPr>
              <a:t> — آلية العمل والوظائف الرئيسية</a:t>
            </a:r>
          </a:p>
        </p:txBody>
      </p:sp>
      <p:sp>
        <p:nvSpPr>
          <p:cNvPr id="3" name="Rectangle 2"/>
          <p:cNvSpPr/>
          <p:nvPr/>
        </p:nvSpPr>
        <p:spPr>
          <a:xfrm>
            <a:off x="731520" y="1207008"/>
            <a:ext cx="10728655" cy="18288"/>
          </a:xfrm>
          <a:prstGeom prst="rect">
            <a:avLst/>
          </a:prstGeom>
          <a:solidFill>
            <a:srgbClr val="DBE5F0"/>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82512"/>
            <a:ext cx="10728655" cy="292608"/>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10 من 14</a:t>
            </a:r>
          </a:p>
        </p:txBody>
      </p:sp>
      <p:sp>
        <p:nvSpPr>
          <p:cNvPr id="5" name="Rounded Rectangle 4"/>
          <p:cNvSpPr/>
          <p:nvPr/>
        </p:nvSpPr>
        <p:spPr>
          <a:xfrm>
            <a:off x="6217920" y="14173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6" name="Rectangle 5"/>
          <p:cNvSpPr/>
          <p:nvPr/>
        </p:nvSpPr>
        <p:spPr>
          <a:xfrm>
            <a:off x="6217920" y="1417320"/>
            <a:ext cx="521208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6400800" y="1554480"/>
            <a:ext cx="4846320" cy="4297680"/>
          </a:xfrm>
          <a:prstGeom prst="rect">
            <a:avLst/>
          </a:prstGeom>
          <a:noFill/>
        </p:spPr>
        <p:txBody>
          <a:bodyPr wrap="square" rtlCol="1">
            <a:spAutoFit/>
          </a:bodyPr>
          <a:lstStyle/>
          <a:p>
            <a:pPr algn="r" rtl="1"/>
            <a:r>
              <a:rPr sz="1400" b="1" lang="ar-SA" altLang="en-US">
                <a:solidFill>
                  <a:srgbClr val="1E3A8A"/>
                </a:solidFill>
                <a:latin typeface="Arial"/>
                <a:cs typeface="Arial"/>
              </a:rPr>
              <a:t>مسار آلية عمل المنظومة — دورة العمل </a:t>
            </a:r>
            <a:r>
              <a:rPr sz="1400" b="1" lang="en-US" altLang="ar-SA">
                <a:solidFill>
                  <a:srgbClr val="1E3A8A"/>
                </a:solidFill>
                <a:latin typeface="Arial"/>
              </a:rPr>
              <a:t>Workflow:</a:t>
            </a:r>
          </a:p>
          <a:p>
            <a:pPr algn="r" rtl="1">
              <a:spcBef>
                <a:spcPts val="400"/>
              </a:spcBef>
            </a:pPr>
            <a:r>
              <a:rPr sz="1150" b="0" lang="ar-SA" altLang="en-US">
                <a:solidFill>
                  <a:srgbClr val="0F172A"/>
                </a:solidFill>
                <a:latin typeface="Arial"/>
                <a:cs typeface="Arial"/>
              </a:rPr>
              <a:t>⬇  خطوة 1: إدخال بيانات الجهاز</a:t>
            </a:r>
          </a:p>
          <a:p>
            <a:pPr algn="r" rtl="1">
              <a:spcBef>
                <a:spcPts val="400"/>
              </a:spcBef>
            </a:pPr>
            <a:r>
              <a:rPr sz="1150" b="0" lang="ar-SA" altLang="en-US">
                <a:solidFill>
                  <a:srgbClr val="0F172A"/>
                </a:solidFill>
                <a:latin typeface="Arial"/>
                <a:cs typeface="Arial"/>
              </a:rPr>
              <a:t>⬇  خطوة 2: إدخال بيانات المعايرة والنتائج</a:t>
            </a:r>
          </a:p>
          <a:p>
            <a:pPr algn="r" rtl="1">
              <a:spcBef>
                <a:spcPts val="400"/>
              </a:spcBef>
            </a:pPr>
            <a:r>
              <a:rPr sz="1150" b="0" lang="ar-SA" altLang="en-US">
                <a:solidFill>
                  <a:srgbClr val="0F172A"/>
                </a:solidFill>
                <a:latin typeface="Arial"/>
                <a:cs typeface="Arial"/>
              </a:rPr>
              <a:t>⬇  خطوة 3: إنشاء شهادة المعايرة</a:t>
            </a:r>
          </a:p>
          <a:p>
            <a:pPr algn="r" rtl="1">
              <a:spcBef>
                <a:spcPts val="400"/>
              </a:spcBef>
            </a:pPr>
            <a:r>
              <a:rPr sz="1150" b="0" lang="ar-SA" altLang="en-US">
                <a:solidFill>
                  <a:srgbClr val="0F172A"/>
                </a:solidFill>
                <a:latin typeface="Arial"/>
                <a:cs typeface="Arial"/>
              </a:rPr>
              <a:t>⬇  خطوة 4: تسجيل الشهادة في قاعدة البيانات</a:t>
            </a:r>
          </a:p>
          <a:p>
            <a:pPr algn="r" rtl="1">
              <a:spcBef>
                <a:spcPts val="400"/>
              </a:spcBef>
            </a:pPr>
            <a:r>
              <a:rPr sz="1150" b="0" lang="ar-SA" altLang="en-US">
                <a:solidFill>
                  <a:srgbClr val="0F172A"/>
                </a:solidFill>
                <a:latin typeface="Arial"/>
                <a:cs typeface="Arial"/>
              </a:rPr>
              <a:t>⬇  خطوة 5: أرشفة الشهادة إلكترونياً</a:t>
            </a:r>
          </a:p>
          <a:p>
            <a:pPr algn="r" rtl="1">
              <a:spcBef>
                <a:spcPts val="400"/>
              </a:spcBef>
            </a:pPr>
            <a:r>
              <a:rPr sz="1150" b="0" lang="ar-SA" altLang="en-US">
                <a:solidFill>
                  <a:srgbClr val="0F172A"/>
                </a:solidFill>
                <a:latin typeface="Arial"/>
                <a:cs typeface="Arial"/>
              </a:rPr>
              <a:t>⬇  خطوة 6: إنشاء رمز </a:t>
            </a:r>
            <a:r>
              <a:rPr sz="1150" b="0" lang="en-US" altLang="ar-SA">
                <a:solidFill>
                  <a:srgbClr val="0F172A"/>
                </a:solidFill>
                <a:latin typeface="Arial"/>
              </a:rPr>
              <a:t>QR Code</a:t>
            </a:r>
            <a:r>
              <a:rPr sz="1150" b="0" lang="ar-SA" altLang="en-US">
                <a:solidFill>
                  <a:srgbClr val="0F172A"/>
                </a:solidFill>
                <a:latin typeface="Arial"/>
                <a:cs typeface="Arial"/>
              </a:rPr>
              <a:t> والربط الذكي</a:t>
            </a:r>
          </a:p>
          <a:p>
            <a:pPr algn="r" rtl="1">
              <a:spcBef>
                <a:spcPts val="400"/>
              </a:spcBef>
            </a:pPr>
            <a:r>
              <a:rPr sz="1150" b="0" lang="ar-SA" altLang="en-US">
                <a:solidFill>
                  <a:srgbClr val="0F172A"/>
                </a:solidFill>
                <a:latin typeface="Arial"/>
                <a:cs typeface="Arial"/>
              </a:rPr>
              <a:t>⬇  خطوة 7: البحث والاسترجاع والتحقق الفوري</a:t>
            </a:r>
          </a:p>
        </p:txBody>
      </p:sp>
      <p:sp>
        <p:nvSpPr>
          <p:cNvPr id="8" name="Rounded Rectangle 7"/>
          <p:cNvSpPr/>
          <p:nvPr/>
        </p:nvSpPr>
        <p:spPr>
          <a:xfrm>
            <a:off x="731520" y="141732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9" name="Rectangle 8"/>
          <p:cNvSpPr/>
          <p:nvPr/>
        </p:nvSpPr>
        <p:spPr>
          <a:xfrm>
            <a:off x="731520" y="1417320"/>
            <a:ext cx="521208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0" name="TextBox 9"/>
          <p:cNvSpPr txBox="1"/>
          <p:nvPr/>
        </p:nvSpPr>
        <p:spPr>
          <a:xfrm>
            <a:off x="914400" y="1508760"/>
            <a:ext cx="4846320" cy="3108960"/>
          </a:xfrm>
          <a:prstGeom prst="rect">
            <a:avLst/>
          </a:prstGeom>
          <a:noFill/>
        </p:spPr>
        <p:txBody>
          <a:bodyPr wrap="square" rtlCol="1">
            <a:spAutoFit/>
          </a:bodyPr>
          <a:lstStyle/>
          <a:p>
            <a:pPr algn="r" rtl="1"/>
            <a:r>
              <a:rPr sz="1350" b="1" lang="ar-SA" altLang="en-US">
                <a:solidFill>
                  <a:srgbClr val="1E3A8A"/>
                </a:solidFill>
                <a:latin typeface="Arial"/>
                <a:cs typeface="Arial"/>
              </a:rPr>
              <a:t>أهم الوظائف المنجزة — سبع وظائف رئيسية بالمنظومة:</a:t>
            </a:r>
          </a:p>
          <a:p>
            <a:pPr algn="r" rtl="1">
              <a:spcBef>
                <a:spcPts val="200"/>
              </a:spcBef>
            </a:pPr>
            <a:r>
              <a:rPr sz="1100" b="0" lang="ar-SA" altLang="en-US">
                <a:solidFill>
                  <a:srgbClr val="0F172A"/>
                </a:solidFill>
                <a:latin typeface="Arial"/>
                <a:cs typeface="Arial"/>
              </a:rPr>
              <a:t>• إدارة بيانات الأجهزة.</a:t>
            </a:r>
          </a:p>
          <a:p>
            <a:pPr algn="r" rtl="1">
              <a:spcBef>
                <a:spcPts val="200"/>
              </a:spcBef>
            </a:pPr>
            <a:r>
              <a:rPr sz="1100" b="0" lang="ar-SA" altLang="en-US">
                <a:solidFill>
                  <a:srgbClr val="0F172A"/>
                </a:solidFill>
                <a:latin typeface="Arial"/>
                <a:cs typeface="Arial"/>
              </a:rPr>
              <a:t>• إدارة بيانات المعايرة.</a:t>
            </a:r>
          </a:p>
          <a:p>
            <a:pPr algn="r" rtl="1">
              <a:spcBef>
                <a:spcPts val="200"/>
              </a:spcBef>
            </a:pPr>
            <a:r>
              <a:rPr sz="1100" b="0" lang="ar-SA" altLang="en-US">
                <a:solidFill>
                  <a:srgbClr val="0F172A"/>
                </a:solidFill>
                <a:latin typeface="Arial"/>
                <a:cs typeface="Arial"/>
              </a:rPr>
              <a:t>• إصدار الشهادات.</a:t>
            </a:r>
          </a:p>
          <a:p>
            <a:pPr algn="r" rtl="1">
              <a:spcBef>
                <a:spcPts val="200"/>
              </a:spcBef>
            </a:pPr>
            <a:r>
              <a:rPr sz="1100" b="0" lang="ar-SA" altLang="en-US">
                <a:solidFill>
                  <a:srgbClr val="0F172A"/>
                </a:solidFill>
                <a:latin typeface="Arial"/>
                <a:cs typeface="Arial"/>
              </a:rPr>
              <a:t>• حفظ وأرشفة الشهادات.</a:t>
            </a:r>
          </a:p>
          <a:p>
            <a:pPr algn="r" rtl="1">
              <a:spcBef>
                <a:spcPts val="200"/>
              </a:spcBef>
            </a:pPr>
            <a:r>
              <a:rPr sz="1100" b="0" lang="ar-SA" altLang="en-US">
                <a:solidFill>
                  <a:srgbClr val="0F172A"/>
                </a:solidFill>
                <a:latin typeface="Arial"/>
                <a:cs typeface="Arial"/>
              </a:rPr>
              <a:t>• البحث والاسترجاع.</a:t>
            </a:r>
          </a:p>
          <a:p>
            <a:pPr algn="r" rtl="1">
              <a:spcBef>
                <a:spcPts val="200"/>
              </a:spcBef>
            </a:pPr>
            <a:r>
              <a:rPr sz="1100" b="0" lang="ar-SA" altLang="en-US">
                <a:solidFill>
                  <a:srgbClr val="0F172A"/>
                </a:solidFill>
                <a:latin typeface="Arial"/>
                <a:cs typeface="Arial"/>
              </a:rPr>
              <a:t>• إنشاء </a:t>
            </a:r>
            <a:r>
              <a:rPr sz="1100" b="0" lang="en-US" altLang="ar-SA">
                <a:solidFill>
                  <a:srgbClr val="0F172A"/>
                </a:solidFill>
                <a:latin typeface="Arial"/>
              </a:rPr>
              <a:t>QR Code.</a:t>
            </a:r>
          </a:p>
          <a:p>
            <a:pPr algn="r" rtl="1">
              <a:spcBef>
                <a:spcPts val="200"/>
              </a:spcBef>
            </a:pPr>
            <a:r>
              <a:rPr sz="1100" b="0" lang="ar-SA" altLang="en-US">
                <a:solidFill>
                  <a:srgbClr val="0F172A"/>
                </a:solidFill>
                <a:latin typeface="Arial"/>
                <a:cs typeface="Arial"/>
              </a:rPr>
              <a:t>• تسهيل الوصول إلى بيانات الشهادة.</a:t>
            </a:r>
          </a:p>
        </p:txBody>
      </p:sp>
      <p:sp>
        <p:nvSpPr>
          <p:cNvPr id="11" name="Rounded Rectangle 10"/>
          <p:cNvSpPr/>
          <p:nvPr/>
        </p:nvSpPr>
        <p:spPr>
          <a:xfrm>
            <a:off x="731520" y="4846320"/>
            <a:ext cx="5212080" cy="1234440"/>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2" name="TextBox 11"/>
          <p:cNvSpPr txBox="1"/>
          <p:nvPr/>
        </p:nvSpPr>
        <p:spPr>
          <a:xfrm>
            <a:off x="914400" y="4983480"/>
            <a:ext cx="4846320" cy="960120"/>
          </a:xfrm>
          <a:prstGeom prst="rect">
            <a:avLst/>
          </a:prstGeom>
          <a:noFill/>
        </p:spPr>
        <p:txBody>
          <a:bodyPr wrap="square" rtlCol="1">
            <a:spAutoFit/>
          </a:bodyPr>
          <a:lstStyle/>
          <a:p>
            <a:pPr algn="r" rtl="1"/>
            <a:r>
              <a:rPr sz="1300" b="1" lang="ar-SA" altLang="en-US">
                <a:solidFill>
                  <a:srgbClr val="1E3A8A"/>
                </a:solidFill>
                <a:latin typeface="Arial"/>
                <a:cs typeface="Arial"/>
              </a:rPr>
              <a:t>العرض البرمجي المباشر:</a:t>
            </a:r>
          </a:p>
          <a:p>
            <a:pPr algn="r" rtl="1">
              <a:spcBef>
                <a:spcPts val="200"/>
              </a:spcBef>
            </a:pPr>
            <a:r>
              <a:rPr sz="1150" b="1" lang="ar-SA" altLang="en-US">
                <a:solidFill>
                  <a:srgbClr val="0284C7"/>
                </a:solidFill>
                <a:latin typeface="Arial"/>
                <a:cs typeface="Arial"/>
              </a:rPr>
              <a:t>«يقوم إدريس بشرح واجهة المنظومة وقاعدة البيانات وآلية البرمجة والوظائف التي تم تطويرها»</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rtlCol="1">
            <a:spAutoFit/>
          </a:bodyPr>
          <a:lstStyle/>
          <a:p>
            <a:pPr algn="r" rtl="1"/>
            <a:r>
              <a:rPr sz="1050" b="1" lang="ar-SA" altLang="en-US">
                <a:solidFill>
                  <a:srgbClr val="D97706"/>
                </a:solidFill>
                <a:latin typeface="Arial"/>
                <a:cs typeface="Arial"/>
              </a:rPr>
              <a:t>الشريحة 11 — القيمة المضافة</a:t>
            </a:r>
          </a:p>
          <a:p>
            <a:pPr algn="r" rtl="1">
              <a:spcBef>
                <a:spcPts val="200"/>
              </a:spcBef>
            </a:pPr>
            <a:r>
              <a:rPr sz="2100" b="1" lang="ar-SA" altLang="en-US">
                <a:solidFill>
                  <a:srgbClr val="1E3A8A"/>
                </a:solidFill>
                <a:latin typeface="Arial"/>
                <a:cs typeface="Arial"/>
              </a:rPr>
              <a:t>منظومة </a:t>
            </a:r>
            <a:r>
              <a:rPr sz="2100" b="1" lang="en-US" altLang="ar-SA">
                <a:solidFill>
                  <a:srgbClr val="1E3A8A"/>
                </a:solidFill>
                <a:latin typeface="Arial"/>
              </a:rPr>
              <a:t>CAL-QR</a:t>
            </a:r>
            <a:r>
              <a:rPr sz="2100" b="1" lang="ar-SA" altLang="en-US">
                <a:solidFill>
                  <a:srgbClr val="1E3A8A"/>
                </a:solidFill>
                <a:latin typeface="Arial"/>
                <a:cs typeface="Arial"/>
              </a:rPr>
              <a:t> — القيمة المضافة ونقلة التحول الرقمي</a:t>
            </a:r>
          </a:p>
        </p:txBody>
      </p:sp>
      <p:sp>
        <p:nvSpPr>
          <p:cNvPr id="3" name="Rectangle 2"/>
          <p:cNvSpPr/>
          <p:nvPr/>
        </p:nvSpPr>
        <p:spPr>
          <a:xfrm>
            <a:off x="731520" y="1207008"/>
            <a:ext cx="10728655" cy="18288"/>
          </a:xfrm>
          <a:prstGeom prst="rect">
            <a:avLst/>
          </a:prstGeom>
          <a:solidFill>
            <a:srgbClr val="DBE5F0"/>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82512"/>
            <a:ext cx="10728655" cy="292608"/>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11 من 14</a:t>
            </a:r>
          </a:p>
        </p:txBody>
      </p:sp>
      <p:sp>
        <p:nvSpPr>
          <p:cNvPr id="5" name="Rounded Rectangle 4"/>
          <p:cNvSpPr/>
          <p:nvPr/>
        </p:nvSpPr>
        <p:spPr>
          <a:xfrm>
            <a:off x="731520" y="1371600"/>
            <a:ext cx="10728655" cy="5943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6" name="TextBox 5"/>
          <p:cNvSpPr txBox="1"/>
          <p:nvPr/>
        </p:nvSpPr>
        <p:spPr>
          <a:xfrm>
            <a:off x="914400" y="1444752"/>
            <a:ext cx="10362895" cy="457200"/>
          </a:xfrm>
          <a:prstGeom prst="rect">
            <a:avLst/>
          </a:prstGeom>
          <a:noFill/>
        </p:spPr>
        <p:txBody>
          <a:bodyPr wrap="none" rtlCol="1">
            <a:spAutoFit/>
          </a:bodyPr>
          <a:lstStyle/>
          <a:p>
            <a:pPr algn="ctr" rtl="1"/>
            <a:r>
              <a:rPr sz="1350" b="1" lang="ar-SA" altLang="en-US">
                <a:solidFill>
                  <a:srgbClr val="1E3A8A"/>
                </a:solidFill>
                <a:latin typeface="Arial"/>
                <a:cs typeface="Arial"/>
              </a:rPr>
              <a:t>ماذا أضافت المنظومة؟ أدت المنظومة إلى نقل إدارة شهادات المعايرة من الأسلوب التقليدي إلى أسلوب رقمي أكثر تنظيمًا.</a:t>
            </a:r>
          </a:p>
        </p:txBody>
      </p:sp>
      <p:sp>
        <p:nvSpPr>
          <p:cNvPr id="7" name="Rounded Rectangle 6"/>
          <p:cNvSpPr/>
          <p:nvPr/>
        </p:nvSpPr>
        <p:spPr>
          <a:xfrm>
            <a:off x="731520" y="2148840"/>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8" name="TextBox 7"/>
          <p:cNvSpPr txBox="1"/>
          <p:nvPr/>
        </p:nvSpPr>
        <p:spPr>
          <a:xfrm>
            <a:off x="6217920" y="2313432"/>
            <a:ext cx="4937760" cy="548640"/>
          </a:xfrm>
          <a:prstGeom prst="rect">
            <a:avLst/>
          </a:prstGeom>
          <a:noFill/>
        </p:spPr>
        <p:txBody>
          <a:bodyPr wrap="none" rtlCol="1">
            <a:spAutoFit/>
          </a:bodyPr>
          <a:lstStyle/>
          <a:p>
            <a:pPr algn="r" rtl="1"/>
            <a:r>
              <a:rPr sz="1300" b="0" lang="ar-SA" altLang="en-US">
                <a:solidFill>
                  <a:srgbClr val="E11D48"/>
                </a:solidFill>
                <a:latin typeface="Arial"/>
                <a:cs typeface="Arial"/>
              </a:rPr>
              <a:t>❌  من: أرشفة تقليدية ورقية</a:t>
            </a:r>
          </a:p>
        </p:txBody>
      </p:sp>
      <p:sp>
        <p:nvSpPr>
          <p:cNvPr id="9" name="TextBox 8"/>
          <p:cNvSpPr txBox="1"/>
          <p:nvPr/>
        </p:nvSpPr>
        <p:spPr>
          <a:xfrm>
            <a:off x="5394960" y="2331720"/>
            <a:ext cx="731520" cy="457200"/>
          </a:xfrm>
          <a:prstGeom prst="rect">
            <a:avLst/>
          </a:prstGeom>
          <a:noFill/>
        </p:spPr>
        <p:txBody>
          <a:bodyPr wrap="none" rtlCol="1">
            <a:spAutoFit/>
          </a:bodyPr>
          <a:lstStyle/>
          <a:p>
            <a:pPr algn="ctr" rtl="1"/>
            <a:r>
              <a:rPr sz="1600" b="1" lang="en-US" altLang="ar-SA">
                <a:solidFill>
                  <a:srgbClr val="0284C7"/>
                </a:solidFill>
                <a:latin typeface="Arial"/>
                <a:cs typeface="Arial"/>
              </a:rPr>
              <a:t>←</a:t>
            </a:r>
          </a:p>
        </p:txBody>
      </p:sp>
      <p:sp>
        <p:nvSpPr>
          <p:cNvPr id="10" name="TextBox 9"/>
          <p:cNvSpPr txBox="1"/>
          <p:nvPr/>
        </p:nvSpPr>
        <p:spPr>
          <a:xfrm>
            <a:off x="914400" y="2313432"/>
            <a:ext cx="4389120" cy="548640"/>
          </a:xfrm>
          <a:prstGeom prst="rect">
            <a:avLst/>
          </a:prstGeom>
          <a:noFill/>
        </p:spPr>
        <p:txBody>
          <a:bodyPr wrap="none" rtlCol="1">
            <a:spAutoFit/>
          </a:bodyPr>
          <a:lstStyle/>
          <a:p>
            <a:pPr algn="r" rtl="1"/>
            <a:r>
              <a:rPr sz="1300" b="1" lang="ar-SA" altLang="en-US">
                <a:solidFill>
                  <a:srgbClr val="059669"/>
                </a:solidFill>
                <a:latin typeface="Arial"/>
                <a:cs typeface="Arial"/>
              </a:rPr>
              <a:t>✅  إلى: أرشفة إلكترونية رقمية آمنة ومحمية</a:t>
            </a:r>
          </a:p>
        </p:txBody>
      </p:sp>
      <p:sp>
        <p:nvSpPr>
          <p:cNvPr id="11" name="Rounded Rectangle 10"/>
          <p:cNvSpPr/>
          <p:nvPr/>
        </p:nvSpPr>
        <p:spPr>
          <a:xfrm>
            <a:off x="731520" y="3154680"/>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2" name="TextBox 11"/>
          <p:cNvSpPr txBox="1"/>
          <p:nvPr/>
        </p:nvSpPr>
        <p:spPr>
          <a:xfrm>
            <a:off x="6217920" y="3319272"/>
            <a:ext cx="4937760" cy="548640"/>
          </a:xfrm>
          <a:prstGeom prst="rect">
            <a:avLst/>
          </a:prstGeom>
          <a:noFill/>
        </p:spPr>
        <p:txBody>
          <a:bodyPr wrap="none" rtlCol="1">
            <a:spAutoFit/>
          </a:bodyPr>
          <a:lstStyle/>
          <a:p>
            <a:pPr algn="r" rtl="1"/>
            <a:r>
              <a:rPr sz="1300" b="0" lang="ar-SA" altLang="en-US">
                <a:solidFill>
                  <a:srgbClr val="E11D48"/>
                </a:solidFill>
                <a:latin typeface="Arial"/>
                <a:cs typeface="Arial"/>
              </a:rPr>
              <a:t>❌  من: البحث اليدوي عن الشهادة</a:t>
            </a:r>
          </a:p>
        </p:txBody>
      </p:sp>
      <p:sp>
        <p:nvSpPr>
          <p:cNvPr id="13" name="TextBox 12"/>
          <p:cNvSpPr txBox="1"/>
          <p:nvPr/>
        </p:nvSpPr>
        <p:spPr>
          <a:xfrm>
            <a:off x="5394960" y="3337560"/>
            <a:ext cx="731520" cy="457200"/>
          </a:xfrm>
          <a:prstGeom prst="rect">
            <a:avLst/>
          </a:prstGeom>
          <a:noFill/>
        </p:spPr>
        <p:txBody>
          <a:bodyPr wrap="none" rtlCol="1">
            <a:spAutoFit/>
          </a:bodyPr>
          <a:lstStyle/>
          <a:p>
            <a:pPr algn="ctr" rtl="1"/>
            <a:r>
              <a:rPr sz="1600" b="1" lang="en-US" altLang="ar-SA">
                <a:solidFill>
                  <a:srgbClr val="0284C7"/>
                </a:solidFill>
                <a:latin typeface="Arial"/>
                <a:cs typeface="Arial"/>
              </a:rPr>
              <a:t>←</a:t>
            </a:r>
          </a:p>
        </p:txBody>
      </p:sp>
      <p:sp>
        <p:nvSpPr>
          <p:cNvPr id="14" name="TextBox 13"/>
          <p:cNvSpPr txBox="1"/>
          <p:nvPr/>
        </p:nvSpPr>
        <p:spPr>
          <a:xfrm>
            <a:off x="914400" y="3319272"/>
            <a:ext cx="4389120" cy="548640"/>
          </a:xfrm>
          <a:prstGeom prst="rect">
            <a:avLst/>
          </a:prstGeom>
          <a:noFill/>
        </p:spPr>
        <p:txBody>
          <a:bodyPr wrap="none" rtlCol="1">
            <a:spAutoFit/>
          </a:bodyPr>
          <a:lstStyle/>
          <a:p>
            <a:pPr algn="r" rtl="1"/>
            <a:r>
              <a:rPr sz="1300" b="1" lang="ar-SA" altLang="en-US">
                <a:solidFill>
                  <a:srgbClr val="059669"/>
                </a:solidFill>
                <a:latin typeface="Arial"/>
                <a:cs typeface="Arial"/>
              </a:rPr>
              <a:t>✅  إلى: البحث والاسترجاع الرقمي اللحظي</a:t>
            </a:r>
          </a:p>
        </p:txBody>
      </p:sp>
      <p:sp>
        <p:nvSpPr>
          <p:cNvPr id="15" name="Rounded Rectangle 14"/>
          <p:cNvSpPr/>
          <p:nvPr/>
        </p:nvSpPr>
        <p:spPr>
          <a:xfrm>
            <a:off x="731520" y="4160520"/>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6" name="TextBox 15"/>
          <p:cNvSpPr txBox="1"/>
          <p:nvPr/>
        </p:nvSpPr>
        <p:spPr>
          <a:xfrm>
            <a:off x="6217920" y="4325112"/>
            <a:ext cx="4937760" cy="548640"/>
          </a:xfrm>
          <a:prstGeom prst="rect">
            <a:avLst/>
          </a:prstGeom>
          <a:noFill/>
        </p:spPr>
        <p:txBody>
          <a:bodyPr wrap="none" rtlCol="1">
            <a:spAutoFit/>
          </a:bodyPr>
          <a:lstStyle/>
          <a:p>
            <a:pPr algn="r" rtl="1"/>
            <a:r>
              <a:rPr sz="1300" b="0" lang="ar-SA" altLang="en-US">
                <a:solidFill>
                  <a:srgbClr val="E11D48"/>
                </a:solidFill>
                <a:latin typeface="Arial"/>
                <a:cs typeface="Arial"/>
              </a:rPr>
              <a:t>❌  من: شهادة منفصلة عن قاعدة البيانات</a:t>
            </a:r>
          </a:p>
        </p:txBody>
      </p:sp>
      <p:sp>
        <p:nvSpPr>
          <p:cNvPr id="17" name="TextBox 16"/>
          <p:cNvSpPr txBox="1"/>
          <p:nvPr/>
        </p:nvSpPr>
        <p:spPr>
          <a:xfrm>
            <a:off x="5394960" y="4343400"/>
            <a:ext cx="731520" cy="457200"/>
          </a:xfrm>
          <a:prstGeom prst="rect">
            <a:avLst/>
          </a:prstGeom>
          <a:noFill/>
        </p:spPr>
        <p:txBody>
          <a:bodyPr wrap="none" rtlCol="1">
            <a:spAutoFit/>
          </a:bodyPr>
          <a:lstStyle/>
          <a:p>
            <a:pPr algn="ctr" rtl="1"/>
            <a:r>
              <a:rPr sz="1600" b="1" lang="en-US" altLang="ar-SA">
                <a:solidFill>
                  <a:srgbClr val="0284C7"/>
                </a:solidFill>
                <a:latin typeface="Arial"/>
                <a:cs typeface="Arial"/>
              </a:rPr>
              <a:t>←</a:t>
            </a:r>
          </a:p>
        </p:txBody>
      </p:sp>
      <p:sp>
        <p:nvSpPr>
          <p:cNvPr id="18" name="TextBox 17"/>
          <p:cNvSpPr txBox="1"/>
          <p:nvPr/>
        </p:nvSpPr>
        <p:spPr>
          <a:xfrm>
            <a:off x="914400" y="4325112"/>
            <a:ext cx="4389120" cy="548640"/>
          </a:xfrm>
          <a:prstGeom prst="rect">
            <a:avLst/>
          </a:prstGeom>
          <a:noFill/>
        </p:spPr>
        <p:txBody>
          <a:bodyPr wrap="none" rtlCol="1">
            <a:spAutoFit/>
          </a:bodyPr>
          <a:lstStyle/>
          <a:p>
            <a:pPr algn="r" rtl="1"/>
            <a:r>
              <a:rPr sz="1300" b="1" lang="ar-SA" altLang="en-US">
                <a:solidFill>
                  <a:srgbClr val="059669"/>
                </a:solidFill>
                <a:latin typeface="Arial"/>
                <a:cs typeface="Arial"/>
              </a:rPr>
              <a:t>✅  إلى: شهادة مرتبطة ببياناتها داخل قاعدة البيانات</a:t>
            </a:r>
          </a:p>
        </p:txBody>
      </p:sp>
      <p:sp>
        <p:nvSpPr>
          <p:cNvPr id="19" name="Rounded Rectangle 18"/>
          <p:cNvSpPr/>
          <p:nvPr/>
        </p:nvSpPr>
        <p:spPr>
          <a:xfrm>
            <a:off x="731520" y="5166360"/>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0" name="TextBox 19"/>
          <p:cNvSpPr txBox="1"/>
          <p:nvPr/>
        </p:nvSpPr>
        <p:spPr>
          <a:xfrm>
            <a:off x="6217920" y="5330952"/>
            <a:ext cx="4937760" cy="548640"/>
          </a:xfrm>
          <a:prstGeom prst="rect">
            <a:avLst/>
          </a:prstGeom>
          <a:noFill/>
        </p:spPr>
        <p:txBody>
          <a:bodyPr wrap="none" rtlCol="1">
            <a:spAutoFit/>
          </a:bodyPr>
          <a:lstStyle/>
          <a:p>
            <a:pPr algn="r" rtl="1"/>
            <a:r>
              <a:rPr sz="1300" b="0" lang="ar-SA" altLang="en-US">
                <a:solidFill>
                  <a:srgbClr val="E11D48"/>
                </a:solidFill>
                <a:latin typeface="Arial"/>
                <a:cs typeface="Arial"/>
              </a:rPr>
              <a:t>❌  من: الوصول التقليدي إلى الوثيقة</a:t>
            </a:r>
          </a:p>
        </p:txBody>
      </p:sp>
      <p:sp>
        <p:nvSpPr>
          <p:cNvPr id="21" name="TextBox 20"/>
          <p:cNvSpPr txBox="1"/>
          <p:nvPr/>
        </p:nvSpPr>
        <p:spPr>
          <a:xfrm>
            <a:off x="5394960" y="5349240"/>
            <a:ext cx="731520" cy="457200"/>
          </a:xfrm>
          <a:prstGeom prst="rect">
            <a:avLst/>
          </a:prstGeom>
          <a:noFill/>
        </p:spPr>
        <p:txBody>
          <a:bodyPr wrap="none" rtlCol="1">
            <a:spAutoFit/>
          </a:bodyPr>
          <a:lstStyle/>
          <a:p>
            <a:pPr algn="ctr" rtl="1"/>
            <a:r>
              <a:rPr sz="1600" b="1" lang="en-US" altLang="ar-SA">
                <a:solidFill>
                  <a:srgbClr val="0284C7"/>
                </a:solidFill>
                <a:latin typeface="Arial"/>
                <a:cs typeface="Arial"/>
              </a:rPr>
              <a:t>←</a:t>
            </a:r>
          </a:p>
        </p:txBody>
      </p:sp>
      <p:sp>
        <p:nvSpPr>
          <p:cNvPr id="22" name="TextBox 21"/>
          <p:cNvSpPr txBox="1"/>
          <p:nvPr/>
        </p:nvSpPr>
        <p:spPr>
          <a:xfrm>
            <a:off x="914400" y="5330952"/>
            <a:ext cx="4389120" cy="548640"/>
          </a:xfrm>
          <a:prstGeom prst="rect">
            <a:avLst/>
          </a:prstGeom>
          <a:noFill/>
        </p:spPr>
        <p:txBody>
          <a:bodyPr wrap="none" rtlCol="1">
            <a:spAutoFit/>
          </a:bodyPr>
          <a:lstStyle/>
          <a:p>
            <a:pPr algn="r" rtl="1"/>
            <a:r>
              <a:rPr sz="1300" b="1" lang="ar-SA" altLang="en-US">
                <a:solidFill>
                  <a:srgbClr val="059669"/>
                </a:solidFill>
                <a:latin typeface="Arial"/>
                <a:cs typeface="Arial"/>
              </a:rPr>
              <a:t>✅  إلى: الوصول السريع والتحقق الفوري باستخدام </a:t>
            </a:r>
            <a:r>
              <a:rPr sz="1300" b="1" lang="en-US" altLang="ar-SA">
                <a:solidFill>
                  <a:srgbClr val="059669"/>
                </a:solidFill>
                <a:latin typeface="Arial"/>
              </a:rPr>
              <a:t>QR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rtlCol="1">
            <a:spAutoFit/>
          </a:bodyPr>
          <a:lstStyle/>
          <a:p>
            <a:pPr algn="r" rtl="1"/>
            <a:r>
              <a:rPr sz="1050" b="1" lang="ar-SA" altLang="en-US">
                <a:solidFill>
                  <a:srgbClr val="D97706"/>
                </a:solidFill>
                <a:latin typeface="Arial"/>
                <a:cs typeface="Arial"/>
              </a:rPr>
              <a:t>الشريحة 12 — منظومة مصادر المشعة</a:t>
            </a:r>
          </a:p>
          <a:p>
            <a:pPr algn="r" rtl="1">
              <a:spcBef>
                <a:spcPts val="200"/>
              </a:spcBef>
            </a:pPr>
            <a:r>
              <a:rPr sz="2100" b="1" lang="ar-SA" altLang="en-US">
                <a:solidFill>
                  <a:srgbClr val="1E3A8A"/>
                </a:solidFill>
                <a:latin typeface="Arial"/>
                <a:cs typeface="Arial"/>
              </a:rPr>
              <a:t>منظومة مصادر المشعة — الرؤية والأهداف المؤسسية</a:t>
            </a:r>
          </a:p>
        </p:txBody>
      </p:sp>
      <p:sp>
        <p:nvSpPr>
          <p:cNvPr id="3" name="Rectangle 2"/>
          <p:cNvSpPr/>
          <p:nvPr/>
        </p:nvSpPr>
        <p:spPr>
          <a:xfrm>
            <a:off x="731520" y="1207008"/>
            <a:ext cx="10728655" cy="18288"/>
          </a:xfrm>
          <a:prstGeom prst="rect">
            <a:avLst/>
          </a:prstGeom>
          <a:solidFill>
            <a:srgbClr val="DBE5F0"/>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82512"/>
            <a:ext cx="10728655" cy="292608"/>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12 من 14</a:t>
            </a:r>
          </a:p>
        </p:txBody>
      </p:sp>
      <p:sp>
        <p:nvSpPr>
          <p:cNvPr id="5" name="Rounded Rectangle 4"/>
          <p:cNvSpPr/>
          <p:nvPr/>
        </p:nvSpPr>
        <p:spPr>
          <a:xfrm>
            <a:off x="731520" y="1417320"/>
            <a:ext cx="32918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pic>
        <p:nvPicPr>
          <p:cNvPr id="6" name="Picture 5" descr="07_sources.png"/>
          <p:cNvPicPr>
            <a:picLocks noChangeAspect="1"/>
          </p:cNvPicPr>
          <p:nvPr/>
        </p:nvPicPr>
        <p:blipFill>
          <a:blip r:embed="rId2"/>
          <a:stretch>
            <a:fillRect/>
          </a:stretch>
        </p:blipFill>
        <p:spPr>
          <a:xfrm>
            <a:off x="1005840" y="1600200"/>
            <a:ext cx="2743200" cy="2743200"/>
          </a:xfrm>
          <a:prstGeom prst="rect">
            <a:avLst/>
          </a:prstGeom>
        </p:spPr>
      </p:pic>
      <p:sp>
        <p:nvSpPr>
          <p:cNvPr id="7" name="TextBox 6"/>
          <p:cNvSpPr txBox="1"/>
          <p:nvPr/>
        </p:nvSpPr>
        <p:spPr>
          <a:xfrm>
            <a:off x="822960" y="4434840"/>
            <a:ext cx="3108960" cy="1554480"/>
          </a:xfrm>
          <a:prstGeom prst="rect">
            <a:avLst/>
          </a:prstGeom>
          <a:noFill/>
        </p:spPr>
        <p:txBody>
          <a:bodyPr wrap="square" rtlCol="1">
            <a:spAutoFit/>
          </a:bodyPr>
          <a:lstStyle/>
          <a:p>
            <a:pPr algn="ctr" rtl="1"/>
            <a:r>
              <a:rPr sz="1100" b="1" lang="ar-SA" altLang="en-US">
                <a:solidFill>
                  <a:srgbClr val="1E3A8A"/>
                </a:solidFill>
                <a:latin typeface="Arial"/>
                <a:cs typeface="Arial"/>
              </a:rPr>
              <a:t>منظومة مصادر المشعة المعتمدة</a:t>
            </a:r>
          </a:p>
          <a:p>
            <a:pPr algn="ctr" rtl="1">
              <a:spcBef>
                <a:spcPts val="100"/>
              </a:spcBef>
            </a:pPr>
            <a:r>
              <a:rPr sz="950" b="1" lang="en-US" altLang="ar-SA">
                <a:solidFill>
                  <a:srgbClr val="0284C7"/>
                </a:solidFill>
                <a:latin typeface="Arial"/>
              </a:rPr>
              <a:t>Radioactive Source Inventory &amp; Tracking</a:t>
            </a:r>
          </a:p>
          <a:p>
            <a:pPr algn="r" rtl="1">
              <a:spcBef>
                <a:spcPts val="300"/>
              </a:spcBef>
            </a:pPr>
            <a:r>
              <a:rPr sz="950" b="0" lang="ar-SA" altLang="en-US">
                <a:solidFill>
                  <a:srgbClr val="475569"/>
                </a:solidFill>
                <a:latin typeface="Arial"/>
                <a:cs typeface="Arial"/>
              </a:rPr>
              <a:t>مشروع رقمي مستقل: إلى جانب منظومة شهادات المعايرة، تم تطوير منظومة رقمية مستقلة لإدارة وحصر وتوثيق مصادر المشعة على مستوى مركز البحوث النووية – تاجوراء.</a:t>
            </a:r>
          </a:p>
        </p:txBody>
      </p:sp>
      <p:sp>
        <p:nvSpPr>
          <p:cNvPr id="8" name="Rounded Rectangle 7"/>
          <p:cNvSpPr/>
          <p:nvPr/>
        </p:nvSpPr>
        <p:spPr>
          <a:xfrm>
            <a:off x="4297680" y="1417320"/>
            <a:ext cx="7132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9" name="Rectangle 8"/>
          <p:cNvSpPr/>
          <p:nvPr/>
        </p:nvSpPr>
        <p:spPr>
          <a:xfrm>
            <a:off x="4297680" y="1417320"/>
            <a:ext cx="71323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0" name="TextBox 9"/>
          <p:cNvSpPr txBox="1"/>
          <p:nvPr/>
        </p:nvSpPr>
        <p:spPr>
          <a:xfrm>
            <a:off x="4480560" y="1600200"/>
            <a:ext cx="6766560" cy="4297680"/>
          </a:xfrm>
          <a:prstGeom prst="rect">
            <a:avLst/>
          </a:prstGeom>
          <a:noFill/>
        </p:spPr>
        <p:txBody>
          <a:bodyPr wrap="square" rtlCol="1">
            <a:spAutoFit/>
          </a:bodyPr>
          <a:lstStyle/>
          <a:p>
            <a:pPr algn="r" rtl="1"/>
            <a:r>
              <a:rPr sz="1450" b="1" lang="ar-SA" altLang="en-US">
                <a:solidFill>
                  <a:srgbClr val="1E3A8A"/>
                </a:solidFill>
                <a:latin typeface="Arial"/>
                <a:cs typeface="Arial"/>
              </a:rPr>
              <a:t>أهداف منظومة مصادر المشعة — سبعة أهداف استراتيجية رئيسية:</a:t>
            </a:r>
          </a:p>
          <a:p>
            <a:pPr algn="r" rtl="1">
              <a:spcBef>
                <a:spcPts val="600"/>
              </a:spcBef>
            </a:pPr>
            <a:r>
              <a:rPr sz="1200" b="0" lang="ar-SA" altLang="en-US">
                <a:solidFill>
                  <a:srgbClr val="0F172A"/>
                </a:solidFill>
                <a:latin typeface="Arial"/>
                <a:cs typeface="Arial"/>
              </a:rPr>
              <a:t>🎯  حصر مصادر المشعة.</a:t>
            </a:r>
          </a:p>
          <a:p>
            <a:pPr algn="r" rtl="1">
              <a:spcBef>
                <a:spcPts val="600"/>
              </a:spcBef>
            </a:pPr>
            <a:r>
              <a:rPr sz="1200" b="0" lang="ar-SA" altLang="en-US">
                <a:solidFill>
                  <a:srgbClr val="0F172A"/>
                </a:solidFill>
                <a:latin typeface="Arial"/>
                <a:cs typeface="Arial"/>
              </a:rPr>
              <a:t>🎯  تسجيل بيانات كل مصدر.</a:t>
            </a:r>
          </a:p>
          <a:p>
            <a:pPr algn="r" rtl="1">
              <a:spcBef>
                <a:spcPts val="600"/>
              </a:spcBef>
            </a:pPr>
            <a:r>
              <a:rPr sz="1200" b="0" lang="ar-SA" altLang="en-US">
                <a:solidFill>
                  <a:srgbClr val="0F172A"/>
                </a:solidFill>
                <a:latin typeface="Arial"/>
                <a:cs typeface="Arial"/>
              </a:rPr>
              <a:t>🎯  تنظيم المعلومات داخل قاعدة بيانات.</a:t>
            </a:r>
          </a:p>
          <a:p>
            <a:pPr algn="r" rtl="1">
              <a:spcBef>
                <a:spcPts val="600"/>
              </a:spcBef>
            </a:pPr>
            <a:r>
              <a:rPr sz="1200" b="0" lang="ar-SA" altLang="en-US">
                <a:solidFill>
                  <a:srgbClr val="0F172A"/>
                </a:solidFill>
                <a:latin typeface="Arial"/>
                <a:cs typeface="Arial"/>
              </a:rPr>
              <a:t>🎯  تسهيل الوصول إلى البيانات.</a:t>
            </a:r>
          </a:p>
          <a:p>
            <a:pPr algn="r" rtl="1">
              <a:spcBef>
                <a:spcPts val="600"/>
              </a:spcBef>
            </a:pPr>
            <a:r>
              <a:rPr sz="1200" b="0" lang="ar-SA" altLang="en-US">
                <a:solidFill>
                  <a:srgbClr val="0F172A"/>
                </a:solidFill>
                <a:latin typeface="Arial"/>
                <a:cs typeface="Arial"/>
              </a:rPr>
              <a:t>🎯  توثيق بيانات المصادر.</a:t>
            </a:r>
          </a:p>
          <a:p>
            <a:pPr algn="r" rtl="1">
              <a:spcBef>
                <a:spcPts val="600"/>
              </a:spcBef>
            </a:pPr>
            <a:r>
              <a:rPr sz="1200" b="0" lang="ar-SA" altLang="en-US">
                <a:solidFill>
                  <a:srgbClr val="0F172A"/>
                </a:solidFill>
                <a:latin typeface="Arial"/>
                <a:cs typeface="Arial"/>
              </a:rPr>
              <a:t>🎯  دعم المتابعة الفنية والإدارية.</a:t>
            </a:r>
          </a:p>
          <a:p>
            <a:pPr algn="r" rtl="1">
              <a:spcBef>
                <a:spcPts val="600"/>
              </a:spcBef>
            </a:pPr>
            <a:r>
              <a:rPr sz="1200" b="0" lang="ar-SA" altLang="en-US">
                <a:solidFill>
                  <a:srgbClr val="0F172A"/>
                </a:solidFill>
                <a:latin typeface="Arial"/>
                <a:cs typeface="Arial"/>
              </a:rPr>
              <a:t>🎯  تحسين إدارة السجلات والمعلومات.</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rtlCol="1">
            <a:spAutoFit/>
          </a:bodyPr>
          <a:lstStyle/>
          <a:p>
            <a:pPr algn="r" rtl="1"/>
            <a:r>
              <a:rPr sz="1050" b="1" lang="ar-SA" altLang="en-US">
                <a:solidFill>
                  <a:srgbClr val="D97706"/>
                </a:solidFill>
                <a:latin typeface="Arial"/>
                <a:cs typeface="Arial"/>
              </a:rPr>
              <a:t>الشريحة 13 — البرمجة والوظائف</a:t>
            </a:r>
          </a:p>
          <a:p>
            <a:pPr algn="r" rtl="1">
              <a:spcBef>
                <a:spcPts val="200"/>
              </a:spcBef>
            </a:pPr>
            <a:r>
              <a:rPr sz="2100" b="1" lang="ar-SA" altLang="en-US">
                <a:solidFill>
                  <a:srgbClr val="1E3A8A"/>
                </a:solidFill>
                <a:latin typeface="Arial"/>
                <a:cs typeface="Arial"/>
              </a:rPr>
              <a:t>منظومة مصادر المشعة — البرمجة والوظائف ومسار العمل</a:t>
            </a:r>
          </a:p>
        </p:txBody>
      </p:sp>
      <p:sp>
        <p:nvSpPr>
          <p:cNvPr id="3" name="Rectangle 2"/>
          <p:cNvSpPr/>
          <p:nvPr/>
        </p:nvSpPr>
        <p:spPr>
          <a:xfrm>
            <a:off x="731520" y="1207008"/>
            <a:ext cx="10728655" cy="18288"/>
          </a:xfrm>
          <a:prstGeom prst="rect">
            <a:avLst/>
          </a:prstGeom>
          <a:solidFill>
            <a:srgbClr val="DBE5F0"/>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82512"/>
            <a:ext cx="10728655" cy="292608"/>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13 من 14</a:t>
            </a:r>
          </a:p>
        </p:txBody>
      </p:sp>
      <p:sp>
        <p:nvSpPr>
          <p:cNvPr id="5" name="Rounded Rectangle 4"/>
          <p:cNvSpPr/>
          <p:nvPr/>
        </p:nvSpPr>
        <p:spPr>
          <a:xfrm>
            <a:off x="5303520" y="1417320"/>
            <a:ext cx="61264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6" name="Rectangle 5"/>
          <p:cNvSpPr/>
          <p:nvPr/>
        </p:nvSpPr>
        <p:spPr>
          <a:xfrm>
            <a:off x="5303520" y="1417320"/>
            <a:ext cx="612648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5486400" y="1536192"/>
            <a:ext cx="5760720" cy="4389120"/>
          </a:xfrm>
          <a:prstGeom prst="rect">
            <a:avLst/>
          </a:prstGeom>
          <a:noFill/>
        </p:spPr>
        <p:txBody>
          <a:bodyPr wrap="square" rtlCol="1">
            <a:spAutoFit/>
          </a:bodyPr>
          <a:lstStyle/>
          <a:p>
            <a:pPr algn="r" rtl="1"/>
            <a:r>
              <a:rPr sz="1350" b="1" lang="ar-SA" altLang="en-US">
                <a:solidFill>
                  <a:srgbClr val="1E3A8A"/>
                </a:solidFill>
                <a:latin typeface="Arial"/>
                <a:cs typeface="Arial"/>
              </a:rPr>
              <a:t>الجانب العلمي والفني — المتطلبات المحددة:</a:t>
            </a:r>
          </a:p>
          <a:p>
            <a:pPr algn="r" rtl="1">
              <a:spcBef>
                <a:spcPts val="200"/>
              </a:spcBef>
            </a:pPr>
            <a:r>
              <a:rPr sz="1100" b="0" lang="ar-SA" altLang="en-US">
                <a:solidFill>
                  <a:srgbClr val="0F172A"/>
                </a:solidFill>
                <a:latin typeface="Arial"/>
                <a:cs typeface="Arial"/>
              </a:rPr>
              <a:t>• البيانات المطلوب تسجيلها.</a:t>
            </a:r>
          </a:p>
          <a:p>
            <a:pPr algn="r" rtl="1">
              <a:spcBef>
                <a:spcPts val="200"/>
              </a:spcBef>
            </a:pPr>
            <a:r>
              <a:rPr sz="1100" b="0" lang="ar-SA" altLang="en-US">
                <a:solidFill>
                  <a:srgbClr val="0F172A"/>
                </a:solidFill>
                <a:latin typeface="Arial"/>
                <a:cs typeface="Arial"/>
              </a:rPr>
              <a:t>• المعلومات الخاصة بكل مصدر.</a:t>
            </a:r>
          </a:p>
          <a:p>
            <a:pPr algn="r" rtl="1">
              <a:spcBef>
                <a:spcPts val="200"/>
              </a:spcBef>
            </a:pPr>
            <a:r>
              <a:rPr sz="1100" b="0" lang="ar-SA" altLang="en-US">
                <a:solidFill>
                  <a:srgbClr val="0F172A"/>
                </a:solidFill>
                <a:latin typeface="Arial"/>
                <a:cs typeface="Arial"/>
              </a:rPr>
              <a:t>• المتطلبات الفنية.</a:t>
            </a:r>
          </a:p>
          <a:p>
            <a:pPr algn="r" rtl="1">
              <a:spcBef>
                <a:spcPts val="200"/>
              </a:spcBef>
            </a:pPr>
            <a:r>
              <a:rPr sz="1100" b="0" lang="ar-SA" altLang="en-US">
                <a:solidFill>
                  <a:srgbClr val="0F172A"/>
                </a:solidFill>
                <a:latin typeface="Arial"/>
                <a:cs typeface="Arial"/>
              </a:rPr>
              <a:t>• آلية تنظيم البيانات.</a:t>
            </a:r>
          </a:p>
          <a:p>
            <a:pPr algn="r" rtl="1">
              <a:spcBef>
                <a:spcPts val="200"/>
              </a:spcBef>
            </a:pPr>
            <a:r>
              <a:rPr sz="1100" b="0" lang="ar-SA" altLang="en-US">
                <a:solidFill>
                  <a:srgbClr val="0F172A"/>
                </a:solidFill>
                <a:latin typeface="Arial"/>
                <a:cs typeface="Arial"/>
              </a:rPr>
              <a:t>• احتياجات المتابعة والتوثيق.</a:t>
            </a:r>
          </a:p>
          <a:p>
            <a:pPr algn="r" rtl="1">
              <a:spcBef>
                <a:spcPts val="600"/>
              </a:spcBef>
            </a:pPr>
            <a:r>
              <a:rPr sz="1300" b="1" lang="ar-SA" altLang="en-US">
                <a:solidFill>
                  <a:srgbClr val="1E3A8A"/>
                </a:solidFill>
                <a:latin typeface="Arial"/>
                <a:cs typeface="Arial"/>
              </a:rPr>
              <a:t>الجانب البرمجي — دور إدريس في تحويل المتطلبات إلى منظومة رقمية:</a:t>
            </a:r>
          </a:p>
          <a:p>
            <a:pPr algn="r" rtl="1">
              <a:spcBef>
                <a:spcPts val="200"/>
              </a:spcBef>
            </a:pPr>
            <a:r>
              <a:rPr sz="1100" b="0" lang="ar-SA" altLang="en-US">
                <a:solidFill>
                  <a:srgbClr val="0F172A"/>
                </a:solidFill>
                <a:latin typeface="Arial"/>
                <a:cs typeface="Arial"/>
              </a:rPr>
              <a:t>✔ تصميم قاعدة البيانات.</a:t>
            </a:r>
          </a:p>
          <a:p>
            <a:pPr algn="r" rtl="1">
              <a:spcBef>
                <a:spcPts val="200"/>
              </a:spcBef>
            </a:pPr>
            <a:r>
              <a:rPr sz="1100" b="0" lang="ar-SA" altLang="en-US">
                <a:solidFill>
                  <a:srgbClr val="0F172A"/>
                </a:solidFill>
                <a:latin typeface="Arial"/>
                <a:cs typeface="Arial"/>
              </a:rPr>
              <a:t>✔ إنشاء واجهة المستخدم.</a:t>
            </a:r>
          </a:p>
          <a:p>
            <a:pPr algn="r" rtl="1">
              <a:spcBef>
                <a:spcPts val="200"/>
              </a:spcBef>
            </a:pPr>
            <a:r>
              <a:rPr sz="1100" b="0" lang="ar-SA" altLang="en-US">
                <a:solidFill>
                  <a:srgbClr val="0F172A"/>
                </a:solidFill>
                <a:latin typeface="Arial"/>
                <a:cs typeface="Arial"/>
              </a:rPr>
              <a:t>✔ إدخال وتحديث بيانات المصادر.</a:t>
            </a:r>
          </a:p>
          <a:p>
            <a:pPr algn="r" rtl="1">
              <a:spcBef>
                <a:spcPts val="200"/>
              </a:spcBef>
            </a:pPr>
            <a:r>
              <a:rPr sz="1100" b="0" lang="ar-SA" altLang="en-US">
                <a:solidFill>
                  <a:srgbClr val="0F172A"/>
                </a:solidFill>
                <a:latin typeface="Arial"/>
                <a:cs typeface="Arial"/>
              </a:rPr>
              <a:t>✔ البحث والاسترجاع.</a:t>
            </a:r>
          </a:p>
          <a:p>
            <a:pPr algn="r" rtl="1">
              <a:spcBef>
                <a:spcPts val="200"/>
              </a:spcBef>
            </a:pPr>
            <a:r>
              <a:rPr sz="1100" b="0" lang="ar-SA" altLang="en-US">
                <a:solidFill>
                  <a:srgbClr val="0F172A"/>
                </a:solidFill>
                <a:latin typeface="Arial"/>
                <a:cs typeface="Arial"/>
              </a:rPr>
              <a:t>✔ تنظيم البيانات.</a:t>
            </a:r>
          </a:p>
          <a:p>
            <a:pPr algn="r" rtl="1">
              <a:spcBef>
                <a:spcPts val="200"/>
              </a:spcBef>
            </a:pPr>
            <a:r>
              <a:rPr sz="1100" b="0" lang="ar-SA" altLang="en-US">
                <a:solidFill>
                  <a:srgbClr val="0F172A"/>
                </a:solidFill>
                <a:latin typeface="Arial"/>
                <a:cs typeface="Arial"/>
              </a:rPr>
              <a:t>✔ تطوير وظائف المتابعة والتوثيق.</a:t>
            </a:r>
          </a:p>
        </p:txBody>
      </p:sp>
      <p:sp>
        <p:nvSpPr>
          <p:cNvPr id="8" name="Rounded Rectangle 7"/>
          <p:cNvSpPr/>
          <p:nvPr/>
        </p:nvSpPr>
        <p:spPr>
          <a:xfrm>
            <a:off x="731520" y="1417320"/>
            <a:ext cx="4297680" cy="2468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pic>
        <p:nvPicPr>
          <p:cNvPr id="9" name="Picture 8" descr="2-sources.png"/>
          <p:cNvPicPr>
            <a:picLocks noChangeAspect="1"/>
          </p:cNvPicPr>
          <p:nvPr/>
        </p:nvPicPr>
        <p:blipFill>
          <a:blip r:embed="rId2"/>
          <a:stretch>
            <a:fillRect/>
          </a:stretch>
        </p:blipFill>
        <p:spPr>
          <a:xfrm>
            <a:off x="804672" y="1490472"/>
            <a:ext cx="4151376" cy="2029968"/>
          </a:xfrm>
          <a:prstGeom prst="rect">
            <a:avLst/>
          </a:prstGeom>
        </p:spPr>
      </p:pic>
      <p:sp>
        <p:nvSpPr>
          <p:cNvPr id="10" name="TextBox 9"/>
          <p:cNvSpPr txBox="1"/>
          <p:nvPr/>
        </p:nvSpPr>
        <p:spPr>
          <a:xfrm>
            <a:off x="804672" y="3520440"/>
            <a:ext cx="4151376" cy="292608"/>
          </a:xfrm>
          <a:prstGeom prst="rect">
            <a:avLst/>
          </a:prstGeom>
          <a:noFill/>
        </p:spPr>
        <p:txBody>
          <a:bodyPr wrap="none" lIns="0" rIns="0" tIns="0" bIns="0" rtlCol="1">
            <a:spAutoFit/>
          </a:bodyPr>
          <a:lstStyle/>
          <a:p>
            <a:pPr algn="ctr" rtl="1"/>
            <a:r>
              <a:rPr sz="900" b="1" lang="ar-SA" altLang="en-US">
                <a:solidFill>
                  <a:srgbClr val="475569"/>
                </a:solidFill>
                <a:latin typeface="Arial"/>
                <a:cs typeface="Arial"/>
              </a:rPr>
              <a:t>واجهة منظومة مصادر المشعة المعتمدة</a:t>
            </a:r>
          </a:p>
        </p:txBody>
      </p:sp>
      <p:sp>
        <p:nvSpPr>
          <p:cNvPr id="11" name="Rounded Rectangle 10"/>
          <p:cNvSpPr/>
          <p:nvPr/>
        </p:nvSpPr>
        <p:spPr>
          <a:xfrm>
            <a:off x="731520" y="4023360"/>
            <a:ext cx="4297680" cy="205740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2" name="TextBox 11"/>
          <p:cNvSpPr txBox="1"/>
          <p:nvPr/>
        </p:nvSpPr>
        <p:spPr>
          <a:xfrm>
            <a:off x="914400" y="4096512"/>
            <a:ext cx="3931920" cy="1920240"/>
          </a:xfrm>
          <a:prstGeom prst="rect">
            <a:avLst/>
          </a:prstGeom>
          <a:noFill/>
        </p:spPr>
        <p:txBody>
          <a:bodyPr wrap="square" rtlCol="1">
            <a:spAutoFit/>
          </a:bodyPr>
          <a:lstStyle/>
          <a:p>
            <a:pPr algn="r" rtl="1"/>
            <a:r>
              <a:rPr sz="1150" b="1" lang="ar-SA" altLang="en-US">
                <a:solidFill>
                  <a:srgbClr val="1E3A8A"/>
                </a:solidFill>
                <a:latin typeface="Arial"/>
                <a:cs typeface="Arial"/>
              </a:rPr>
              <a:t>مسار عمل المنظومة التنفيذي — دورة العمل </a:t>
            </a:r>
            <a:r>
              <a:rPr sz="1150" b="1" lang="en-US" altLang="ar-SA">
                <a:solidFill>
                  <a:srgbClr val="1E3A8A"/>
                </a:solidFill>
                <a:latin typeface="Arial"/>
              </a:rPr>
              <a:t>Workflow:</a:t>
            </a:r>
          </a:p>
          <a:p>
            <a:pPr algn="r" rtl="1">
              <a:spcBef>
                <a:spcPts val="300"/>
              </a:spcBef>
            </a:pPr>
            <a:r>
              <a:rPr sz="950" b="0" lang="ar-SA" altLang="en-US">
                <a:solidFill>
                  <a:srgbClr val="0F172A"/>
                </a:solidFill>
                <a:latin typeface="Arial"/>
                <a:cs typeface="Arial"/>
              </a:rPr>
              <a:t>إدخال بيانات المصدر  ←  تسجيل المصدر  ←  حفظ البيانات  ←  تحديث ومتابعة البيانات  ←  البحث والاسترجاع</a:t>
            </a:r>
          </a:p>
          <a:p>
            <a:pPr algn="r" rtl="1">
              <a:spcBef>
                <a:spcPts val="300"/>
              </a:spcBef>
            </a:pPr>
            <a:r>
              <a:rPr sz="950" b="1" lang="ar-SA" altLang="en-US">
                <a:solidFill>
                  <a:srgbClr val="1E3A8A"/>
                </a:solidFill>
                <a:latin typeface="Arial"/>
                <a:cs typeface="Arial"/>
              </a:rPr>
              <a:t>تتبع وحسابات اضمحلال النشاط الإشعاعي للنظائر:</a:t>
            </a:r>
          </a:p>
          <a:p>
            <a:pPr algn="ctr" rtl="1">
              <a:spcBef>
                <a:spcPts val="200"/>
              </a:spcBef>
            </a:pPr>
            <a:r>
              <a:rPr sz="1000" b="1" lang="en-US" altLang="ar-SA">
                <a:solidFill>
                  <a:srgbClr val="0D9488"/>
                </a:solidFill>
                <a:latin typeface="Arial"/>
              </a:rPr>
              <a:t>Co-60</a:t>
            </a:r>
            <a:r>
              <a:rPr sz="1000" b="1" lang="en-US" altLang="ar-SA">
                <a:solidFill>
                  <a:srgbClr val="0D9488"/>
                </a:solidFill>
                <a:latin typeface="Arial"/>
                <a:cs typeface="Arial"/>
              </a:rPr>
              <a:t>   •   </a:t>
            </a:r>
            <a:r>
              <a:rPr sz="1000" b="1" lang="en-US" altLang="ar-SA">
                <a:solidFill>
                  <a:srgbClr val="0D9488"/>
                </a:solidFill>
                <a:latin typeface="Arial"/>
              </a:rPr>
              <a:t>Cs-137</a:t>
            </a:r>
            <a:r>
              <a:rPr sz="1000" b="1" lang="en-US" altLang="ar-SA">
                <a:solidFill>
                  <a:srgbClr val="0D9488"/>
                </a:solidFill>
                <a:latin typeface="Arial"/>
                <a:cs typeface="Arial"/>
              </a:rPr>
              <a:t>   •   </a:t>
            </a:r>
            <a:r>
              <a:rPr sz="1000" b="1" lang="en-US" altLang="ar-SA">
                <a:solidFill>
                  <a:srgbClr val="0D9488"/>
                </a:solidFill>
                <a:latin typeface="Arial"/>
              </a:rPr>
              <a:t>Ir-192</a:t>
            </a:r>
            <a:r>
              <a:rPr sz="1000" b="1" lang="en-US" altLang="ar-SA">
                <a:solidFill>
                  <a:srgbClr val="0D9488"/>
                </a:solidFill>
                <a:latin typeface="Arial"/>
                <a:cs typeface="Arial"/>
              </a:rPr>
              <a:t>   •   </a:t>
            </a:r>
            <a:r>
              <a:rPr sz="1000" b="1" lang="en-US" altLang="ar-SA">
                <a:solidFill>
                  <a:srgbClr val="0D9488"/>
                </a:solidFill>
                <a:latin typeface="Arial"/>
              </a:rPr>
              <a:t>Am-241</a:t>
            </a:r>
            <a:r>
              <a:rPr sz="1000" b="1" lang="en-US" altLang="ar-SA">
                <a:solidFill>
                  <a:srgbClr val="0D9488"/>
                </a:solidFill>
                <a:latin typeface="Arial"/>
                <a:cs typeface="Arial"/>
              </a:rPr>
              <a:t>   •   </a:t>
            </a:r>
            <a:r>
              <a:rPr sz="1000" b="1" lang="en-US" altLang="ar-SA">
                <a:solidFill>
                  <a:srgbClr val="0D9488"/>
                </a:solidFill>
                <a:latin typeface="Arial"/>
              </a:rPr>
              <a:t>Sr-90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Rounded Rectangle 1"/>
          <p:cNvSpPr/>
          <p:nvPr/>
        </p:nvSpPr>
        <p:spPr>
          <a:xfrm>
            <a:off x="548640" y="457200"/>
            <a:ext cx="11094415" cy="5943600"/>
          </a:xfrm>
          <a:prstGeom prst="roundRect">
            <a:avLst/>
          </a:prstGeom>
          <a:solidFill>
            <a:srgbClr val="112240"/>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3" name="TextBox 2"/>
          <p:cNvSpPr txBox="1"/>
          <p:nvPr/>
        </p:nvSpPr>
        <p:spPr>
          <a:xfrm>
            <a:off x="914400" y="731520"/>
            <a:ext cx="10362895" cy="731520"/>
          </a:xfrm>
          <a:prstGeom prst="rect">
            <a:avLst/>
          </a:prstGeom>
          <a:noFill/>
        </p:spPr>
        <p:txBody>
          <a:bodyPr wrap="none" rtlCol="1">
            <a:spAutoFit/>
          </a:bodyPr>
          <a:lstStyle/>
          <a:p>
            <a:pPr algn="ctr" rtl="1"/>
            <a:r>
              <a:rPr sz="2300" b="1" lang="ar-SA" altLang="en-US">
                <a:solidFill>
                  <a:srgbClr val="F8FAFC"/>
                </a:solidFill>
                <a:latin typeface="Arial"/>
                <a:cs typeface="Arial"/>
              </a:rPr>
              <a:t>الشريحة 14 — الخلاصة والتوجهات المستقبلية</a:t>
            </a:r>
          </a:p>
        </p:txBody>
      </p:sp>
      <p:sp>
        <p:nvSpPr>
          <p:cNvPr id="4" name="Rounded Rectangle 3"/>
          <p:cNvSpPr/>
          <p:nvPr/>
        </p:nvSpPr>
        <p:spPr>
          <a:xfrm>
            <a:off x="6035040" y="1508760"/>
            <a:ext cx="5394960" cy="3931920"/>
          </a:xfrm>
          <a:prstGeom prst="roundRect">
            <a:avLst/>
          </a:prstGeom>
          <a:solidFill>
            <a:srgbClr val="172A4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5" name="TextBox 4"/>
          <p:cNvSpPr txBox="1"/>
          <p:nvPr/>
        </p:nvSpPr>
        <p:spPr>
          <a:xfrm>
            <a:off x="6217920" y="1645920"/>
            <a:ext cx="5029200" cy="3657600"/>
          </a:xfrm>
          <a:prstGeom prst="rect">
            <a:avLst/>
          </a:prstGeom>
          <a:noFill/>
        </p:spPr>
        <p:txBody>
          <a:bodyPr wrap="square" rtlCol="1">
            <a:spAutoFit/>
          </a:bodyPr>
          <a:lstStyle/>
          <a:p>
            <a:pPr algn="r" rtl="1"/>
            <a:r>
              <a:rPr sz="1500" b="1" lang="ar-SA" altLang="en-US">
                <a:solidFill>
                  <a:srgbClr val="D97706"/>
                </a:solidFill>
                <a:latin typeface="Arial"/>
                <a:cs typeface="Arial"/>
              </a:rPr>
              <a:t>أهم ما تم تطويره:</a:t>
            </a:r>
          </a:p>
          <a:p>
            <a:pPr algn="r" rtl="1">
              <a:spcBef>
                <a:spcPts val="400"/>
              </a:spcBef>
            </a:pPr>
            <a:r>
              <a:rPr sz="1200" b="1" lang="ar-SA" altLang="en-US">
                <a:solidFill>
                  <a:srgbClr val="F8FAFC"/>
                </a:solidFill>
                <a:latin typeface="Arial"/>
                <a:cs typeface="Arial"/>
              </a:rPr>
              <a:t>1. تطوير شهادات المعايرة</a:t>
            </a:r>
          </a:p>
          <a:p>
            <a:pPr algn="r" rtl="1">
              <a:spcBef>
                <a:spcPts val="100"/>
              </a:spcBef>
            </a:pPr>
            <a:r>
              <a:rPr sz="1050" b="0" lang="ar-SA" altLang="en-US">
                <a:solidFill>
                  <a:srgbClr val="CBD5E1"/>
                </a:solidFill>
                <a:latin typeface="Arial"/>
                <a:cs typeface="Arial"/>
              </a:rPr>
              <a:t>   علميًا وفنيًا وفق متطلبات </a:t>
            </a:r>
            <a:r>
              <a:rPr sz="1050" b="0" lang="en-US" altLang="ar-SA">
                <a:solidFill>
                  <a:srgbClr val="CBD5E1"/>
                </a:solidFill>
                <a:latin typeface="Arial"/>
              </a:rPr>
              <a:t>ISO/IEC 17025:2017.</a:t>
            </a:r>
          </a:p>
          <a:p>
            <a:pPr algn="r" rtl="1">
              <a:spcBef>
                <a:spcPts val="400"/>
              </a:spcBef>
            </a:pPr>
            <a:r>
              <a:rPr sz="1200" b="1" lang="ar-SA" altLang="en-US">
                <a:solidFill>
                  <a:srgbClr val="F8FAFC"/>
                </a:solidFill>
                <a:latin typeface="Arial"/>
                <a:cs typeface="Arial"/>
              </a:rPr>
              <a:t>2. إعادة تفعيل وتطوير معايرة العلاج الإشعاعي</a:t>
            </a:r>
          </a:p>
          <a:p>
            <a:pPr algn="r" rtl="1">
              <a:spcBef>
                <a:spcPts val="100"/>
              </a:spcBef>
            </a:pPr>
            <a:r>
              <a:rPr sz="1050" b="0" lang="ar-SA" altLang="en-US">
                <a:solidFill>
                  <a:srgbClr val="CBD5E1"/>
                </a:solidFill>
                <a:latin typeface="Arial"/>
                <a:cs typeface="Arial"/>
              </a:rPr>
              <a:t>   بعد توفير غرفة التأين المرجعية </a:t>
            </a:r>
            <a:r>
              <a:rPr sz="1050" b="0" lang="en-US" altLang="ar-SA">
                <a:solidFill>
                  <a:srgbClr val="CBD5E1"/>
                </a:solidFill>
                <a:latin typeface="Arial"/>
              </a:rPr>
              <a:t>Farmer Chamber.</a:t>
            </a:r>
          </a:p>
          <a:p>
            <a:pPr algn="r" rtl="1">
              <a:spcBef>
                <a:spcPts val="400"/>
              </a:spcBef>
            </a:pPr>
            <a:r>
              <a:rPr sz="1200" b="1" lang="ar-SA" altLang="en-US">
                <a:solidFill>
                  <a:srgbClr val="F8FAFC"/>
                </a:solidFill>
                <a:latin typeface="Arial"/>
                <a:cs typeface="Arial"/>
              </a:rPr>
              <a:t>3. تطوير منظومة </a:t>
            </a:r>
            <a:r>
              <a:rPr sz="1200" b="1" lang="en-US" altLang="ar-SA">
                <a:solidFill>
                  <a:srgbClr val="F8FAFC"/>
                </a:solidFill>
                <a:latin typeface="Arial"/>
              </a:rPr>
              <a:t>CAL-QR</a:t>
            </a:r>
          </a:p>
          <a:p>
            <a:pPr algn="r" rtl="1">
              <a:spcBef>
                <a:spcPts val="100"/>
              </a:spcBef>
            </a:pPr>
            <a:r>
              <a:rPr sz="1050" b="0" lang="ar-SA" altLang="en-US">
                <a:solidFill>
                  <a:srgbClr val="CBD5E1"/>
                </a:solidFill>
                <a:latin typeface="Arial"/>
                <a:cs typeface="Arial"/>
              </a:rPr>
              <a:t>   لإصدار وحفظ وأرشفة شهادات المعايرة ودعمها بـ </a:t>
            </a:r>
            <a:r>
              <a:rPr sz="1050" b="0" lang="en-US" altLang="ar-SA">
                <a:solidFill>
                  <a:srgbClr val="CBD5E1"/>
                </a:solidFill>
                <a:latin typeface="Arial"/>
              </a:rPr>
              <a:t>QR Code.</a:t>
            </a:r>
          </a:p>
          <a:p>
            <a:pPr algn="r" rtl="1">
              <a:spcBef>
                <a:spcPts val="400"/>
              </a:spcBef>
            </a:pPr>
            <a:r>
              <a:rPr sz="1200" b="1" lang="ar-SA" altLang="en-US">
                <a:solidFill>
                  <a:srgbClr val="F8FAFC"/>
                </a:solidFill>
                <a:latin typeface="Arial"/>
                <a:cs typeface="Arial"/>
              </a:rPr>
              <a:t>4. تطوير منظومة مصادر المشعة</a:t>
            </a:r>
          </a:p>
          <a:p>
            <a:pPr algn="r" rtl="1">
              <a:spcBef>
                <a:spcPts val="100"/>
              </a:spcBef>
            </a:pPr>
            <a:r>
              <a:rPr sz="1050" b="0" lang="ar-SA" altLang="en-US">
                <a:solidFill>
                  <a:srgbClr val="CBD5E1"/>
                </a:solidFill>
                <a:latin typeface="Arial"/>
                <a:cs typeface="Arial"/>
              </a:rPr>
              <a:t>   لحصر وتنظيم وتوثيق بيانات المصادر رقمياً.</a:t>
            </a:r>
          </a:p>
        </p:txBody>
      </p:sp>
      <p:sp>
        <p:nvSpPr>
          <p:cNvPr id="6" name="Rounded Rectangle 5"/>
          <p:cNvSpPr/>
          <p:nvPr/>
        </p:nvSpPr>
        <p:spPr>
          <a:xfrm>
            <a:off x="731520" y="1508760"/>
            <a:ext cx="5120640" cy="3931920"/>
          </a:xfrm>
          <a:prstGeom prst="roundRect">
            <a:avLst/>
          </a:prstGeom>
          <a:solidFill>
            <a:srgbClr val="172A4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914400" y="1645920"/>
            <a:ext cx="4754880" cy="3657600"/>
          </a:xfrm>
          <a:prstGeom prst="rect">
            <a:avLst/>
          </a:prstGeom>
          <a:noFill/>
        </p:spPr>
        <p:txBody>
          <a:bodyPr wrap="square" rtlCol="1">
            <a:spAutoFit/>
          </a:bodyPr>
          <a:lstStyle/>
          <a:p>
            <a:pPr algn="r" rtl="1"/>
            <a:r>
              <a:rPr sz="1500" b="1" lang="ar-SA" altLang="en-US">
                <a:solidFill>
                  <a:srgbClr val="0284C7"/>
                </a:solidFill>
                <a:latin typeface="Arial"/>
                <a:cs typeface="Arial"/>
              </a:rPr>
              <a:t>التوجه المستقبلي:</a:t>
            </a:r>
          </a:p>
          <a:p>
            <a:pPr algn="r" rtl="1">
              <a:spcBef>
                <a:spcPts val="300"/>
              </a:spcBef>
            </a:pPr>
            <a:r>
              <a:rPr sz="1100" b="0" lang="ar-SA" altLang="en-US">
                <a:solidFill>
                  <a:srgbClr val="F8FAFC"/>
                </a:solidFill>
                <a:latin typeface="Arial"/>
                <a:cs typeface="Arial"/>
              </a:rPr>
              <a:t>🔹 استكمال تطوير وحدة معايرة العلاج الإشعاعي.</a:t>
            </a:r>
          </a:p>
          <a:p>
            <a:pPr algn="r" rtl="1">
              <a:spcBef>
                <a:spcPts val="300"/>
              </a:spcBef>
            </a:pPr>
            <a:r>
              <a:rPr sz="1100" b="0" lang="ar-SA" altLang="en-US">
                <a:solidFill>
                  <a:srgbClr val="F8FAFC"/>
                </a:solidFill>
                <a:latin typeface="Arial"/>
                <a:cs typeface="Arial"/>
              </a:rPr>
              <a:t>🔹 تطوير الإجراءات الفنية بالقسم.</a:t>
            </a:r>
          </a:p>
          <a:p>
            <a:pPr algn="r" rtl="1">
              <a:spcBef>
                <a:spcPts val="300"/>
              </a:spcBef>
            </a:pPr>
            <a:r>
              <a:rPr sz="1100" b="0" lang="ar-SA" altLang="en-US">
                <a:solidFill>
                  <a:srgbClr val="F8FAFC"/>
                </a:solidFill>
                <a:latin typeface="Arial"/>
                <a:cs typeface="Arial"/>
              </a:rPr>
              <a:t>🔹 استمرار تحديث شهادات المعايرة.</a:t>
            </a:r>
          </a:p>
          <a:p>
            <a:pPr algn="r" rtl="1">
              <a:spcBef>
                <a:spcPts val="300"/>
              </a:spcBef>
            </a:pPr>
            <a:r>
              <a:rPr sz="1100" b="0" lang="ar-SA" altLang="en-US">
                <a:solidFill>
                  <a:srgbClr val="F8FAFC"/>
                </a:solidFill>
                <a:latin typeface="Arial"/>
                <a:cs typeface="Arial"/>
              </a:rPr>
              <a:t>🔹 التوسع في الأرشفة الإلكترونية.</a:t>
            </a:r>
          </a:p>
          <a:p>
            <a:pPr algn="r" rtl="1">
              <a:spcBef>
                <a:spcPts val="300"/>
              </a:spcBef>
            </a:pPr>
            <a:r>
              <a:rPr sz="1100" b="0" lang="ar-SA" altLang="en-US">
                <a:solidFill>
                  <a:srgbClr val="F8FAFC"/>
                </a:solidFill>
                <a:latin typeface="Arial"/>
                <a:cs typeface="Arial"/>
              </a:rPr>
              <a:t>🔹 تطوير منظومات إدارة البيانات والسجلات.</a:t>
            </a:r>
          </a:p>
          <a:p>
            <a:pPr algn="r" rtl="1">
              <a:spcBef>
                <a:spcPts val="300"/>
              </a:spcBef>
            </a:pPr>
            <a:r>
              <a:rPr sz="1100" b="0" lang="ar-SA" altLang="en-US">
                <a:solidFill>
                  <a:srgbClr val="F8FAFC"/>
                </a:solidFill>
                <a:latin typeface="Arial"/>
                <a:cs typeface="Arial"/>
              </a:rPr>
              <a:t>🔹 تحسين عمليات البحث والاسترجاع والمتابعة.</a:t>
            </a:r>
          </a:p>
          <a:p>
            <a:pPr algn="r" rtl="1">
              <a:spcBef>
                <a:spcPts val="300"/>
              </a:spcBef>
            </a:pPr>
            <a:r>
              <a:rPr sz="1100" b="0" lang="ar-SA" altLang="en-US">
                <a:solidFill>
                  <a:srgbClr val="F8FAFC"/>
                </a:solidFill>
                <a:latin typeface="Arial"/>
                <a:cs typeface="Arial"/>
              </a:rPr>
              <a:t>🔹 مواصلة تطوير العمل وفق متطلبات </a:t>
            </a:r>
            <a:r>
              <a:rPr sz="1100" b="0" lang="en-US" altLang="ar-SA">
                <a:solidFill>
                  <a:srgbClr val="F8FAFC"/>
                </a:solidFill>
                <a:latin typeface="Arial"/>
              </a:rPr>
              <a:t>ISO/IEC 17025.</a:t>
            </a:r>
          </a:p>
        </p:txBody>
      </p:sp>
      <p:sp>
        <p:nvSpPr>
          <p:cNvPr id="8" name="TextBox 7"/>
          <p:cNvSpPr txBox="1"/>
          <p:nvPr/>
        </p:nvSpPr>
        <p:spPr>
          <a:xfrm>
            <a:off x="914400" y="5532120"/>
            <a:ext cx="10362895" cy="457200"/>
          </a:xfrm>
          <a:prstGeom prst="rect">
            <a:avLst/>
          </a:prstGeom>
          <a:noFill/>
        </p:spPr>
        <p:txBody>
          <a:bodyPr wrap="none" rtlCol="1">
            <a:spAutoFit/>
          </a:bodyPr>
          <a:lstStyle/>
          <a:p>
            <a:pPr algn="ctr" rtl="1"/>
            <a:r>
              <a:rPr sz="1400" b="1" lang="ar-SA" altLang="en-US">
                <a:solidFill>
                  <a:srgbClr val="D97706"/>
                </a:solidFill>
                <a:latin typeface="Arial"/>
                <a:cs typeface="Arial"/>
              </a:rPr>
              <a:t>شكراً لكم  |  والله ولي التوفيق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