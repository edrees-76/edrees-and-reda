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المخصص: 00:30</a:t>
            </a:r>
          </a:p>
          <a:p>
            <a:pPr algn="r" rtl="1">
              <a:spcBef>
                <a:spcPts val="600"/>
              </a:spcBef>
            </a:pPr>
            <a:r>
              <a:rPr sz="1200" b="0" lang="ar-SA" altLang="en-US">
                <a:latin typeface="Arial"/>
                <a:cs typeface="Arial"/>
              </a:rPr>
              <a:t>🎙️ نص الإلقاء المقترح:</a:t>
            </a:r>
            <a:br/>
            <a:r>
              <a:rPr sz="1200" b="0" lang="ar-SA" altLang="en-US">
                <a:latin typeface="Arial"/>
                <a:cs typeface="Arial"/>
              </a:rPr>
              <a:t>السيد رئيس وأعضاء اللجنة العلمية الدائمة المحترمون، السلام عليكم ورحمة الله وبركاته. يسرنا أن نقدم لكم اليوم هذا العرض الخاص بتطوير وتحديث قسم المعايرة وقياس وتقدير الجرعات الشخصية بمركز البحوث النووية تاجوراء، متضمناً مسار التطوير العلمي والفني والرقمي وفق متطلبات المواصفة الدولية ISO/IEC 17025:2017، كثمرة عمل مشترك يجمع بين مركز البحوث النووية ومركز القياسات الإشعاعية والتدريب.</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المخصص: 00:45</a:t>
            </a:r>
          </a:p>
          <a:p>
            <a:pPr algn="r" rtl="1">
              <a:spcBef>
                <a:spcPts val="600"/>
              </a:spcBef>
            </a:pPr>
            <a:r>
              <a:rPr sz="1200" b="0" lang="ar-SA" altLang="en-US">
                <a:latin typeface="Arial"/>
                <a:cs typeface="Arial"/>
              </a:rPr>
              <a:t>🎙️ نص الإلقاء المقترح:</a:t>
            </a:r>
            <a:br/>
            <a:r>
              <a:rPr sz="1200" b="0" lang="ar-SA" altLang="en-US">
                <a:latin typeface="Arial"/>
                <a:cs typeface="Arial"/>
              </a:rPr>
              <a:t>قسم المعايرة وقياس وتقدير الجرعات الشخصية هو قسم فني رائد يجمع بين المعايرة والقياسات والوقاية من الإشعاع وتوثيق النتائج وإصدار الشهادات. يتكون القسم هيكلياً من وحدتين رئيستين: وحدة الجرعات الشخصية المعتمدة على تقنية TLD، ووحدة المعايرة بشقيها: معايرة كواشف وأجهزة المسح الإشعاعي، ومعايرة العلاج الإشعاعي.</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المخصص: 00:45</a:t>
            </a:r>
          </a:p>
          <a:p>
            <a:pPr algn="r" rtl="1">
              <a:spcBef>
                <a:spcPts val="600"/>
              </a:spcBef>
            </a:pPr>
            <a:r>
              <a:rPr sz="1200" b="0" lang="ar-SA" altLang="en-US">
                <a:latin typeface="Arial"/>
                <a:cs typeface="Arial"/>
              </a:rPr>
              <a:t>🎙️ نص الإلقاء المقترح:</a:t>
            </a:r>
            <a:br/>
            <a:r>
              <a:rPr sz="1200" b="0" lang="ar-SA" altLang="en-US">
                <a:latin typeface="Arial"/>
                <a:cs typeface="Arial"/>
              </a:rPr>
              <a:t>مختبر SSDL بمركز البحوث النووية تاجوراء هو أول مختبر من نوعه في ليبيا وشمال أفريقيا، متخصص في معايرة أجهزة القياس والجرعات الإشعاعية وإجراء القياسات المرجعية، وله تعاون فني عريق مع الوكالة الدولية للطاقة الذرية IAEA، وهو المرجع الوطني لإصدار وتوثيق شهادات المعايرة.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المخصص: 00:50</a:t>
            </a:r>
          </a:p>
          <a:p>
            <a:pPr algn="r" rtl="1">
              <a:spcBef>
                <a:spcPts val="600"/>
              </a:spcBef>
            </a:pPr>
            <a:r>
              <a:rPr sz="1200" b="0" lang="ar-SA" altLang="en-US">
                <a:latin typeface="Arial"/>
                <a:cs typeface="Arial"/>
              </a:rPr>
              <a:t>🎙️ نص الإلقاء المقترح:</a:t>
            </a:r>
            <a:br/>
            <a:r>
              <a:rPr sz="1200" b="0" lang="ar-SA" altLang="en-US">
                <a:latin typeface="Arial"/>
                <a:cs typeface="Arial"/>
              </a:rPr>
              <a:t>تتوزع الأعمال الفنية بين وحدة معايرة الكواشف التي تواصل إجراء القياسات وتحليل النتائج وإصدار الشهادات، ووحدة معايرة العلاج الإشعاعي التي كانت متوقفة لعدم توفر غرفة التأين المرجعية Farmer Chamber. والخبر الهام أنه بعد توفير هذه الغرفة المرجعية، بدأت بالفعل إجراءات إعادة تفعيل وتطوير الوحدة وتجهيزها لبدء العمل.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المخصص: 00:50</a:t>
            </a:r>
          </a:p>
          <a:p>
            <a:pPr algn="r" rtl="1">
              <a:spcBef>
                <a:spcPts val="600"/>
              </a:spcBef>
            </a:pPr>
            <a:r>
              <a:rPr sz="1200" b="0" lang="ar-SA" altLang="en-US">
                <a:latin typeface="Arial"/>
                <a:cs typeface="Arial"/>
              </a:rPr>
              <a:t>🎙️ نص الإلقاء المقترح:</a:t>
            </a:r>
            <a:br/>
            <a:r>
              <a:rPr sz="1200" b="0" lang="ar-SA" altLang="en-US">
                <a:latin typeface="Arial"/>
                <a:cs typeface="Arial"/>
              </a:rPr>
              <a:t>واجه القسم حزمة من التحديات الفنية والإدارية: الحاجة لتطوير وتوحيد محتوى شهادة المعايرة علمياً، الاعتماد على الأرشفة الورقية وصعوبة الاسترجاع، غياب وسيلة رقمية للتحقق من الشهادات، وتوقف معايرة العلاج الإشعاعي لغياب غرفة فارمر. هذه التحديات الثمانية حددت برنامج عمل التطوير الذي تم تنفيذه.</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المخصص: 00:50</a:t>
            </a:r>
          </a:p>
          <a:p>
            <a:pPr algn="r" rtl="1">
              <a:spcBef>
                <a:spcPts val="600"/>
              </a:spcBef>
            </a:pPr>
            <a:r>
              <a:rPr sz="1200" b="0" lang="ar-SA" altLang="en-US">
                <a:latin typeface="Arial"/>
                <a:cs typeface="Arial"/>
              </a:rPr>
              <a:t>🎙️ نص الإلقاء المقترح:</a:t>
            </a:r>
            <a:br/>
            <a:r>
              <a:rPr sz="1200" b="0" lang="ar-SA" altLang="en-US">
                <a:latin typeface="Arial"/>
                <a:cs typeface="Arial"/>
              </a:rPr>
              <a:t>تطوير الشهادة فكرياً وعلمياً وفق متطلبات ISO/IEC 17025:2017 سبق أي كود برمجي، وهذا هو الأساس الصلب الذي مكننا لاحقاً من بناء منظومة CAL-QR بنجاح.</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المخصص: 00:50</a:t>
            </a:r>
          </a:p>
          <a:p>
            <a:pPr algn="r" rtl="1">
              <a:spcBef>
                <a:spcPts val="600"/>
              </a:spcBef>
            </a:pPr>
            <a:r>
              <a:rPr sz="1200" b="0" lang="ar-SA" altLang="en-US">
                <a:latin typeface="Arial"/>
                <a:cs typeface="Arial"/>
              </a:rPr>
              <a:t>🎙️ نص الإلقاء المقترح:</a:t>
            </a:r>
            <a:br/>
            <a:r>
              <a:rPr sz="1200" b="0" lang="ar-SA" altLang="en-US">
                <a:latin typeface="Arial"/>
                <a:cs typeface="Arial"/>
              </a:rPr>
              <a:t>بعد توفير غرفة التأين المرجعية Farmer Chamber بدأنا مرحلة إعادة تفعيل وحدة معايرة العلاج الإشعاعي، وتجهيز منظومات القياس وتطوير الإجراءات للاستعداد لبدء العمل الفعلي وخدمة القطاع الصحي والمراكز العلاجية.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المخصص: 00:40</a:t>
            </a:r>
          </a:p>
          <a:p>
            <a:pPr algn="r" rtl="1">
              <a:spcBef>
                <a:spcPts val="600"/>
              </a:spcBef>
            </a:pPr>
            <a:r>
              <a:rPr sz="1200" b="0" lang="ar-SA" altLang="en-US">
                <a:latin typeface="Arial"/>
                <a:cs typeface="Arial"/>
              </a:rPr>
              <a:t>🎙️ نص الإلقاء المقترح:</a:t>
            </a:r>
            <a:br/>
            <a:r>
              <a:rPr sz="1200" b="0" lang="ar-SA" altLang="en-US">
                <a:latin typeface="Arial"/>
                <a:cs typeface="Arial"/>
              </a:rPr>
              <a:t>رضا يقول بعد الشريحة 8:</a:t>
            </a:r>
            <a:br/>
            <a:r>
              <a:rPr sz="1200" b="0" lang="ar-SA" altLang="en-US">
                <a:latin typeface="Arial"/>
                <a:cs typeface="Arial"/>
              </a:rPr>
              <a:t>«بعد أن قمنا أولاً بتطوير شهادات المعايرة من الناحية العلمية والفنية، وتهيئتها وفق متطلبات ISO/IEC 17025:2017، ظهرت الحاجة إلى تحويل هذه البيانات والإجراءات إلى نظام رقمي متكامل. وهنا بدأ التعاون مع الزميل إدريس، حيث تم تزويده بالمتطلبات العلمية والفنية وبيانات الشهادة، ليقوم بتحويلها إلى منظومة إلكترونية متخصصة.»</a:t>
            </a:r>
            <a:br/>
            <a:br/>
            <a:r>
              <a:rPr sz="1200" b="0" lang="ar-SA" altLang="en-US">
                <a:latin typeface="Arial"/>
                <a:cs typeface="Arial"/>
              </a:rPr>
              <a:t>ثم:</a:t>
            </a:r>
            <a:br/>
            <a:r>
              <a:rPr sz="1200" b="0" lang="ar-SA" altLang="en-US">
                <a:latin typeface="Arial"/>
                <a:cs typeface="Arial"/>
              </a:rPr>
              <a:t>«وسيقدم لنا الزميل إدريس الآن شرحًا تفصيليًا لمنظومة CAL-QR، من حيث فكرة المنظومة، وقاعدة البيانات، وآلية إصدار الشهادة، والأرشفة، والبحث والاسترجاع، والـQR Code، ثم سينتقل إلى منظومة مصادر المشعة وآلية عملها.»</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المخصص: 00:50</a:t>
            </a:r>
          </a:p>
          <a:p>
            <a:pPr algn="r" rtl="1">
              <a:spcBef>
                <a:spcPts val="600"/>
              </a:spcBef>
            </a:pPr>
            <a:r>
              <a:rPr sz="1200" b="0" lang="ar-SA" altLang="en-US">
                <a:latin typeface="Arial"/>
                <a:cs typeface="Arial"/>
              </a:rPr>
              <a:t>🎙️ نص الإلقاء المقترح:</a:t>
            </a:r>
            <a:br/>
            <a:r>
              <a:rPr sz="1200" b="0" lang="ar-SA" altLang="en-US">
                <a:latin typeface="Arial"/>
                <a:cs typeface="Arial"/>
              </a:rPr>
              <a:t>يقوم إدريس الآن ببدء الجزء الرقمي: بعد أن استلمنا المتطلبات الفنية من الزميل رضا، قمنا بتصميم معمارية رقمية متكاملة لـ CAL-QR، بدءاً من بناء قاعدة البيانات وواجهات الإدخال، وصولاً لبرمجة التوقيع المشفر وتوليد رمز QR والأرشفة المركزية.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المخصص: 00:50</a:t>
            </a:r>
          </a:p>
          <a:p>
            <a:pPr algn="r" rtl="1">
              <a:spcBef>
                <a:spcPts val="600"/>
              </a:spcBef>
            </a:pPr>
            <a:r>
              <a:rPr sz="1200" b="0" lang="ar-SA" altLang="en-US">
                <a:latin typeface="Arial"/>
                <a:cs typeface="Arial"/>
              </a:rPr>
              <a:t>🎙️ نص الإلقاء المقترح:</a:t>
            </a:r>
            <a:br/>
            <a:r>
              <a:rPr sz="1200" b="0" lang="ar-SA" altLang="en-US">
                <a:latin typeface="Arial"/>
                <a:cs typeface="Arial"/>
              </a:rPr>
              <a:t>يقوم إدريس بشرح واجهة المنظومة وقاعدة البيانات وآلية البرمجة: مسار العمل يبدأ بإدخال بيانات الجهاز ثم تسجيل نتائج المعايرة، وإنشاء الشهادة، وتسجيلها في قاعدة البيانات المحلية، وحفظ نسخة أرشيفية مستقلة، وتوليد رمز QR للتحقق الميداني الفوري.</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المخصص: 00:45</a:t>
            </a:r>
          </a:p>
          <a:p>
            <a:pPr algn="r" rtl="1">
              <a:spcBef>
                <a:spcPts val="600"/>
              </a:spcBef>
            </a:pPr>
            <a:r>
              <a:rPr sz="1200" b="0" lang="ar-SA" altLang="en-US">
                <a:latin typeface="Arial"/>
                <a:cs typeface="Arial"/>
              </a:rPr>
              <a:t>🎙️ نص الإلقاء المقترح:</a:t>
            </a:r>
            <a:br/>
            <a:r>
              <a:rPr sz="1200" b="0" lang="ar-SA" altLang="en-US">
                <a:latin typeface="Arial"/>
                <a:cs typeface="Arial"/>
              </a:rPr>
              <a:t>أحدثت منظومة CAL-QR نقلة نوعية حقيقية بنقل العمل من الأرشفة الورقية المعرضة للتلف إلى أرشفة رقمية آمنة، ومن البحث اليدوي إلى استرجاع فوري، ومن شهادة معزولة إلى وثيقة مرتبطة ببياناتها داخل النظام، ومن الوصول البطيء إلى تحقق ميداني سريع عبر QR Code.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المخصص: 00:45</a:t>
            </a:r>
          </a:p>
          <a:p>
            <a:pPr algn="r" rtl="1">
              <a:spcBef>
                <a:spcPts val="600"/>
              </a:spcBef>
            </a:pPr>
            <a:r>
              <a:rPr sz="1200" b="0" lang="ar-SA" altLang="en-US">
                <a:latin typeface="Arial"/>
                <a:cs typeface="Arial"/>
              </a:rPr>
              <a:t>🎙️ نص الإلقاء المقترح:</a:t>
            </a:r>
            <a:br/>
            <a:r>
              <a:rPr sz="1200" b="0" lang="ar-SA" altLang="en-US">
                <a:latin typeface="Arial"/>
                <a:cs typeface="Arial"/>
              </a:rPr>
              <a:t>بالتوازي مع منظومة المعايرة، قمنا بتطوير منظومة مصادر كمشروع رقمي مستقل يهدف إلى الحصر الشامل للمصادر المشعة بمركز البحوث النووية تاجوراء، وتسجيل بياناتها وحركتها، وتسهيل الوصول للمعلومات ودعم اتخاذ القرار الرقابي والفني.</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المخصص: 00:50</a:t>
            </a:r>
          </a:p>
          <a:p>
            <a:pPr algn="r" rtl="1">
              <a:spcBef>
                <a:spcPts val="600"/>
              </a:spcBef>
            </a:pPr>
            <a:r>
              <a:rPr sz="1200" b="0" lang="ar-SA" altLang="en-US">
                <a:latin typeface="Arial"/>
                <a:cs typeface="Arial"/>
              </a:rPr>
              <a:t>🎙️ نص الإلقاء المقترح:</a:t>
            </a:r>
            <a:br/>
            <a:r>
              <a:rPr sz="1200" b="0" lang="ar-SA" altLang="en-US">
                <a:latin typeface="Arial"/>
                <a:cs typeface="Arial"/>
              </a:rPr>
              <a:t>يوضح هذا الجزء التكامل بين الجانب العلمي الذي حدد معايير الحصر والحقول المطلوبة، والجانب البرمجي الذي صمم قاعدة البيانات والواجهات؛ ومسار العمل يبدأ من إدخال بيانات المصدر وتسجيله وحفظه ومتابعته وصولاً إلى الاسترجاع والتقارير.</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rtlCol="1"/>
          <a:lstStyle/>
          <a:p>
            <a:pPr algn="r" rtl="1"/>
            <a:r>
              <a:rPr sz="1200" b="1" lang="ar-SA" altLang="en-US">
                <a:latin typeface="Arial"/>
                <a:cs typeface="Arial"/>
              </a:rPr>
              <a:t>⏱️ التوقيت المخصص: 00:45</a:t>
            </a:r>
          </a:p>
          <a:p>
            <a:pPr algn="r" rtl="1">
              <a:spcBef>
                <a:spcPts val="600"/>
              </a:spcBef>
            </a:pPr>
            <a:r>
              <a:rPr sz="1200" b="0" lang="ar-SA" altLang="en-US">
                <a:latin typeface="Arial"/>
                <a:cs typeface="Arial"/>
              </a:rPr>
              <a:t>🎙️ نص الإلقاء المقترح:</a:t>
            </a:r>
            <a:br/>
            <a:r>
              <a:rPr sz="1200" b="0" lang="ar-SA" altLang="en-US">
                <a:latin typeface="Arial"/>
                <a:cs typeface="Arial"/>
              </a:rPr>
              <a:t>ختام العرض: نلخص ما تحقق في أربعة إنجازات رئيسية (تطوير الشهادات، تفعيل معايرة العلاج الإشعاعي، منظومة CAL-QR، ومنظومة مصادر)، مع خطة التوجه المستقبلي لاستكمال الاعتماد والتوسع في الأرشفة الرقمية. نشكر رئيس وأعضاء اللجنة العلمية على حسن استماعهم.</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Rounded Rectangle 1"/>
          <p:cNvSpPr/>
          <p:nvPr/>
        </p:nvSpPr>
        <p:spPr>
          <a:xfrm>
            <a:off x="457200" y="457200"/>
            <a:ext cx="11277295" cy="5943600"/>
          </a:xfrm>
          <a:prstGeom prst="roundRect">
            <a:avLst/>
          </a:prstGeom>
          <a:solidFill>
            <a:srgbClr val="0B192C"/>
          </a:solidFill>
          <a:ln w="19050">
            <a:solidFill>
              <a:srgbClr val="2D41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pic>
        <p:nvPicPr>
          <p:cNvPr id="3" name="Picture 2" descr="tnrc.jpg"/>
          <p:cNvPicPr>
            <a:picLocks noChangeAspect="1"/>
          </p:cNvPicPr>
          <p:nvPr/>
        </p:nvPicPr>
        <p:blipFill>
          <a:blip r:embed="rId2"/>
          <a:stretch>
            <a:fillRect/>
          </a:stretch>
        </p:blipFill>
        <p:spPr>
          <a:xfrm>
            <a:off x="1097280" y="731520"/>
            <a:ext cx="1188720" cy="1188720"/>
          </a:xfrm>
          <a:prstGeom prst="rect">
            <a:avLst/>
          </a:prstGeom>
        </p:spPr>
      </p:pic>
      <p:pic>
        <p:nvPicPr>
          <p:cNvPr id="4" name="Picture 3" descr="aee.jpg"/>
          <p:cNvPicPr>
            <a:picLocks noChangeAspect="1"/>
          </p:cNvPicPr>
          <p:nvPr/>
        </p:nvPicPr>
        <p:blipFill>
          <a:blip r:embed="rId3"/>
          <a:stretch>
            <a:fillRect/>
          </a:stretch>
        </p:blipFill>
        <p:spPr>
          <a:xfrm>
            <a:off x="5394960" y="640080"/>
            <a:ext cx="1371600" cy="1371600"/>
          </a:xfrm>
          <a:prstGeom prst="rect">
            <a:avLst/>
          </a:prstGeom>
        </p:spPr>
      </p:pic>
      <p:sp>
        <p:nvSpPr>
          <p:cNvPr id="5" name="TextBox 4"/>
          <p:cNvSpPr txBox="1"/>
          <p:nvPr/>
        </p:nvSpPr>
        <p:spPr>
          <a:xfrm>
            <a:off x="914400" y="2148840"/>
            <a:ext cx="10362895" cy="2194560"/>
          </a:xfrm>
          <a:prstGeom prst="rect">
            <a:avLst/>
          </a:prstGeom>
          <a:noFill/>
        </p:spPr>
        <p:txBody>
          <a:bodyPr wrap="square" rtlCol="1">
            <a:spAutoFit/>
          </a:bodyPr>
          <a:lstStyle/>
          <a:p>
            <a:pPr algn="ctr" rtl="1"/>
            <a:r>
              <a:rPr sz="1300" b="1" lang="ar-SA" altLang="en-US">
                <a:solidFill>
                  <a:srgbClr val="D4AF37"/>
                </a:solidFill>
                <a:latin typeface="Arial"/>
                <a:cs typeface="Arial"/>
              </a:rPr>
              <a:t>العرض النهائي  |  اجتماع اللجنة العلمية الدائمة لسنة 2026م</a:t>
            </a:r>
          </a:p>
          <a:p>
            <a:pPr algn="ctr" rtl="1">
              <a:spcBef>
                <a:spcPts val="600"/>
              </a:spcBef>
            </a:pPr>
            <a:r>
              <a:rPr sz="2500" b="1" lang="ar-SA" altLang="en-US">
                <a:solidFill>
                  <a:srgbClr val="F1F5F9"/>
                </a:solidFill>
                <a:latin typeface="Arial"/>
                <a:cs typeface="Arial"/>
              </a:rPr>
              <a:t>تطوير وتحديث قسم المعايرة وقياس وتقدير الجرعات الشخصية</a:t>
            </a:r>
          </a:p>
          <a:p>
            <a:pPr algn="ctr" rtl="1">
              <a:spcBef>
                <a:spcPts val="600"/>
              </a:spcBef>
            </a:pPr>
            <a:r>
              <a:rPr sz="1800" b="1" lang="ar-SA" altLang="en-US">
                <a:solidFill>
                  <a:srgbClr val="CBD5E1"/>
                </a:solidFill>
                <a:latin typeface="Arial"/>
                <a:cs typeface="Arial"/>
              </a:rPr>
              <a:t>مركز البحوث النووية – تاجوراء</a:t>
            </a:r>
          </a:p>
          <a:p>
            <a:pPr algn="ctr" rtl="1">
              <a:spcBef>
                <a:spcPts val="600"/>
              </a:spcBef>
            </a:pPr>
            <a:r>
              <a:rPr sz="1300" b="1" lang="ar-SA" altLang="en-US">
                <a:solidFill>
                  <a:srgbClr val="D4AF37"/>
                </a:solidFill>
                <a:latin typeface="Arial"/>
                <a:cs typeface="Arial"/>
              </a:rPr>
              <a:t>التطوير العلمي والفني والرقمي وفق متطلبات ISO/IEC 17025:2017</a:t>
            </a:r>
          </a:p>
        </p:txBody>
      </p:sp>
      <p:sp>
        <p:nvSpPr>
          <p:cNvPr id="6" name="Rounded Rectangle 5"/>
          <p:cNvSpPr/>
          <p:nvPr/>
        </p:nvSpPr>
        <p:spPr>
          <a:xfrm>
            <a:off x="1371600" y="4480560"/>
            <a:ext cx="9448495" cy="1463040"/>
          </a:xfrm>
          <a:prstGeom prst="roundRect">
            <a:avLst/>
          </a:prstGeom>
          <a:solidFill>
            <a:srgbClr val="16263D"/>
          </a:solidFill>
          <a:ln w="19050">
            <a:solidFill>
              <a:srgbClr val="2D41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7" name="TextBox 6"/>
          <p:cNvSpPr txBox="1"/>
          <p:nvPr/>
        </p:nvSpPr>
        <p:spPr>
          <a:xfrm>
            <a:off x="1554480" y="4572000"/>
            <a:ext cx="9082735" cy="1280160"/>
          </a:xfrm>
          <a:prstGeom prst="rect">
            <a:avLst/>
          </a:prstGeom>
          <a:noFill/>
        </p:spPr>
        <p:txBody>
          <a:bodyPr wrap="square" rtlCol="1">
            <a:spAutoFit/>
          </a:bodyPr>
          <a:lstStyle/>
          <a:p>
            <a:pPr algn="ctr" rtl="1"/>
            <a:r>
              <a:rPr sz="1200" b="1" lang="ar-SA" altLang="en-US">
                <a:solidFill>
                  <a:srgbClr val="D4AF37"/>
                </a:solidFill>
                <a:latin typeface="Arial"/>
                <a:cs typeface="Arial"/>
              </a:rPr>
              <a:t>إعداد وتقديم:</a:t>
            </a:r>
          </a:p>
          <a:p>
            <a:pPr algn="ctr" rtl="1">
              <a:spcBef>
                <a:spcPts val="400"/>
              </a:spcBef>
            </a:pPr>
            <a:r>
              <a:rPr sz="1250" b="1" lang="ar-SA" altLang="en-US">
                <a:solidFill>
                  <a:srgbClr val="F1F5F9"/>
                </a:solidFill>
                <a:latin typeface="Arial"/>
                <a:cs typeface="Arial"/>
              </a:rPr>
              <a:t>رضا علي المريمي — رئيس قسم المعايرة وقياس وتقدير الجرعات الشخصية بمركز البحوث النووية</a:t>
            </a:r>
          </a:p>
          <a:p>
            <a:pPr algn="ctr" rtl="1">
              <a:spcBef>
                <a:spcPts val="300"/>
              </a:spcBef>
            </a:pPr>
            <a:r>
              <a:rPr sz="1250" b="1" lang="ar-SA" altLang="en-US">
                <a:solidFill>
                  <a:srgbClr val="F1F5F9"/>
                </a:solidFill>
                <a:latin typeface="Arial"/>
                <a:cs typeface="Arial"/>
              </a:rPr>
              <a:t>ادريس فتح الله الهري — رئيس مختبر بنغازي بمركز القياسات الاشعاعية</a:t>
            </a:r>
          </a:p>
          <a:p>
            <a:pPr algn="ctr" rtl="1">
              <a:spcBef>
                <a:spcPts val="400"/>
              </a:spcBef>
            </a:pPr>
            <a:r>
              <a:rPr sz="1050" b="0" lang="ar-SA" altLang="en-US">
                <a:solidFill>
                  <a:srgbClr val="94A3B8"/>
                </a:solidFill>
                <a:latin typeface="Arial"/>
                <a:cs typeface="Arial"/>
              </a:rPr>
              <a:t>22 سبتمبر 2026م  |  مؤسسة الطاقة الذرية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rIns="0" tIns="0" bIns="0" rtlCol="1">
            <a:spAutoFit/>
          </a:bodyPr>
          <a:lstStyle/>
          <a:p>
            <a:pPr algn="r" rtl="1"/>
            <a:r>
              <a:rPr sz="1100" b="1" lang="ar-SA" altLang="en-US">
                <a:solidFill>
                  <a:srgbClr val="D4AF37"/>
                </a:solidFill>
                <a:latin typeface="Arial"/>
                <a:cs typeface="Arial"/>
              </a:rPr>
              <a:t>الشريحة 2 — التعريف بالقسم</a:t>
            </a:r>
          </a:p>
          <a:p>
            <a:pPr algn="r" rtl="1">
              <a:spcBef>
                <a:spcPts val="300"/>
              </a:spcBef>
            </a:pPr>
            <a:r>
              <a:rPr sz="2200" b="1" lang="ar-SA" altLang="en-US">
                <a:solidFill>
                  <a:srgbClr val="0B192C"/>
                </a:solidFill>
                <a:latin typeface="Arial"/>
                <a:cs typeface="Arial"/>
              </a:rPr>
              <a:t>التعريف بقسم المعايرة وقياس وتقدير الجرعات الشخصية</a:t>
            </a:r>
          </a:p>
        </p:txBody>
      </p:sp>
      <p:sp>
        <p:nvSpPr>
          <p:cNvPr id="3" name="Rectangle 2"/>
          <p:cNvSpPr/>
          <p:nvPr/>
        </p:nvSpPr>
        <p:spPr>
          <a:xfrm>
            <a:off x="731520" y="1207008"/>
            <a:ext cx="10728655" cy="18288"/>
          </a:xfrm>
          <a:prstGeom prst="rect">
            <a:avLst/>
          </a:prstGeom>
          <a:solidFill>
            <a:srgbClr val="DCE1E8"/>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4" name="TextBox 3"/>
          <p:cNvSpPr txBox="1"/>
          <p:nvPr/>
        </p:nvSpPr>
        <p:spPr>
          <a:xfrm>
            <a:off x="731520" y="6355080"/>
            <a:ext cx="10728655" cy="320040"/>
          </a:xfrm>
          <a:prstGeom prst="rect">
            <a:avLst/>
          </a:prstGeom>
          <a:noFill/>
        </p:spPr>
        <p:txBody>
          <a:bodyPr wrap="none" lIns="0" rIns="0" tIns="0" bIns="0" rtlCol="1">
            <a:spAutoFit/>
          </a:bodyPr>
          <a:lstStyle/>
          <a:p>
            <a:pPr algn="r" rtl="1"/>
            <a:r>
              <a:rPr sz="950" b="0" lang="ar-SA" altLang="en-US">
                <a:solidFill>
                  <a:srgbClr val="8C96A5"/>
                </a:solidFill>
                <a:latin typeface="Arial"/>
                <a:cs typeface="Arial"/>
              </a:rPr>
              <a:t>مؤسسة الطاقة الذرية  |  اجتماع اللجنة العلمية الدائمة لسنة 2026م  |  شريحة 2</a:t>
            </a:r>
          </a:p>
        </p:txBody>
      </p:sp>
      <p:pic>
        <p:nvPicPr>
          <p:cNvPr id="5" name="Picture 4" descr="14"/>
          <p:cNvPicPr>
            <a:picLocks noChangeAspect="1"/>
          </p:cNvPicPr>
          <p:nvPr/>
        </p:nvPicPr>
        <p:blipFill>
          <a:blip r:embed="rId2"/>
          <a:stretch>
            <a:fillRect/>
          </a:stretch>
        </p:blipFill>
        <p:spPr>
          <a:xfrm>
            <a:off x="731520" y="1417320"/>
            <a:ext cx="3291840" cy="4663440"/>
          </a:xfrm>
          <a:prstGeom prst="rect">
            <a:avLst/>
          </a:prstGeom>
        </p:spPr>
      </p:pic>
      <p:sp>
        <p:nvSpPr>
          <p:cNvPr id="6" name="Rounded Rectangle 5"/>
          <p:cNvSpPr/>
          <p:nvPr/>
        </p:nvSpPr>
        <p:spPr>
          <a:xfrm>
            <a:off x="4297680" y="1417320"/>
            <a:ext cx="7132320" cy="2377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7" name="TextBox 6"/>
          <p:cNvSpPr txBox="1"/>
          <p:nvPr/>
        </p:nvSpPr>
        <p:spPr>
          <a:xfrm>
            <a:off x="4480560" y="1554480"/>
            <a:ext cx="6766560" cy="2103120"/>
          </a:xfrm>
          <a:prstGeom prst="rect">
            <a:avLst/>
          </a:prstGeom>
          <a:noFill/>
        </p:spPr>
        <p:txBody>
          <a:bodyPr wrap="square" rtlCol="1">
            <a:spAutoFit/>
          </a:bodyPr>
          <a:lstStyle/>
          <a:p>
            <a:pPr algn="r" rtl="1"/>
            <a:r>
              <a:rPr sz="1500" b="1" lang="ar-SA" altLang="en-US">
                <a:solidFill>
                  <a:srgbClr val="0B192C"/>
                </a:solidFill>
                <a:latin typeface="Arial"/>
                <a:cs typeface="Arial"/>
              </a:rPr>
              <a:t>قسم فني متخصص في مجالات:</a:t>
            </a:r>
          </a:p>
          <a:p>
            <a:pPr algn="r" rtl="1">
              <a:spcBef>
                <a:spcPts val="200"/>
              </a:spcBef>
            </a:pPr>
            <a:r>
              <a:rPr sz="1150" b="0" lang="ar-SA" altLang="en-US">
                <a:solidFill>
                  <a:srgbClr val="172033"/>
                </a:solidFill>
                <a:latin typeface="Arial"/>
                <a:cs typeface="Arial"/>
              </a:rPr>
              <a:t>• المعايرة والقياسات الإشعاعية.</a:t>
            </a:r>
          </a:p>
          <a:p>
            <a:pPr algn="r" rtl="1">
              <a:spcBef>
                <a:spcPts val="200"/>
              </a:spcBef>
            </a:pPr>
            <a:r>
              <a:rPr sz="1150" b="0" lang="ar-SA" altLang="en-US">
                <a:solidFill>
                  <a:srgbClr val="172033"/>
                </a:solidFill>
                <a:latin typeface="Arial"/>
                <a:cs typeface="Arial"/>
              </a:rPr>
              <a:t>• قياس وتقدير الجرعات الشخصية.</a:t>
            </a:r>
          </a:p>
          <a:p>
            <a:pPr algn="r" rtl="1">
              <a:spcBef>
                <a:spcPts val="200"/>
              </a:spcBef>
            </a:pPr>
            <a:r>
              <a:rPr sz="1150" b="0" lang="ar-SA" altLang="en-US">
                <a:solidFill>
                  <a:srgbClr val="172033"/>
                </a:solidFill>
                <a:latin typeface="Arial"/>
                <a:cs typeface="Arial"/>
              </a:rPr>
              <a:t>• الحماية من الإشعاع.</a:t>
            </a:r>
          </a:p>
          <a:p>
            <a:pPr algn="r" rtl="1">
              <a:spcBef>
                <a:spcPts val="200"/>
              </a:spcBef>
            </a:pPr>
            <a:r>
              <a:rPr sz="1150" b="0" lang="ar-SA" altLang="en-US">
                <a:solidFill>
                  <a:srgbClr val="172033"/>
                </a:solidFill>
                <a:latin typeface="Arial"/>
                <a:cs typeface="Arial"/>
              </a:rPr>
              <a:t>• توثيق نتائج القياسات والمعايرات.</a:t>
            </a:r>
          </a:p>
          <a:p>
            <a:pPr algn="r" rtl="1">
              <a:spcBef>
                <a:spcPts val="200"/>
              </a:spcBef>
            </a:pPr>
            <a:r>
              <a:rPr sz="1150" b="0" lang="ar-SA" altLang="en-US">
                <a:solidFill>
                  <a:srgbClr val="172033"/>
                </a:solidFill>
                <a:latin typeface="Arial"/>
                <a:cs typeface="Arial"/>
              </a:rPr>
              <a:t>• إصدار شهادات المعايرة.</a:t>
            </a:r>
          </a:p>
          <a:p>
            <a:pPr algn="r" rtl="1">
              <a:spcBef>
                <a:spcPts val="200"/>
              </a:spcBef>
            </a:pPr>
            <a:r>
              <a:rPr sz="1150" b="0" lang="ar-SA" altLang="en-US">
                <a:solidFill>
                  <a:srgbClr val="172033"/>
                </a:solidFill>
                <a:latin typeface="Arial"/>
                <a:cs typeface="Arial"/>
              </a:rPr>
              <a:t>• تطوير الإجراءات والأنظمة الفنية والرقمية.</a:t>
            </a:r>
          </a:p>
        </p:txBody>
      </p:sp>
      <p:sp>
        <p:nvSpPr>
          <p:cNvPr id="8" name="Rounded Rectangle 7"/>
          <p:cNvSpPr/>
          <p:nvPr/>
        </p:nvSpPr>
        <p:spPr>
          <a:xfrm>
            <a:off x="4297680" y="3931920"/>
            <a:ext cx="7132320" cy="2148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9" name="TextBox 8"/>
          <p:cNvSpPr txBox="1"/>
          <p:nvPr/>
        </p:nvSpPr>
        <p:spPr>
          <a:xfrm>
            <a:off x="4480560" y="4069080"/>
            <a:ext cx="6766560" cy="1920240"/>
          </a:xfrm>
          <a:prstGeom prst="rect">
            <a:avLst/>
          </a:prstGeom>
          <a:noFill/>
        </p:spPr>
        <p:txBody>
          <a:bodyPr wrap="square" rtlCol="1">
            <a:spAutoFit/>
          </a:bodyPr>
          <a:lstStyle/>
          <a:p>
            <a:pPr algn="r" rtl="1"/>
            <a:r>
              <a:rPr sz="1500" b="1" lang="ar-SA" altLang="en-US">
                <a:solidFill>
                  <a:srgbClr val="0B192C"/>
                </a:solidFill>
                <a:latin typeface="Arial"/>
                <a:cs typeface="Arial"/>
              </a:rPr>
              <a:t>يتكون القسم من وحدتين رئيسيتين:</a:t>
            </a:r>
          </a:p>
          <a:p>
            <a:pPr algn="r" rtl="1">
              <a:spcBef>
                <a:spcPts val="400"/>
              </a:spcBef>
            </a:pPr>
            <a:r>
              <a:rPr sz="1250" b="1" lang="ar-SA" altLang="en-US">
                <a:solidFill>
                  <a:srgbClr val="B8922E"/>
                </a:solidFill>
                <a:latin typeface="Arial"/>
                <a:cs typeface="Arial"/>
              </a:rPr>
              <a:t>1. وحدة قياس وتقدير الجرعات الشخصية (Personal Dosimetry Unit)</a:t>
            </a:r>
          </a:p>
          <a:p>
            <a:pPr algn="r" rtl="1">
              <a:spcBef>
                <a:spcPts val="200"/>
              </a:spcBef>
            </a:pPr>
            <a:r>
              <a:rPr sz="1100" b="0" lang="ar-SA" altLang="en-US">
                <a:solidFill>
                  <a:srgbClr val="172033"/>
                </a:solidFill>
                <a:latin typeface="Arial"/>
                <a:cs typeface="Arial"/>
              </a:rPr>
              <a:t>   تعتمد على تقنية التلألؤ الحراري: TLD – Thermoluminescent Dosimetry</a:t>
            </a:r>
          </a:p>
          <a:p>
            <a:pPr algn="r" rtl="1">
              <a:spcBef>
                <a:spcPts val="500"/>
              </a:spcBef>
            </a:pPr>
            <a:r>
              <a:rPr sz="1250" b="1" lang="ar-SA" altLang="en-US">
                <a:solidFill>
                  <a:srgbClr val="1E3050"/>
                </a:solidFill>
                <a:latin typeface="Arial"/>
                <a:cs typeface="Arial"/>
              </a:rPr>
              <a:t>2. وحدة المعايرة (Calibration Unit)</a:t>
            </a:r>
          </a:p>
          <a:p>
            <a:pPr algn="r" rtl="1">
              <a:spcBef>
                <a:spcPts val="200"/>
              </a:spcBef>
            </a:pPr>
            <a:r>
              <a:rPr sz="1100" b="0" lang="ar-SA" altLang="en-US">
                <a:solidFill>
                  <a:srgbClr val="172033"/>
                </a:solidFill>
                <a:latin typeface="Arial"/>
                <a:cs typeface="Arial"/>
              </a:rPr>
              <a:t>   • وحدة معايرة الكواشف وأجهزة القياس الإشعاعي.</a:t>
            </a:r>
          </a:p>
          <a:p>
            <a:pPr algn="r" rtl="1">
              <a:spcBef>
                <a:spcPts val="200"/>
              </a:spcBef>
            </a:pPr>
            <a:r>
              <a:rPr sz="1100" b="0" lang="ar-SA" altLang="en-US">
                <a:solidFill>
                  <a:srgbClr val="172033"/>
                </a:solidFill>
                <a:latin typeface="Arial"/>
                <a:cs typeface="Arial"/>
              </a:rPr>
              <a:t>   • وحدة معايرة العلاج الإشعاعي.</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rIns="0" tIns="0" bIns="0" rtlCol="1">
            <a:spAutoFit/>
          </a:bodyPr>
          <a:lstStyle/>
          <a:p>
            <a:pPr algn="r" rtl="1"/>
            <a:r>
              <a:rPr sz="1100" b="1" lang="ar-SA" altLang="en-US">
                <a:solidFill>
                  <a:srgbClr val="D4AF37"/>
                </a:solidFill>
                <a:latin typeface="Arial"/>
                <a:cs typeface="Arial"/>
              </a:rPr>
              <a:t>الشريحة 3 — مختبر SSDL</a:t>
            </a:r>
          </a:p>
          <a:p>
            <a:pPr algn="r" rtl="1">
              <a:spcBef>
                <a:spcPts val="300"/>
              </a:spcBef>
            </a:pPr>
            <a:r>
              <a:rPr sz="2200" b="1" lang="ar-SA" altLang="en-US">
                <a:solidFill>
                  <a:srgbClr val="0B192C"/>
                </a:solidFill>
                <a:latin typeface="Arial"/>
                <a:cs typeface="Arial"/>
              </a:rPr>
              <a:t>مختبر المعايير الثانوية للجرعات (SSDL)</a:t>
            </a:r>
          </a:p>
        </p:txBody>
      </p:sp>
      <p:sp>
        <p:nvSpPr>
          <p:cNvPr id="3" name="Rectangle 2"/>
          <p:cNvSpPr/>
          <p:nvPr/>
        </p:nvSpPr>
        <p:spPr>
          <a:xfrm>
            <a:off x="731520" y="1207008"/>
            <a:ext cx="10728655" cy="18288"/>
          </a:xfrm>
          <a:prstGeom prst="rect">
            <a:avLst/>
          </a:prstGeom>
          <a:solidFill>
            <a:srgbClr val="DCE1E8"/>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4" name="TextBox 3"/>
          <p:cNvSpPr txBox="1"/>
          <p:nvPr/>
        </p:nvSpPr>
        <p:spPr>
          <a:xfrm>
            <a:off x="731520" y="6355080"/>
            <a:ext cx="10728655" cy="320040"/>
          </a:xfrm>
          <a:prstGeom prst="rect">
            <a:avLst/>
          </a:prstGeom>
          <a:noFill/>
        </p:spPr>
        <p:txBody>
          <a:bodyPr wrap="none" lIns="0" rIns="0" tIns="0" bIns="0" rtlCol="1">
            <a:spAutoFit/>
          </a:bodyPr>
          <a:lstStyle/>
          <a:p>
            <a:pPr algn="r" rtl="1"/>
            <a:r>
              <a:rPr sz="950" b="0" lang="ar-SA" altLang="en-US">
                <a:solidFill>
                  <a:srgbClr val="8C96A5"/>
                </a:solidFill>
                <a:latin typeface="Arial"/>
                <a:cs typeface="Arial"/>
              </a:rPr>
              <a:t>مؤسسة الطاقة الذرية  |  اجتماع اللجنة العلمية الدائمة لسنة 2026م  |  شريحة 3</a:t>
            </a:r>
          </a:p>
        </p:txBody>
      </p:sp>
      <p:pic>
        <p:nvPicPr>
          <p:cNvPr id="5" name="Picture 4" descr="16.jfif"/>
          <p:cNvPicPr>
            <a:picLocks noChangeAspect="1"/>
          </p:cNvPicPr>
          <p:nvPr/>
        </p:nvPicPr>
        <p:blipFill>
          <a:blip r:embed="rId2"/>
          <a:stretch>
            <a:fillRect/>
          </a:stretch>
        </p:blipFill>
        <p:spPr>
          <a:xfrm>
            <a:off x="731520" y="1417320"/>
            <a:ext cx="3291840" cy="4663440"/>
          </a:xfrm>
          <a:prstGeom prst="rect">
            <a:avLst/>
          </a:prstGeom>
        </p:spPr>
      </p:pic>
      <p:sp>
        <p:nvSpPr>
          <p:cNvPr id="6" name="Rounded Rectangle 5"/>
          <p:cNvSpPr/>
          <p:nvPr/>
        </p:nvSpPr>
        <p:spPr>
          <a:xfrm>
            <a:off x="4297680" y="1417320"/>
            <a:ext cx="713232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7" name="TextBox 6"/>
          <p:cNvSpPr txBox="1"/>
          <p:nvPr/>
        </p:nvSpPr>
        <p:spPr>
          <a:xfrm>
            <a:off x="4480560" y="1600200"/>
            <a:ext cx="6766560" cy="4297680"/>
          </a:xfrm>
          <a:prstGeom prst="rect">
            <a:avLst/>
          </a:prstGeom>
          <a:noFill/>
        </p:spPr>
        <p:txBody>
          <a:bodyPr wrap="square" rtlCol="1">
            <a:spAutoFit/>
          </a:bodyPr>
          <a:lstStyle/>
          <a:p>
            <a:pPr algn="r" rtl="1"/>
            <a:r>
              <a:rPr sz="1300" b="1" lang="ar-SA" altLang="en-US">
                <a:solidFill>
                  <a:srgbClr val="B8922E"/>
                </a:solidFill>
                <a:latin typeface="Arial"/>
                <a:cs typeface="Arial"/>
              </a:rPr>
              <a:t>Secondary Standard Dosimetry Laboratory – SSDL</a:t>
            </a:r>
          </a:p>
          <a:p>
            <a:pPr algn="r" rtl="1">
              <a:spcBef>
                <a:spcPts val="400"/>
              </a:spcBef>
            </a:pPr>
            <a:r>
              <a:rPr sz="1350" b="1" lang="ar-SA" altLang="en-US">
                <a:solidFill>
                  <a:srgbClr val="0B192C"/>
                </a:solidFill>
                <a:latin typeface="Arial"/>
                <a:cs typeface="Arial"/>
              </a:rPr>
              <a:t>يمثل المختبر أحد المكونات الفنية الأساسية في مجال المعايرة والقياسات الإشعاعية.</a:t>
            </a:r>
          </a:p>
          <a:p>
            <a:pPr algn="r" rtl="1">
              <a:spcBef>
                <a:spcPts val="400"/>
              </a:spcBef>
            </a:pPr>
            <a:r>
              <a:rPr sz="1250" b="1" lang="ar-SA" altLang="en-US">
                <a:solidFill>
                  <a:srgbClr val="10B981"/>
                </a:solidFill>
                <a:latin typeface="Arial"/>
                <a:cs typeface="Arial"/>
              </a:rPr>
              <a:t>أول مختبر من نوعه في ليبيا وشمال قارة أفريقيا، متخصص في معايرة أجهزة القياس والجرعات الإشعاعية.</a:t>
            </a:r>
          </a:p>
          <a:p>
            <a:pPr algn="r" rtl="1">
              <a:spcBef>
                <a:spcPts val="800"/>
              </a:spcBef>
            </a:pPr>
            <a:r>
              <a:rPr sz="1400" b="1" lang="ar-SA" altLang="en-US">
                <a:solidFill>
                  <a:srgbClr val="0B192C"/>
                </a:solidFill>
                <a:latin typeface="Arial"/>
                <a:cs typeface="Arial"/>
              </a:rPr>
              <a:t>أهم مجالات العمل:</a:t>
            </a:r>
          </a:p>
          <a:p>
            <a:pPr algn="r" rtl="1">
              <a:spcBef>
                <a:spcPts val="300"/>
              </a:spcBef>
            </a:pPr>
            <a:r>
              <a:rPr sz="1150" b="0" lang="ar-SA" altLang="en-US">
                <a:solidFill>
                  <a:srgbClr val="172033"/>
                </a:solidFill>
                <a:latin typeface="Arial"/>
                <a:cs typeface="Arial"/>
              </a:rPr>
              <a:t>• معايرة أجهزة وكواشف القياس الإشعاعي.</a:t>
            </a:r>
          </a:p>
          <a:p>
            <a:pPr algn="r" rtl="1">
              <a:spcBef>
                <a:spcPts val="300"/>
              </a:spcBef>
            </a:pPr>
            <a:r>
              <a:rPr sz="1150" b="0" lang="ar-SA" altLang="en-US">
                <a:solidFill>
                  <a:srgbClr val="172033"/>
                </a:solidFill>
                <a:latin typeface="Arial"/>
                <a:cs typeface="Arial"/>
              </a:rPr>
              <a:t>• إجراء القياسات المرجعية للجرعات.</a:t>
            </a:r>
          </a:p>
          <a:p>
            <a:pPr algn="r" rtl="1">
              <a:spcBef>
                <a:spcPts val="300"/>
              </a:spcBef>
            </a:pPr>
            <a:r>
              <a:rPr sz="1150" b="0" lang="ar-SA" altLang="en-US">
                <a:solidFill>
                  <a:srgbClr val="172033"/>
                </a:solidFill>
                <a:latin typeface="Arial"/>
                <a:cs typeface="Arial"/>
              </a:rPr>
              <a:t>• قياس وتقدير الجرعات الشخصية.</a:t>
            </a:r>
          </a:p>
          <a:p>
            <a:pPr algn="r" rtl="1">
              <a:spcBef>
                <a:spcPts val="300"/>
              </a:spcBef>
            </a:pPr>
            <a:r>
              <a:rPr sz="1150" b="0" lang="ar-SA" altLang="en-US">
                <a:solidFill>
                  <a:srgbClr val="172033"/>
                </a:solidFill>
                <a:latin typeface="Arial"/>
                <a:cs typeface="Arial"/>
              </a:rPr>
              <a:t>• دعم أعمال الحماية من الإشعاع.</a:t>
            </a:r>
          </a:p>
          <a:p>
            <a:pPr algn="r" rtl="1">
              <a:spcBef>
                <a:spcPts val="300"/>
              </a:spcBef>
            </a:pPr>
            <a:r>
              <a:rPr sz="1150" b="0" lang="ar-SA" altLang="en-US">
                <a:solidFill>
                  <a:srgbClr val="172033"/>
                </a:solidFill>
                <a:latin typeface="Arial"/>
                <a:cs typeface="Arial"/>
              </a:rPr>
              <a:t>• إصدار وتوثيق شهادات المعايرة.</a:t>
            </a:r>
          </a:p>
          <a:p>
            <a:pPr algn="r" rtl="1">
              <a:spcBef>
                <a:spcPts val="300"/>
              </a:spcBef>
            </a:pPr>
            <a:r>
              <a:rPr sz="1150" b="0" lang="ar-SA" altLang="en-US">
                <a:solidFill>
                  <a:srgbClr val="172033"/>
                </a:solidFill>
                <a:latin typeface="Arial"/>
                <a:cs typeface="Arial"/>
              </a:rPr>
              <a:t>• حفظ السجلات والبيانات الفنية.</a:t>
            </a:r>
          </a:p>
          <a:p>
            <a:pPr algn="r" rtl="1">
              <a:spcBef>
                <a:spcPts val="300"/>
              </a:spcBef>
            </a:pPr>
            <a:r>
              <a:rPr sz="1150" b="0" lang="ar-SA" altLang="en-US">
                <a:solidFill>
                  <a:srgbClr val="172033"/>
                </a:solidFill>
                <a:latin typeface="Arial"/>
                <a:cs typeface="Arial"/>
              </a:rPr>
              <a:t>• التعاون الفني مع الوكالة الدولية للطاقة الذرية IAEA.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rIns="0" tIns="0" bIns="0" rtlCol="1">
            <a:spAutoFit/>
          </a:bodyPr>
          <a:lstStyle/>
          <a:p>
            <a:pPr algn="r" rtl="1"/>
            <a:r>
              <a:rPr sz="1100" b="1" lang="ar-SA" altLang="en-US">
                <a:solidFill>
                  <a:srgbClr val="D4AF37"/>
                </a:solidFill>
                <a:latin typeface="Arial"/>
                <a:cs typeface="Arial"/>
              </a:rPr>
              <a:t>الشريحة 4 — الوحدات الفنية</a:t>
            </a:r>
          </a:p>
          <a:p>
            <a:pPr algn="r" rtl="1">
              <a:spcBef>
                <a:spcPts val="300"/>
              </a:spcBef>
            </a:pPr>
            <a:r>
              <a:rPr sz="2200" b="1" lang="ar-SA" altLang="en-US">
                <a:solidFill>
                  <a:srgbClr val="0B192C"/>
                </a:solidFill>
                <a:latin typeface="Arial"/>
                <a:cs typeface="Arial"/>
              </a:rPr>
              <a:t>الوحدات الفنية والتجهيزات الحالية</a:t>
            </a:r>
          </a:p>
        </p:txBody>
      </p:sp>
      <p:sp>
        <p:nvSpPr>
          <p:cNvPr id="3" name="Rectangle 2"/>
          <p:cNvSpPr/>
          <p:nvPr/>
        </p:nvSpPr>
        <p:spPr>
          <a:xfrm>
            <a:off x="731520" y="1207008"/>
            <a:ext cx="10728655" cy="18288"/>
          </a:xfrm>
          <a:prstGeom prst="rect">
            <a:avLst/>
          </a:prstGeom>
          <a:solidFill>
            <a:srgbClr val="DCE1E8"/>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4" name="TextBox 3"/>
          <p:cNvSpPr txBox="1"/>
          <p:nvPr/>
        </p:nvSpPr>
        <p:spPr>
          <a:xfrm>
            <a:off x="731520" y="6355080"/>
            <a:ext cx="10728655" cy="320040"/>
          </a:xfrm>
          <a:prstGeom prst="rect">
            <a:avLst/>
          </a:prstGeom>
          <a:noFill/>
        </p:spPr>
        <p:txBody>
          <a:bodyPr wrap="none" lIns="0" rIns="0" tIns="0" bIns="0" rtlCol="1">
            <a:spAutoFit/>
          </a:bodyPr>
          <a:lstStyle/>
          <a:p>
            <a:pPr algn="r" rtl="1"/>
            <a:r>
              <a:rPr sz="950" b="0" lang="ar-SA" altLang="en-US">
                <a:solidFill>
                  <a:srgbClr val="8C96A5"/>
                </a:solidFill>
                <a:latin typeface="Arial"/>
                <a:cs typeface="Arial"/>
              </a:rPr>
              <a:t>مؤسسة الطاقة الذرية  |  اجتماع اللجنة العلمية الدائمة لسنة 2026م  |  شريحة 4</a:t>
            </a:r>
          </a:p>
        </p:txBody>
      </p:sp>
      <p:sp>
        <p:nvSpPr>
          <p:cNvPr id="5" name="Rounded Rectangle 4"/>
          <p:cNvSpPr/>
          <p:nvPr/>
        </p:nvSpPr>
        <p:spPr>
          <a:xfrm>
            <a:off x="6217920" y="1417320"/>
            <a:ext cx="52120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6" name="TextBox 5"/>
          <p:cNvSpPr txBox="1"/>
          <p:nvPr/>
        </p:nvSpPr>
        <p:spPr>
          <a:xfrm>
            <a:off x="6400800" y="1554480"/>
            <a:ext cx="4846320" cy="4389120"/>
          </a:xfrm>
          <a:prstGeom prst="rect">
            <a:avLst/>
          </a:prstGeom>
          <a:noFill/>
        </p:spPr>
        <p:txBody>
          <a:bodyPr wrap="square" rtlCol="1">
            <a:spAutoFit/>
          </a:bodyPr>
          <a:lstStyle/>
          <a:p>
            <a:pPr algn="r" rtl="1"/>
            <a:r>
              <a:rPr sz="1500" b="1" lang="ar-SA" altLang="en-US">
                <a:solidFill>
                  <a:srgbClr val="0B192C"/>
                </a:solidFill>
                <a:latin typeface="Arial"/>
                <a:cs typeface="Arial"/>
              </a:rPr>
              <a:t>وحدة معايرة الكواشف وأجهزة القياس</a:t>
            </a:r>
          </a:p>
          <a:p>
            <a:pPr algn="r" rtl="1">
              <a:spcBef>
                <a:spcPts val="200"/>
              </a:spcBef>
            </a:pPr>
            <a:r>
              <a:rPr sz="1100" b="1" lang="ar-SA" altLang="en-US">
                <a:solidFill>
                  <a:srgbClr val="B8922E"/>
                </a:solidFill>
                <a:latin typeface="Arial"/>
                <a:cs typeface="Arial"/>
              </a:rPr>
              <a:t>Radiation Detector Calibration Unit</a:t>
            </a:r>
          </a:p>
          <a:p>
            <a:pPr algn="r" rtl="1">
              <a:spcBef>
                <a:spcPts val="500"/>
              </a:spcBef>
            </a:pPr>
            <a:r>
              <a:rPr sz="1150" b="0" lang="ar-SA" altLang="en-US">
                <a:solidFill>
                  <a:srgbClr val="172033"/>
                </a:solidFill>
                <a:latin typeface="Arial"/>
                <a:cs typeface="Arial"/>
              </a:rPr>
              <a:t>• معايرة الكواشف وأجهزة القياس الإشعاعي.</a:t>
            </a:r>
          </a:p>
          <a:p>
            <a:pPr algn="r" rtl="1">
              <a:spcBef>
                <a:spcPts val="500"/>
              </a:spcBef>
            </a:pPr>
            <a:r>
              <a:rPr sz="1150" b="0" lang="ar-SA" altLang="en-US">
                <a:solidFill>
                  <a:srgbClr val="172033"/>
                </a:solidFill>
                <a:latin typeface="Arial"/>
                <a:cs typeface="Arial"/>
              </a:rPr>
              <a:t>• إجراء الاختبارات والقياسات المعملية.</a:t>
            </a:r>
          </a:p>
          <a:p>
            <a:pPr algn="r" rtl="1">
              <a:spcBef>
                <a:spcPts val="500"/>
              </a:spcBef>
            </a:pPr>
            <a:r>
              <a:rPr sz="1150" b="0" lang="ar-SA" altLang="en-US">
                <a:solidFill>
                  <a:srgbClr val="172033"/>
                </a:solidFill>
                <a:latin typeface="Arial"/>
                <a:cs typeface="Arial"/>
              </a:rPr>
              <a:t>• تحليل النتائج وتوثيقها.</a:t>
            </a:r>
          </a:p>
          <a:p>
            <a:pPr algn="r" rtl="1">
              <a:spcBef>
                <a:spcPts val="500"/>
              </a:spcBef>
            </a:pPr>
            <a:r>
              <a:rPr sz="1150" b="0" lang="ar-SA" altLang="en-US">
                <a:solidFill>
                  <a:srgbClr val="172033"/>
                </a:solidFill>
                <a:latin typeface="Arial"/>
                <a:cs typeface="Arial"/>
              </a:rPr>
              <a:t>• إصدار شهادات المعايرة المعتمدة.</a:t>
            </a:r>
          </a:p>
          <a:p>
            <a:pPr algn="r" rtl="1">
              <a:spcBef>
                <a:spcPts val="500"/>
              </a:spcBef>
            </a:pPr>
            <a:r>
              <a:rPr sz="1150" b="0" lang="ar-SA" altLang="en-US">
                <a:solidFill>
                  <a:srgbClr val="172033"/>
                </a:solidFill>
                <a:latin typeface="Arial"/>
                <a:cs typeface="Arial"/>
              </a:rPr>
              <a:t>• حفظ بيانات الأجهزة ونتائج المعايرة في السجلات.</a:t>
            </a:r>
          </a:p>
        </p:txBody>
      </p:sp>
      <p:pic>
        <p:nvPicPr>
          <p:cNvPr id="7" name="Picture 6" descr="17.jfif"/>
          <p:cNvPicPr>
            <a:picLocks noChangeAspect="1"/>
          </p:cNvPicPr>
          <p:nvPr/>
        </p:nvPicPr>
        <p:blipFill>
          <a:blip r:embed="rId2"/>
          <a:stretch>
            <a:fillRect/>
          </a:stretch>
        </p:blipFill>
        <p:spPr>
          <a:xfrm>
            <a:off x="6400800" y="3931920"/>
            <a:ext cx="4846320" cy="1920240"/>
          </a:xfrm>
          <a:prstGeom prst="rect">
            <a:avLst/>
          </a:prstGeom>
        </p:spPr>
      </p:pic>
      <p:sp>
        <p:nvSpPr>
          <p:cNvPr id="8" name="Rounded Rectangle 7"/>
          <p:cNvSpPr/>
          <p:nvPr/>
        </p:nvSpPr>
        <p:spPr>
          <a:xfrm>
            <a:off x="731520" y="1417320"/>
            <a:ext cx="521208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9" name="TextBox 8"/>
          <p:cNvSpPr txBox="1"/>
          <p:nvPr/>
        </p:nvSpPr>
        <p:spPr>
          <a:xfrm>
            <a:off x="914400" y="1554480"/>
            <a:ext cx="4846320" cy="4389120"/>
          </a:xfrm>
          <a:prstGeom prst="rect">
            <a:avLst/>
          </a:prstGeom>
          <a:noFill/>
        </p:spPr>
        <p:txBody>
          <a:bodyPr wrap="square" rtlCol="1">
            <a:spAutoFit/>
          </a:bodyPr>
          <a:lstStyle/>
          <a:p>
            <a:pPr algn="r" rtl="1"/>
            <a:r>
              <a:rPr sz="1500" b="1" lang="ar-SA" altLang="en-US">
                <a:solidFill>
                  <a:srgbClr val="0B192C"/>
                </a:solidFill>
                <a:latin typeface="Arial"/>
                <a:cs typeface="Arial"/>
              </a:rPr>
              <a:t>وحدة معايرة العلاج الإشعاعي</a:t>
            </a:r>
          </a:p>
          <a:p>
            <a:pPr algn="r" rtl="1">
              <a:spcBef>
                <a:spcPts val="200"/>
              </a:spcBef>
            </a:pPr>
            <a:r>
              <a:rPr sz="1100" b="1" lang="ar-SA" altLang="en-US">
                <a:solidFill>
                  <a:srgbClr val="B8922E"/>
                </a:solidFill>
                <a:latin typeface="Arial"/>
                <a:cs typeface="Arial"/>
              </a:rPr>
              <a:t>Radiotherapy Calibration Unit</a:t>
            </a:r>
          </a:p>
          <a:p>
            <a:pPr algn="r" rtl="1">
              <a:spcBef>
                <a:spcPts val="300"/>
              </a:spcBef>
            </a:pPr>
            <a:r>
              <a:rPr sz="1100" b="0" lang="ar-SA" altLang="en-US">
                <a:solidFill>
                  <a:srgbClr val="172033"/>
                </a:solidFill>
                <a:latin typeface="Arial"/>
                <a:cs typeface="Arial"/>
              </a:rPr>
              <a:t>• القياسات المرجعية للجرعات الإشعاعية.</a:t>
            </a:r>
          </a:p>
          <a:p>
            <a:pPr algn="r" rtl="1">
              <a:spcBef>
                <a:spcPts val="300"/>
              </a:spcBef>
            </a:pPr>
            <a:r>
              <a:rPr sz="1100" b="0" lang="ar-SA" altLang="en-US">
                <a:solidFill>
                  <a:srgbClr val="172033"/>
                </a:solidFill>
                <a:latin typeface="Arial"/>
                <a:cs typeface="Arial"/>
              </a:rPr>
              <a:t>• معايرة أجهزة قياس الجرعات (Dosemeters).</a:t>
            </a:r>
          </a:p>
          <a:p>
            <a:pPr algn="r" rtl="1">
              <a:spcBef>
                <a:spcPts val="300"/>
              </a:spcBef>
            </a:pPr>
            <a:r>
              <a:rPr sz="1100" b="0" lang="ar-SA" altLang="en-US">
                <a:solidFill>
                  <a:srgbClr val="172033"/>
                </a:solidFill>
                <a:latin typeface="Arial"/>
                <a:cs typeface="Arial"/>
              </a:rPr>
              <a:t>• التحقق من أداء أجهزة القياس.</a:t>
            </a:r>
          </a:p>
          <a:p>
            <a:pPr algn="r" rtl="1">
              <a:spcBef>
                <a:spcPts val="300"/>
              </a:spcBef>
            </a:pPr>
            <a:r>
              <a:rPr sz="1100" b="0" lang="ar-SA" altLang="en-US">
                <a:solidFill>
                  <a:srgbClr val="172033"/>
                </a:solidFill>
                <a:latin typeface="Arial"/>
                <a:cs typeface="Arial"/>
              </a:rPr>
              <a:t>• دعم أعمال العلاج الإشعاعي بالمستشفيات.</a:t>
            </a:r>
          </a:p>
          <a:p>
            <a:pPr algn="r" rtl="1">
              <a:spcBef>
                <a:spcPts val="300"/>
              </a:spcBef>
            </a:pPr>
            <a:r>
              <a:rPr sz="1100" b="0" lang="ar-SA" altLang="en-US">
                <a:solidFill>
                  <a:srgbClr val="172033"/>
                </a:solidFill>
                <a:latin typeface="Arial"/>
                <a:cs typeface="Arial"/>
              </a:rPr>
              <a:t>• إعداد التقارير والوثائق الفنية.</a:t>
            </a:r>
          </a:p>
        </p:txBody>
      </p:sp>
      <p:sp>
        <p:nvSpPr>
          <p:cNvPr id="10" name="Rounded Rectangle 9"/>
          <p:cNvSpPr/>
          <p:nvPr/>
        </p:nvSpPr>
        <p:spPr>
          <a:xfrm>
            <a:off x="914400" y="3931920"/>
            <a:ext cx="4846320" cy="1920240"/>
          </a:xfrm>
          <a:prstGeom prst="roundRect">
            <a:avLst/>
          </a:prstGeom>
          <a:solidFill>
            <a:srgbClr val="FEF3C7"/>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1" name="TextBox 10"/>
          <p:cNvSpPr txBox="1"/>
          <p:nvPr/>
        </p:nvSpPr>
        <p:spPr>
          <a:xfrm>
            <a:off x="1051560" y="4023360"/>
            <a:ext cx="4572000" cy="1737360"/>
          </a:xfrm>
          <a:prstGeom prst="rect">
            <a:avLst/>
          </a:prstGeom>
          <a:noFill/>
        </p:spPr>
        <p:txBody>
          <a:bodyPr wrap="square" rtlCol="1">
            <a:spAutoFit/>
          </a:bodyPr>
          <a:lstStyle/>
          <a:p>
            <a:pPr algn="r" rtl="1"/>
            <a:r>
              <a:rPr sz="1300" b="1" lang="ar-SA" altLang="en-US">
                <a:solidFill>
                  <a:srgbClr val="0B192C"/>
                </a:solidFill>
                <a:latin typeface="Arial"/>
                <a:cs typeface="Arial"/>
              </a:rPr>
              <a:t>التطوير الحالي للوحدة:</a:t>
            </a:r>
          </a:p>
          <a:p>
            <a:pPr algn="r" rtl="1">
              <a:spcBef>
                <a:spcPts val="300"/>
              </a:spcBef>
            </a:pPr>
            <a:r>
              <a:rPr sz="1100" b="0" lang="ar-SA" altLang="en-US">
                <a:solidFill>
                  <a:srgbClr val="172033"/>
                </a:solidFill>
                <a:latin typeface="Arial"/>
                <a:cs typeface="Arial"/>
              </a:rPr>
              <a:t>كانت أعمال الوحدة متوقفة بسبب عدم توفر:</a:t>
            </a:r>
          </a:p>
          <a:p>
            <a:pPr algn="r" rtl="1">
              <a:spcBef>
                <a:spcPts val="200"/>
              </a:spcBef>
            </a:pPr>
            <a:r>
              <a:rPr sz="1200" b="1" lang="ar-SA" altLang="en-US">
                <a:solidFill>
                  <a:srgbClr val="EF4444"/>
                </a:solidFill>
                <a:latin typeface="Arial"/>
                <a:cs typeface="Arial"/>
              </a:rPr>
              <a:t>Farmer Ionization Chamber (غرفة التأين المرجعية)</a:t>
            </a:r>
          </a:p>
          <a:p>
            <a:pPr algn="r" rtl="1">
              <a:spcBef>
                <a:spcPts val="400"/>
              </a:spcBef>
            </a:pPr>
            <a:r>
              <a:rPr sz="1100" b="1" lang="ar-SA" altLang="en-US">
                <a:solidFill>
                  <a:srgbClr val="0B192C"/>
                </a:solidFill>
                <a:latin typeface="Arial"/>
                <a:cs typeface="Arial"/>
              </a:rPr>
              <a:t>وبعد توفير غرفة التأين المرجعية، بدأت إجراءات إعادة تفعيل وتطوير الوحدة وتجهيزها لبدء العمل الفعلي.</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rIns="0" tIns="0" bIns="0" rtlCol="1">
            <a:spAutoFit/>
          </a:bodyPr>
          <a:lstStyle/>
          <a:p>
            <a:pPr algn="r" rtl="1"/>
            <a:r>
              <a:rPr sz="1100" b="1" lang="ar-SA" altLang="en-US">
                <a:solidFill>
                  <a:srgbClr val="D4AF37"/>
                </a:solidFill>
                <a:latin typeface="Arial"/>
                <a:cs typeface="Arial"/>
              </a:rPr>
              <a:t>الشريحة 5 — التحديات السابقة</a:t>
            </a:r>
          </a:p>
          <a:p>
            <a:pPr algn="r" rtl="1">
              <a:spcBef>
                <a:spcPts val="300"/>
              </a:spcBef>
            </a:pPr>
            <a:r>
              <a:rPr sz="2200" b="1" lang="ar-SA" altLang="en-US">
                <a:solidFill>
                  <a:srgbClr val="0B192C"/>
                </a:solidFill>
                <a:latin typeface="Arial"/>
                <a:cs typeface="Arial"/>
              </a:rPr>
              <a:t>أهم الاحتياجات والتحديات السابقة</a:t>
            </a:r>
          </a:p>
        </p:txBody>
      </p:sp>
      <p:sp>
        <p:nvSpPr>
          <p:cNvPr id="3" name="Rectangle 2"/>
          <p:cNvSpPr/>
          <p:nvPr/>
        </p:nvSpPr>
        <p:spPr>
          <a:xfrm>
            <a:off x="731520" y="1207008"/>
            <a:ext cx="10728655" cy="18288"/>
          </a:xfrm>
          <a:prstGeom prst="rect">
            <a:avLst/>
          </a:prstGeom>
          <a:solidFill>
            <a:srgbClr val="DCE1E8"/>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4" name="TextBox 3"/>
          <p:cNvSpPr txBox="1"/>
          <p:nvPr/>
        </p:nvSpPr>
        <p:spPr>
          <a:xfrm>
            <a:off x="731520" y="6355080"/>
            <a:ext cx="10728655" cy="320040"/>
          </a:xfrm>
          <a:prstGeom prst="rect">
            <a:avLst/>
          </a:prstGeom>
          <a:noFill/>
        </p:spPr>
        <p:txBody>
          <a:bodyPr wrap="none" lIns="0" rIns="0" tIns="0" bIns="0" rtlCol="1">
            <a:spAutoFit/>
          </a:bodyPr>
          <a:lstStyle/>
          <a:p>
            <a:pPr algn="r" rtl="1"/>
            <a:r>
              <a:rPr sz="950" b="0" lang="ar-SA" altLang="en-US">
                <a:solidFill>
                  <a:srgbClr val="8C96A5"/>
                </a:solidFill>
                <a:latin typeface="Arial"/>
                <a:cs typeface="Arial"/>
              </a:rPr>
              <a:t>مؤسسة الطاقة الذرية  |  اجتماع اللجنة العلمية الدائمة لسنة 2026م  |  شريحة 5</a:t>
            </a:r>
          </a:p>
        </p:txBody>
      </p:sp>
      <p:sp>
        <p:nvSpPr>
          <p:cNvPr id="5" name="Rounded Rectangle 4"/>
          <p:cNvSpPr/>
          <p:nvPr/>
        </p:nvSpPr>
        <p:spPr>
          <a:xfrm>
            <a:off x="6217920" y="1463040"/>
            <a:ext cx="521208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6" name="Rounded Rectangle 5"/>
          <p:cNvSpPr/>
          <p:nvPr/>
        </p:nvSpPr>
        <p:spPr>
          <a:xfrm>
            <a:off x="10698480" y="1645920"/>
            <a:ext cx="594360" cy="411480"/>
          </a:xfrm>
          <a:prstGeom prst="roundRect">
            <a:avLst/>
          </a:prstGeom>
          <a:solidFill>
            <a:srgbClr val="F1F5F9"/>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7" name="TextBox 6"/>
          <p:cNvSpPr txBox="1"/>
          <p:nvPr/>
        </p:nvSpPr>
        <p:spPr>
          <a:xfrm>
            <a:off x="10698480" y="1645920"/>
            <a:ext cx="594360" cy="411480"/>
          </a:xfrm>
          <a:prstGeom prst="rect">
            <a:avLst/>
          </a:prstGeom>
          <a:noFill/>
        </p:spPr>
        <p:txBody>
          <a:bodyPr wrap="none" rtlCol="1">
            <a:spAutoFit/>
          </a:bodyPr>
          <a:lstStyle/>
          <a:p>
            <a:pPr algn="ctr" rtl="1"/>
            <a:r>
              <a:rPr sz="1200" b="1" lang="ar-SA" altLang="en-US">
                <a:solidFill>
                  <a:srgbClr val="0B192C"/>
                </a:solidFill>
                <a:latin typeface="Arial"/>
                <a:cs typeface="Arial"/>
              </a:rPr>
              <a:t>01</a:t>
            </a:r>
          </a:p>
        </p:txBody>
      </p:sp>
      <p:sp>
        <p:nvSpPr>
          <p:cNvPr id="8" name="TextBox 7"/>
          <p:cNvSpPr txBox="1"/>
          <p:nvPr/>
        </p:nvSpPr>
        <p:spPr>
          <a:xfrm>
            <a:off x="6400800" y="1627632"/>
            <a:ext cx="4206240" cy="777240"/>
          </a:xfrm>
          <a:prstGeom prst="rect">
            <a:avLst/>
          </a:prstGeom>
          <a:noFill/>
        </p:spPr>
        <p:txBody>
          <a:bodyPr wrap="square" rtlCol="1">
            <a:spAutoFit/>
          </a:bodyPr>
          <a:lstStyle/>
          <a:p>
            <a:pPr algn="r" rtl="1"/>
            <a:r>
              <a:rPr sz="1250" b="0" lang="ar-SA" altLang="en-US">
                <a:solidFill>
                  <a:srgbClr val="172033"/>
                </a:solidFill>
                <a:latin typeface="Arial"/>
                <a:cs typeface="Arial"/>
              </a:rPr>
              <a:t>الحاجة إلى تطوير شهادات المعايرة علميًا وفنيًا.</a:t>
            </a:r>
          </a:p>
        </p:txBody>
      </p:sp>
      <p:sp>
        <p:nvSpPr>
          <p:cNvPr id="9" name="Rounded Rectangle 8"/>
          <p:cNvSpPr/>
          <p:nvPr/>
        </p:nvSpPr>
        <p:spPr>
          <a:xfrm>
            <a:off x="6217920" y="2606040"/>
            <a:ext cx="521208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0" name="Rounded Rectangle 9"/>
          <p:cNvSpPr/>
          <p:nvPr/>
        </p:nvSpPr>
        <p:spPr>
          <a:xfrm>
            <a:off x="10698480" y="2788920"/>
            <a:ext cx="594360" cy="411480"/>
          </a:xfrm>
          <a:prstGeom prst="roundRect">
            <a:avLst/>
          </a:prstGeom>
          <a:solidFill>
            <a:srgbClr val="F1F5F9"/>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1" name="TextBox 10"/>
          <p:cNvSpPr txBox="1"/>
          <p:nvPr/>
        </p:nvSpPr>
        <p:spPr>
          <a:xfrm>
            <a:off x="10698480" y="2788920"/>
            <a:ext cx="594360" cy="411480"/>
          </a:xfrm>
          <a:prstGeom prst="rect">
            <a:avLst/>
          </a:prstGeom>
          <a:noFill/>
        </p:spPr>
        <p:txBody>
          <a:bodyPr wrap="none" rtlCol="1">
            <a:spAutoFit/>
          </a:bodyPr>
          <a:lstStyle/>
          <a:p>
            <a:pPr algn="ctr" rtl="1"/>
            <a:r>
              <a:rPr sz="1200" b="1" lang="ar-SA" altLang="en-US">
                <a:solidFill>
                  <a:srgbClr val="0B192C"/>
                </a:solidFill>
                <a:latin typeface="Arial"/>
                <a:cs typeface="Arial"/>
              </a:rPr>
              <a:t>02</a:t>
            </a:r>
          </a:p>
        </p:txBody>
      </p:sp>
      <p:sp>
        <p:nvSpPr>
          <p:cNvPr id="12" name="TextBox 11"/>
          <p:cNvSpPr txBox="1"/>
          <p:nvPr/>
        </p:nvSpPr>
        <p:spPr>
          <a:xfrm>
            <a:off x="6400800" y="2770632"/>
            <a:ext cx="4206240" cy="777240"/>
          </a:xfrm>
          <a:prstGeom prst="rect">
            <a:avLst/>
          </a:prstGeom>
          <a:noFill/>
        </p:spPr>
        <p:txBody>
          <a:bodyPr wrap="square" rtlCol="1">
            <a:spAutoFit/>
          </a:bodyPr>
          <a:lstStyle/>
          <a:p>
            <a:pPr algn="r" rtl="1"/>
            <a:r>
              <a:rPr sz="1250" b="0" lang="ar-SA" altLang="en-US">
                <a:solidFill>
                  <a:srgbClr val="172033"/>
                </a:solidFill>
                <a:latin typeface="Arial"/>
                <a:cs typeface="Arial"/>
              </a:rPr>
              <a:t>الحاجة إلى توحيد محتوى وبيانات الشهادة.</a:t>
            </a:r>
          </a:p>
        </p:txBody>
      </p:sp>
      <p:sp>
        <p:nvSpPr>
          <p:cNvPr id="13" name="Rounded Rectangle 12"/>
          <p:cNvSpPr/>
          <p:nvPr/>
        </p:nvSpPr>
        <p:spPr>
          <a:xfrm>
            <a:off x="6217920" y="3749040"/>
            <a:ext cx="521208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4" name="Rounded Rectangle 13"/>
          <p:cNvSpPr/>
          <p:nvPr/>
        </p:nvSpPr>
        <p:spPr>
          <a:xfrm>
            <a:off x="10698480" y="3931920"/>
            <a:ext cx="594360" cy="411480"/>
          </a:xfrm>
          <a:prstGeom prst="roundRect">
            <a:avLst/>
          </a:prstGeom>
          <a:solidFill>
            <a:srgbClr val="F1F5F9"/>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5" name="TextBox 14"/>
          <p:cNvSpPr txBox="1"/>
          <p:nvPr/>
        </p:nvSpPr>
        <p:spPr>
          <a:xfrm>
            <a:off x="10698480" y="3931920"/>
            <a:ext cx="594360" cy="411480"/>
          </a:xfrm>
          <a:prstGeom prst="rect">
            <a:avLst/>
          </a:prstGeom>
          <a:noFill/>
        </p:spPr>
        <p:txBody>
          <a:bodyPr wrap="none" rtlCol="1">
            <a:spAutoFit/>
          </a:bodyPr>
          <a:lstStyle/>
          <a:p>
            <a:pPr algn="ctr" rtl="1"/>
            <a:r>
              <a:rPr sz="1200" b="1" lang="ar-SA" altLang="en-US">
                <a:solidFill>
                  <a:srgbClr val="0B192C"/>
                </a:solidFill>
                <a:latin typeface="Arial"/>
                <a:cs typeface="Arial"/>
              </a:rPr>
              <a:t>03</a:t>
            </a:r>
          </a:p>
        </p:txBody>
      </p:sp>
      <p:sp>
        <p:nvSpPr>
          <p:cNvPr id="16" name="TextBox 15"/>
          <p:cNvSpPr txBox="1"/>
          <p:nvPr/>
        </p:nvSpPr>
        <p:spPr>
          <a:xfrm>
            <a:off x="6400800" y="3913632"/>
            <a:ext cx="4206240" cy="777240"/>
          </a:xfrm>
          <a:prstGeom prst="rect">
            <a:avLst/>
          </a:prstGeom>
          <a:noFill/>
        </p:spPr>
        <p:txBody>
          <a:bodyPr wrap="square" rtlCol="1">
            <a:spAutoFit/>
          </a:bodyPr>
          <a:lstStyle/>
          <a:p>
            <a:pPr algn="r" rtl="1"/>
            <a:r>
              <a:rPr sz="1250" b="0" lang="ar-SA" altLang="en-US">
                <a:solidFill>
                  <a:srgbClr val="172033"/>
                </a:solidFill>
                <a:latin typeface="Arial"/>
                <a:cs typeface="Arial"/>
              </a:rPr>
              <a:t>الحاجة إلى تحسين التوثيق والسجلات.</a:t>
            </a:r>
          </a:p>
        </p:txBody>
      </p:sp>
      <p:sp>
        <p:nvSpPr>
          <p:cNvPr id="17" name="Rounded Rectangle 16"/>
          <p:cNvSpPr/>
          <p:nvPr/>
        </p:nvSpPr>
        <p:spPr>
          <a:xfrm>
            <a:off x="6217920" y="4892040"/>
            <a:ext cx="521208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8" name="Rounded Rectangle 17"/>
          <p:cNvSpPr/>
          <p:nvPr/>
        </p:nvSpPr>
        <p:spPr>
          <a:xfrm>
            <a:off x="10698480" y="5074920"/>
            <a:ext cx="594360" cy="411480"/>
          </a:xfrm>
          <a:prstGeom prst="roundRect">
            <a:avLst/>
          </a:prstGeom>
          <a:solidFill>
            <a:srgbClr val="F1F5F9"/>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9" name="TextBox 18"/>
          <p:cNvSpPr txBox="1"/>
          <p:nvPr/>
        </p:nvSpPr>
        <p:spPr>
          <a:xfrm>
            <a:off x="10698480" y="5074920"/>
            <a:ext cx="594360" cy="411480"/>
          </a:xfrm>
          <a:prstGeom prst="rect">
            <a:avLst/>
          </a:prstGeom>
          <a:noFill/>
        </p:spPr>
        <p:txBody>
          <a:bodyPr wrap="none" rtlCol="1">
            <a:spAutoFit/>
          </a:bodyPr>
          <a:lstStyle/>
          <a:p>
            <a:pPr algn="ctr" rtl="1"/>
            <a:r>
              <a:rPr sz="1200" b="1" lang="ar-SA" altLang="en-US">
                <a:solidFill>
                  <a:srgbClr val="0B192C"/>
                </a:solidFill>
                <a:latin typeface="Arial"/>
                <a:cs typeface="Arial"/>
              </a:rPr>
              <a:t>04</a:t>
            </a:r>
          </a:p>
        </p:txBody>
      </p:sp>
      <p:sp>
        <p:nvSpPr>
          <p:cNvPr id="20" name="TextBox 19"/>
          <p:cNvSpPr txBox="1"/>
          <p:nvPr/>
        </p:nvSpPr>
        <p:spPr>
          <a:xfrm>
            <a:off x="6400800" y="5056632"/>
            <a:ext cx="4206240" cy="777240"/>
          </a:xfrm>
          <a:prstGeom prst="rect">
            <a:avLst/>
          </a:prstGeom>
          <a:noFill/>
        </p:spPr>
        <p:txBody>
          <a:bodyPr wrap="square" rtlCol="1">
            <a:spAutoFit/>
          </a:bodyPr>
          <a:lstStyle/>
          <a:p>
            <a:pPr algn="r" rtl="1"/>
            <a:r>
              <a:rPr sz="1250" b="0" lang="ar-SA" altLang="en-US">
                <a:solidFill>
                  <a:srgbClr val="172033"/>
                </a:solidFill>
                <a:latin typeface="Arial"/>
                <a:cs typeface="Arial"/>
              </a:rPr>
              <a:t>الاعتماد على الأرشفة التقليدية.</a:t>
            </a:r>
          </a:p>
        </p:txBody>
      </p:sp>
      <p:sp>
        <p:nvSpPr>
          <p:cNvPr id="21" name="Rounded Rectangle 20"/>
          <p:cNvSpPr/>
          <p:nvPr/>
        </p:nvSpPr>
        <p:spPr>
          <a:xfrm>
            <a:off x="731520" y="1463040"/>
            <a:ext cx="521208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22" name="Rounded Rectangle 21"/>
          <p:cNvSpPr/>
          <p:nvPr/>
        </p:nvSpPr>
        <p:spPr>
          <a:xfrm>
            <a:off x="5212080" y="1645920"/>
            <a:ext cx="594360" cy="411480"/>
          </a:xfrm>
          <a:prstGeom prst="roundRect">
            <a:avLst/>
          </a:prstGeom>
          <a:solidFill>
            <a:srgbClr val="F1F5F9"/>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23" name="TextBox 22"/>
          <p:cNvSpPr txBox="1"/>
          <p:nvPr/>
        </p:nvSpPr>
        <p:spPr>
          <a:xfrm>
            <a:off x="5212080" y="1645920"/>
            <a:ext cx="594360" cy="411480"/>
          </a:xfrm>
          <a:prstGeom prst="rect">
            <a:avLst/>
          </a:prstGeom>
          <a:noFill/>
        </p:spPr>
        <p:txBody>
          <a:bodyPr wrap="none" rtlCol="1">
            <a:spAutoFit/>
          </a:bodyPr>
          <a:lstStyle/>
          <a:p>
            <a:pPr algn="ctr" rtl="1"/>
            <a:r>
              <a:rPr sz="1200" b="1" lang="ar-SA" altLang="en-US">
                <a:solidFill>
                  <a:srgbClr val="0B192C"/>
                </a:solidFill>
                <a:latin typeface="Arial"/>
                <a:cs typeface="Arial"/>
              </a:rPr>
              <a:t>05</a:t>
            </a:r>
          </a:p>
        </p:txBody>
      </p:sp>
      <p:sp>
        <p:nvSpPr>
          <p:cNvPr id="24" name="TextBox 23"/>
          <p:cNvSpPr txBox="1"/>
          <p:nvPr/>
        </p:nvSpPr>
        <p:spPr>
          <a:xfrm>
            <a:off x="914400" y="1627632"/>
            <a:ext cx="4206240" cy="777240"/>
          </a:xfrm>
          <a:prstGeom prst="rect">
            <a:avLst/>
          </a:prstGeom>
          <a:noFill/>
        </p:spPr>
        <p:txBody>
          <a:bodyPr wrap="square" rtlCol="1">
            <a:spAutoFit/>
          </a:bodyPr>
          <a:lstStyle/>
          <a:p>
            <a:pPr algn="r" rtl="1"/>
            <a:r>
              <a:rPr sz="1250" b="0" lang="ar-SA" altLang="en-US">
                <a:solidFill>
                  <a:srgbClr val="172033"/>
                </a:solidFill>
                <a:latin typeface="Arial"/>
                <a:cs typeface="Arial"/>
              </a:rPr>
              <a:t>صعوبة البحث والاسترجاع السريع للوثائق.</a:t>
            </a:r>
          </a:p>
        </p:txBody>
      </p:sp>
      <p:sp>
        <p:nvSpPr>
          <p:cNvPr id="25" name="Rounded Rectangle 24"/>
          <p:cNvSpPr/>
          <p:nvPr/>
        </p:nvSpPr>
        <p:spPr>
          <a:xfrm>
            <a:off x="731520" y="2606040"/>
            <a:ext cx="521208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26" name="Rounded Rectangle 25"/>
          <p:cNvSpPr/>
          <p:nvPr/>
        </p:nvSpPr>
        <p:spPr>
          <a:xfrm>
            <a:off x="5212080" y="2788920"/>
            <a:ext cx="594360" cy="411480"/>
          </a:xfrm>
          <a:prstGeom prst="roundRect">
            <a:avLst/>
          </a:prstGeom>
          <a:solidFill>
            <a:srgbClr val="F1F5F9"/>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27" name="TextBox 26"/>
          <p:cNvSpPr txBox="1"/>
          <p:nvPr/>
        </p:nvSpPr>
        <p:spPr>
          <a:xfrm>
            <a:off x="5212080" y="2788920"/>
            <a:ext cx="594360" cy="411480"/>
          </a:xfrm>
          <a:prstGeom prst="rect">
            <a:avLst/>
          </a:prstGeom>
          <a:noFill/>
        </p:spPr>
        <p:txBody>
          <a:bodyPr wrap="none" rtlCol="1">
            <a:spAutoFit/>
          </a:bodyPr>
          <a:lstStyle/>
          <a:p>
            <a:pPr algn="ctr" rtl="1"/>
            <a:r>
              <a:rPr sz="1200" b="1" lang="ar-SA" altLang="en-US">
                <a:solidFill>
                  <a:srgbClr val="0B192C"/>
                </a:solidFill>
                <a:latin typeface="Arial"/>
                <a:cs typeface="Arial"/>
              </a:rPr>
              <a:t>06</a:t>
            </a:r>
          </a:p>
        </p:txBody>
      </p:sp>
      <p:sp>
        <p:nvSpPr>
          <p:cNvPr id="28" name="TextBox 27"/>
          <p:cNvSpPr txBox="1"/>
          <p:nvPr/>
        </p:nvSpPr>
        <p:spPr>
          <a:xfrm>
            <a:off x="914400" y="2770632"/>
            <a:ext cx="4206240" cy="777240"/>
          </a:xfrm>
          <a:prstGeom prst="rect">
            <a:avLst/>
          </a:prstGeom>
          <a:noFill/>
        </p:spPr>
        <p:txBody>
          <a:bodyPr wrap="square" rtlCol="1">
            <a:spAutoFit/>
          </a:bodyPr>
          <a:lstStyle/>
          <a:p>
            <a:pPr algn="r" rtl="1"/>
            <a:r>
              <a:rPr sz="1250" b="0" lang="ar-SA" altLang="en-US">
                <a:solidFill>
                  <a:srgbClr val="172033"/>
                </a:solidFill>
                <a:latin typeface="Arial"/>
                <a:cs typeface="Arial"/>
              </a:rPr>
              <a:t>عدم وجود منظومة رقمية متخصصة لإدارة شهادات المعايرة.</a:t>
            </a:r>
          </a:p>
        </p:txBody>
      </p:sp>
      <p:sp>
        <p:nvSpPr>
          <p:cNvPr id="29" name="Rounded Rectangle 28"/>
          <p:cNvSpPr/>
          <p:nvPr/>
        </p:nvSpPr>
        <p:spPr>
          <a:xfrm>
            <a:off x="731520" y="3749040"/>
            <a:ext cx="5212080" cy="1051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30" name="Rounded Rectangle 29"/>
          <p:cNvSpPr/>
          <p:nvPr/>
        </p:nvSpPr>
        <p:spPr>
          <a:xfrm>
            <a:off x="5212080" y="3931920"/>
            <a:ext cx="594360" cy="411480"/>
          </a:xfrm>
          <a:prstGeom prst="roundRect">
            <a:avLst/>
          </a:prstGeom>
          <a:solidFill>
            <a:srgbClr val="F1F5F9"/>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31" name="TextBox 30"/>
          <p:cNvSpPr txBox="1"/>
          <p:nvPr/>
        </p:nvSpPr>
        <p:spPr>
          <a:xfrm>
            <a:off x="5212080" y="3931920"/>
            <a:ext cx="594360" cy="411480"/>
          </a:xfrm>
          <a:prstGeom prst="rect">
            <a:avLst/>
          </a:prstGeom>
          <a:noFill/>
        </p:spPr>
        <p:txBody>
          <a:bodyPr wrap="none" rtlCol="1">
            <a:spAutoFit/>
          </a:bodyPr>
          <a:lstStyle/>
          <a:p>
            <a:pPr algn="ctr" rtl="1"/>
            <a:r>
              <a:rPr sz="1200" b="1" lang="ar-SA" altLang="en-US">
                <a:solidFill>
                  <a:srgbClr val="0B192C"/>
                </a:solidFill>
                <a:latin typeface="Arial"/>
                <a:cs typeface="Arial"/>
              </a:rPr>
              <a:t>07</a:t>
            </a:r>
          </a:p>
        </p:txBody>
      </p:sp>
      <p:sp>
        <p:nvSpPr>
          <p:cNvPr id="32" name="TextBox 31"/>
          <p:cNvSpPr txBox="1"/>
          <p:nvPr/>
        </p:nvSpPr>
        <p:spPr>
          <a:xfrm>
            <a:off x="914400" y="3913632"/>
            <a:ext cx="4206240" cy="777240"/>
          </a:xfrm>
          <a:prstGeom prst="rect">
            <a:avLst/>
          </a:prstGeom>
          <a:noFill/>
        </p:spPr>
        <p:txBody>
          <a:bodyPr wrap="square" rtlCol="1">
            <a:spAutoFit/>
          </a:bodyPr>
          <a:lstStyle/>
          <a:p>
            <a:pPr algn="r" rtl="1"/>
            <a:r>
              <a:rPr sz="1250" b="0" lang="ar-SA" altLang="en-US">
                <a:solidFill>
                  <a:srgbClr val="172033"/>
                </a:solidFill>
                <a:latin typeface="Arial"/>
                <a:cs typeface="Arial"/>
              </a:rPr>
              <a:t>الحاجة إلى وسيلة إلكترونية للتحقق من الشهادات.</a:t>
            </a:r>
          </a:p>
        </p:txBody>
      </p:sp>
      <p:sp>
        <p:nvSpPr>
          <p:cNvPr id="33" name="Rounded Rectangle 32"/>
          <p:cNvSpPr/>
          <p:nvPr/>
        </p:nvSpPr>
        <p:spPr>
          <a:xfrm>
            <a:off x="731520" y="4892040"/>
            <a:ext cx="5212080" cy="1051560"/>
          </a:xfrm>
          <a:prstGeom prst="roundRect">
            <a:avLst/>
          </a:prstGeom>
          <a:solidFill>
            <a:srgbClr val="FEF3C7"/>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34" name="Rounded Rectangle 33"/>
          <p:cNvSpPr/>
          <p:nvPr/>
        </p:nvSpPr>
        <p:spPr>
          <a:xfrm>
            <a:off x="5212080" y="5074920"/>
            <a:ext cx="594360" cy="411480"/>
          </a:xfrm>
          <a:prstGeom prst="roundRect">
            <a:avLst/>
          </a:prstGeom>
          <a:solidFill>
            <a:srgbClr val="F1F5F9"/>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35" name="TextBox 34"/>
          <p:cNvSpPr txBox="1"/>
          <p:nvPr/>
        </p:nvSpPr>
        <p:spPr>
          <a:xfrm>
            <a:off x="5212080" y="5074920"/>
            <a:ext cx="594360" cy="411480"/>
          </a:xfrm>
          <a:prstGeom prst="rect">
            <a:avLst/>
          </a:prstGeom>
          <a:noFill/>
        </p:spPr>
        <p:txBody>
          <a:bodyPr wrap="none" rtlCol="1">
            <a:spAutoFit/>
          </a:bodyPr>
          <a:lstStyle/>
          <a:p>
            <a:pPr algn="ctr" rtl="1"/>
            <a:r>
              <a:rPr sz="1200" b="1" lang="ar-SA" altLang="en-US">
                <a:solidFill>
                  <a:srgbClr val="0B192C"/>
                </a:solidFill>
                <a:latin typeface="Arial"/>
                <a:cs typeface="Arial"/>
              </a:rPr>
              <a:t>08</a:t>
            </a:r>
          </a:p>
        </p:txBody>
      </p:sp>
      <p:sp>
        <p:nvSpPr>
          <p:cNvPr id="36" name="TextBox 35"/>
          <p:cNvSpPr txBox="1"/>
          <p:nvPr/>
        </p:nvSpPr>
        <p:spPr>
          <a:xfrm>
            <a:off x="914400" y="5056632"/>
            <a:ext cx="4206240" cy="777240"/>
          </a:xfrm>
          <a:prstGeom prst="rect">
            <a:avLst/>
          </a:prstGeom>
          <a:noFill/>
        </p:spPr>
        <p:txBody>
          <a:bodyPr wrap="square" rtlCol="1">
            <a:spAutoFit/>
          </a:bodyPr>
          <a:lstStyle/>
          <a:p>
            <a:pPr algn="r" rtl="1"/>
            <a:r>
              <a:rPr sz="1250" b="1" lang="ar-SA" altLang="en-US">
                <a:solidFill>
                  <a:srgbClr val="0B192C"/>
                </a:solidFill>
                <a:latin typeface="Arial"/>
                <a:cs typeface="Arial"/>
              </a:rPr>
              <a:t>توقف أعمال معايرة العلاج الإشعاعي بسبب عدم توفر Farmer Ionization Chamber.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rIns="0" tIns="0" bIns="0" rtlCol="1">
            <a:spAutoFit/>
          </a:bodyPr>
          <a:lstStyle/>
          <a:p>
            <a:pPr algn="r" rtl="1"/>
            <a:r>
              <a:rPr sz="1100" b="1" lang="ar-SA" altLang="en-US">
                <a:solidFill>
                  <a:srgbClr val="D4AF37"/>
                </a:solidFill>
                <a:latin typeface="Arial"/>
                <a:cs typeface="Arial"/>
              </a:rPr>
              <a:t>الشريحة 6 — تطوير شهادات المعايرة</a:t>
            </a:r>
          </a:p>
          <a:p>
            <a:pPr algn="r" rtl="1">
              <a:spcBef>
                <a:spcPts val="300"/>
              </a:spcBef>
            </a:pPr>
            <a:r>
              <a:rPr sz="2200" b="1" lang="ar-SA" altLang="en-US">
                <a:solidFill>
                  <a:srgbClr val="0B192C"/>
                </a:solidFill>
                <a:latin typeface="Arial"/>
                <a:cs typeface="Arial"/>
              </a:rPr>
              <a:t>التطوير الأول: شهادات المعايرة علمياً وفنياً</a:t>
            </a:r>
          </a:p>
        </p:txBody>
      </p:sp>
      <p:sp>
        <p:nvSpPr>
          <p:cNvPr id="3" name="Rectangle 2"/>
          <p:cNvSpPr/>
          <p:nvPr/>
        </p:nvSpPr>
        <p:spPr>
          <a:xfrm>
            <a:off x="731520" y="1207008"/>
            <a:ext cx="10728655" cy="18288"/>
          </a:xfrm>
          <a:prstGeom prst="rect">
            <a:avLst/>
          </a:prstGeom>
          <a:solidFill>
            <a:srgbClr val="DCE1E8"/>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4" name="TextBox 3"/>
          <p:cNvSpPr txBox="1"/>
          <p:nvPr/>
        </p:nvSpPr>
        <p:spPr>
          <a:xfrm>
            <a:off x="731520" y="6355080"/>
            <a:ext cx="10728655" cy="320040"/>
          </a:xfrm>
          <a:prstGeom prst="rect">
            <a:avLst/>
          </a:prstGeom>
          <a:noFill/>
        </p:spPr>
        <p:txBody>
          <a:bodyPr wrap="none" lIns="0" rIns="0" tIns="0" bIns="0" rtlCol="1">
            <a:spAutoFit/>
          </a:bodyPr>
          <a:lstStyle/>
          <a:p>
            <a:pPr algn="r" rtl="1"/>
            <a:r>
              <a:rPr sz="950" b="0" lang="ar-SA" altLang="en-US">
                <a:solidFill>
                  <a:srgbClr val="8C96A5"/>
                </a:solidFill>
                <a:latin typeface="Arial"/>
                <a:cs typeface="Arial"/>
              </a:rPr>
              <a:t>مؤسسة الطاقة الذرية  |  اجتماع اللجنة العلمية الدائمة لسنة 2026م  |  شريحة 6</a:t>
            </a:r>
          </a:p>
        </p:txBody>
      </p:sp>
      <p:sp>
        <p:nvSpPr>
          <p:cNvPr id="5" name="Rounded Rectangle 4"/>
          <p:cNvSpPr/>
          <p:nvPr/>
        </p:nvSpPr>
        <p:spPr>
          <a:xfrm>
            <a:off x="731520" y="1371600"/>
            <a:ext cx="10728655" cy="640080"/>
          </a:xfrm>
          <a:prstGeom prst="roundRect">
            <a:avLst/>
          </a:prstGeom>
          <a:solidFill>
            <a:srgbClr val="FFFFFF"/>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6" name="TextBox 5"/>
          <p:cNvSpPr txBox="1"/>
          <p:nvPr/>
        </p:nvSpPr>
        <p:spPr>
          <a:xfrm>
            <a:off x="914400" y="1444752"/>
            <a:ext cx="10362895" cy="502920"/>
          </a:xfrm>
          <a:prstGeom prst="rect">
            <a:avLst/>
          </a:prstGeom>
          <a:noFill/>
        </p:spPr>
        <p:txBody>
          <a:bodyPr wrap="none" rtlCol="1">
            <a:spAutoFit/>
          </a:bodyPr>
          <a:lstStyle/>
          <a:p>
            <a:pPr algn="ctr" rtl="1"/>
            <a:r>
              <a:rPr sz="1350" b="1" lang="ar-SA" altLang="en-US">
                <a:solidFill>
                  <a:srgbClr val="0B192C"/>
                </a:solidFill>
                <a:latin typeface="Arial"/>
                <a:cs typeface="Arial"/>
              </a:rPr>
              <a:t>«قبل البدء في إنشاء أي منظومة رقمية، تم أولاً العمل على تطوير شهادة المعايرة نفسها من الناحية العلمية والفنية»</a:t>
            </a:r>
          </a:p>
        </p:txBody>
      </p:sp>
      <p:sp>
        <p:nvSpPr>
          <p:cNvPr id="7" name="Rounded Rectangle 6"/>
          <p:cNvSpPr/>
          <p:nvPr/>
        </p:nvSpPr>
        <p:spPr>
          <a:xfrm>
            <a:off x="5029200" y="2148840"/>
            <a:ext cx="6400800" cy="40233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8" name="TextBox 7"/>
          <p:cNvSpPr txBox="1"/>
          <p:nvPr/>
        </p:nvSpPr>
        <p:spPr>
          <a:xfrm>
            <a:off x="5212080" y="2286000"/>
            <a:ext cx="6035040" cy="3749039"/>
          </a:xfrm>
          <a:prstGeom prst="rect">
            <a:avLst/>
          </a:prstGeom>
          <a:noFill/>
        </p:spPr>
        <p:txBody>
          <a:bodyPr wrap="square" rtlCol="1">
            <a:spAutoFit/>
          </a:bodyPr>
          <a:lstStyle/>
          <a:p>
            <a:pPr algn="r" rtl="1"/>
            <a:r>
              <a:rPr sz="1500" b="1" lang="ar-SA" altLang="en-US">
                <a:solidFill>
                  <a:srgbClr val="0B192C"/>
                </a:solidFill>
                <a:latin typeface="Arial"/>
                <a:cs typeface="Arial"/>
              </a:rPr>
              <a:t>شمل تطوير شهادة المعايرة:</a:t>
            </a:r>
          </a:p>
          <a:p>
            <a:pPr algn="r" rtl="1">
              <a:spcBef>
                <a:spcPts val="500"/>
              </a:spcBef>
            </a:pPr>
            <a:r>
              <a:rPr sz="1200" b="0" lang="ar-SA" altLang="en-US">
                <a:solidFill>
                  <a:srgbClr val="172033"/>
                </a:solidFill>
                <a:latin typeface="Arial"/>
                <a:cs typeface="Arial"/>
              </a:rPr>
              <a:t>✔  تطوير المحتوى العلمي والفني للشهادة.</a:t>
            </a:r>
          </a:p>
          <a:p>
            <a:pPr algn="r" rtl="1">
              <a:spcBef>
                <a:spcPts val="500"/>
              </a:spcBef>
            </a:pPr>
            <a:r>
              <a:rPr sz="1200" b="0" lang="ar-SA" altLang="en-US">
                <a:solidFill>
                  <a:srgbClr val="172033"/>
                </a:solidFill>
                <a:latin typeface="Arial"/>
                <a:cs typeface="Arial"/>
              </a:rPr>
              <a:t>✔  تنظيم وتوحيد بيانات الجهاز.</a:t>
            </a:r>
          </a:p>
          <a:p>
            <a:pPr algn="r" rtl="1">
              <a:spcBef>
                <a:spcPts val="500"/>
              </a:spcBef>
            </a:pPr>
            <a:r>
              <a:rPr sz="1200" b="0" lang="ar-SA" altLang="en-US">
                <a:solidFill>
                  <a:srgbClr val="172033"/>
                </a:solidFill>
                <a:latin typeface="Arial"/>
                <a:cs typeface="Arial"/>
              </a:rPr>
              <a:t>✔  تحديد بيانات المعايرة والقياسات المرجعية بدقة.</a:t>
            </a:r>
          </a:p>
          <a:p>
            <a:pPr algn="r" rtl="1">
              <a:spcBef>
                <a:spcPts val="500"/>
              </a:spcBef>
            </a:pPr>
            <a:r>
              <a:rPr sz="1200" b="0" lang="ar-SA" altLang="en-US">
                <a:solidFill>
                  <a:srgbClr val="172033"/>
                </a:solidFill>
                <a:latin typeface="Arial"/>
                <a:cs typeface="Arial"/>
              </a:rPr>
              <a:t>✔  تنظيم عرض النتائج ومعاملات التصحيح.</a:t>
            </a:r>
          </a:p>
          <a:p>
            <a:pPr algn="r" rtl="1">
              <a:spcBef>
                <a:spcPts val="500"/>
              </a:spcBef>
            </a:pPr>
            <a:r>
              <a:rPr sz="1200" b="0" lang="ar-SA" altLang="en-US">
                <a:solidFill>
                  <a:srgbClr val="172033"/>
                </a:solidFill>
                <a:latin typeface="Arial"/>
                <a:cs typeface="Arial"/>
              </a:rPr>
              <a:t>✔  توحيد شكل ومحتوى الشهادة الرسمية.</a:t>
            </a:r>
          </a:p>
          <a:p>
            <a:pPr algn="r" rtl="1">
              <a:spcBef>
                <a:spcPts val="500"/>
              </a:spcBef>
            </a:pPr>
            <a:r>
              <a:rPr sz="1200" b="0" lang="ar-SA" altLang="en-US">
                <a:solidFill>
                  <a:srgbClr val="172033"/>
                </a:solidFill>
                <a:latin typeface="Arial"/>
                <a:cs typeface="Arial"/>
              </a:rPr>
              <a:t>✔  تحسين التوثيق وربط السجلات.</a:t>
            </a:r>
          </a:p>
          <a:p>
            <a:pPr algn="r" rtl="1">
              <a:spcBef>
                <a:spcPts val="500"/>
              </a:spcBef>
            </a:pPr>
            <a:r>
              <a:rPr sz="1200" b="0" lang="ar-SA" altLang="en-US">
                <a:solidFill>
                  <a:srgbClr val="172033"/>
                </a:solidFill>
                <a:latin typeface="Arial"/>
                <a:cs typeface="Arial"/>
              </a:rPr>
              <a:t>✔  تنظيم البيانات اللازمة لإصدار الشهادة.</a:t>
            </a:r>
          </a:p>
        </p:txBody>
      </p:sp>
      <p:sp>
        <p:nvSpPr>
          <p:cNvPr id="9" name="Rounded Rectangle 8"/>
          <p:cNvSpPr/>
          <p:nvPr/>
        </p:nvSpPr>
        <p:spPr>
          <a:xfrm>
            <a:off x="731520" y="2148840"/>
            <a:ext cx="4023360" cy="1920240"/>
          </a:xfrm>
          <a:prstGeom prst="roundRect">
            <a:avLst/>
          </a:prstGeom>
          <a:solidFill>
            <a:srgbClr val="FEF3C7"/>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0" name="TextBox 9"/>
          <p:cNvSpPr txBox="1"/>
          <p:nvPr/>
        </p:nvSpPr>
        <p:spPr>
          <a:xfrm>
            <a:off x="914400" y="2286000"/>
            <a:ext cx="3657600" cy="1645920"/>
          </a:xfrm>
          <a:prstGeom prst="rect">
            <a:avLst/>
          </a:prstGeom>
          <a:noFill/>
        </p:spPr>
        <p:txBody>
          <a:bodyPr wrap="square" rtlCol="1">
            <a:spAutoFit/>
          </a:bodyPr>
          <a:lstStyle/>
          <a:p>
            <a:pPr algn="r" rtl="1"/>
            <a:r>
              <a:rPr sz="1300" b="1" lang="ar-SA" altLang="en-US">
                <a:solidFill>
                  <a:srgbClr val="B8922E"/>
                </a:solidFill>
                <a:latin typeface="Arial"/>
                <a:cs typeface="Arial"/>
              </a:rPr>
              <a:t>المنهجية والمعايير:</a:t>
            </a:r>
          </a:p>
          <a:p>
            <a:pPr algn="r" rtl="1">
              <a:spcBef>
                <a:spcPts val="400"/>
              </a:spcBef>
            </a:pPr>
            <a:r>
              <a:rPr sz="1150" b="0" lang="ar-SA" altLang="en-US">
                <a:solidFill>
                  <a:srgbClr val="172033"/>
                </a:solidFill>
                <a:latin typeface="Arial"/>
                <a:cs typeface="Arial"/>
              </a:rPr>
              <a:t>تم تطوير الشهادة ضمن منهجية علمية تتوافق مع متطلبات المواصفة الدولية:</a:t>
            </a:r>
          </a:p>
          <a:p>
            <a:pPr algn="ctr" rtl="1">
              <a:spcBef>
                <a:spcPts val="400"/>
              </a:spcBef>
            </a:pPr>
            <a:r>
              <a:rPr sz="1500" b="1" lang="ar-SA" altLang="en-US">
                <a:solidFill>
                  <a:srgbClr val="0B192C"/>
                </a:solidFill>
                <a:latin typeface="Arial"/>
                <a:cs typeface="Arial"/>
              </a:rPr>
              <a:t>ISO/IEC 17025:2017</a:t>
            </a:r>
          </a:p>
        </p:txBody>
      </p:sp>
      <p:sp>
        <p:nvSpPr>
          <p:cNvPr id="11" name="Rounded Rectangle 10"/>
          <p:cNvSpPr/>
          <p:nvPr/>
        </p:nvSpPr>
        <p:spPr>
          <a:xfrm>
            <a:off x="731520" y="4251960"/>
            <a:ext cx="4023360" cy="1920240"/>
          </a:xfrm>
          <a:prstGeom prst="roundRect">
            <a:avLst/>
          </a:prstGeom>
          <a:solidFill>
            <a:srgbClr val="16263D"/>
          </a:solidFill>
          <a:ln w="19050">
            <a:solidFill>
              <a:srgbClr val="2D41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2" name="TextBox 11"/>
          <p:cNvSpPr txBox="1"/>
          <p:nvPr/>
        </p:nvSpPr>
        <p:spPr>
          <a:xfrm>
            <a:off x="914400" y="4389120"/>
            <a:ext cx="3657600" cy="1645920"/>
          </a:xfrm>
          <a:prstGeom prst="rect">
            <a:avLst/>
          </a:prstGeom>
          <a:noFill/>
        </p:spPr>
        <p:txBody>
          <a:bodyPr wrap="square" rtlCol="1">
            <a:spAutoFit/>
          </a:bodyPr>
          <a:lstStyle/>
          <a:p>
            <a:pPr algn="r" rtl="1"/>
            <a:r>
              <a:rPr sz="1300" b="1" lang="ar-SA" altLang="en-US">
                <a:solidFill>
                  <a:srgbClr val="D4AF37"/>
                </a:solidFill>
                <a:latin typeface="Arial"/>
                <a:cs typeface="Arial"/>
              </a:rPr>
              <a:t>الأساس الرقمي:</a:t>
            </a:r>
          </a:p>
          <a:p>
            <a:pPr algn="ctr" rtl="1">
              <a:spcBef>
                <a:spcPts val="600"/>
              </a:spcBef>
            </a:pPr>
            <a:r>
              <a:rPr sz="1250" b="1" lang="ar-SA" altLang="en-US">
                <a:solidFill>
                  <a:srgbClr val="F1F5F9"/>
                </a:solidFill>
                <a:latin typeface="Arial"/>
                <a:cs typeface="Arial"/>
              </a:rPr>
              <a:t>«هذه الشهادة المطورة علمياً وفنياً هي الأساس الذي بُنيت عليه لاحقاً منظومة CAL-QR الرقمية»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rIns="0" tIns="0" bIns="0" rtlCol="1">
            <a:spAutoFit/>
          </a:bodyPr>
          <a:lstStyle/>
          <a:p>
            <a:pPr algn="r" rtl="1"/>
            <a:r>
              <a:rPr sz="1100" b="1" lang="ar-SA" altLang="en-US">
                <a:solidFill>
                  <a:srgbClr val="D4AF37"/>
                </a:solidFill>
                <a:latin typeface="Arial"/>
                <a:cs typeface="Arial"/>
              </a:rPr>
              <a:t>الشريحة 7 — إعادة تفعيل معايرة العلاج الإشعاعي</a:t>
            </a:r>
          </a:p>
          <a:p>
            <a:pPr algn="r" rtl="1">
              <a:spcBef>
                <a:spcPts val="300"/>
              </a:spcBef>
            </a:pPr>
            <a:r>
              <a:rPr sz="2200" b="1" lang="ar-SA" altLang="en-US">
                <a:solidFill>
                  <a:srgbClr val="0B192C"/>
                </a:solidFill>
                <a:latin typeface="Arial"/>
                <a:cs typeface="Arial"/>
              </a:rPr>
              <a:t>التطوير الثاني: وحدة معايرة العلاج الإشعاعي</a:t>
            </a:r>
          </a:p>
        </p:txBody>
      </p:sp>
      <p:sp>
        <p:nvSpPr>
          <p:cNvPr id="3" name="Rectangle 2"/>
          <p:cNvSpPr/>
          <p:nvPr/>
        </p:nvSpPr>
        <p:spPr>
          <a:xfrm>
            <a:off x="731520" y="1207008"/>
            <a:ext cx="10728655" cy="18288"/>
          </a:xfrm>
          <a:prstGeom prst="rect">
            <a:avLst/>
          </a:prstGeom>
          <a:solidFill>
            <a:srgbClr val="DCE1E8"/>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4" name="TextBox 3"/>
          <p:cNvSpPr txBox="1"/>
          <p:nvPr/>
        </p:nvSpPr>
        <p:spPr>
          <a:xfrm>
            <a:off x="731520" y="6355080"/>
            <a:ext cx="10728655" cy="320040"/>
          </a:xfrm>
          <a:prstGeom prst="rect">
            <a:avLst/>
          </a:prstGeom>
          <a:noFill/>
        </p:spPr>
        <p:txBody>
          <a:bodyPr wrap="none" lIns="0" rIns="0" tIns="0" bIns="0" rtlCol="1">
            <a:spAutoFit/>
          </a:bodyPr>
          <a:lstStyle/>
          <a:p>
            <a:pPr algn="r" rtl="1"/>
            <a:r>
              <a:rPr sz="950" b="0" lang="ar-SA" altLang="en-US">
                <a:solidFill>
                  <a:srgbClr val="8C96A5"/>
                </a:solidFill>
                <a:latin typeface="Arial"/>
                <a:cs typeface="Arial"/>
              </a:rPr>
              <a:t>مؤسسة الطاقة الذرية  |  اجتماع اللجنة العلمية الدائمة لسنة 2026م  |  شريحة 7</a:t>
            </a:r>
          </a:p>
        </p:txBody>
      </p:sp>
      <p:pic>
        <p:nvPicPr>
          <p:cNvPr id="5" name="Picture 4" descr="2.jpeg"/>
          <p:cNvPicPr>
            <a:picLocks noChangeAspect="1"/>
          </p:cNvPicPr>
          <p:nvPr/>
        </p:nvPicPr>
        <p:blipFill>
          <a:blip r:embed="rId2"/>
          <a:stretch>
            <a:fillRect/>
          </a:stretch>
        </p:blipFill>
        <p:spPr>
          <a:xfrm>
            <a:off x="731520" y="1417320"/>
            <a:ext cx="3840480" cy="4663440"/>
          </a:xfrm>
          <a:prstGeom prst="rect">
            <a:avLst/>
          </a:prstGeom>
        </p:spPr>
      </p:pic>
      <p:sp>
        <p:nvSpPr>
          <p:cNvPr id="6" name="Rounded Rectangle 5"/>
          <p:cNvSpPr/>
          <p:nvPr/>
        </p:nvSpPr>
        <p:spPr>
          <a:xfrm>
            <a:off x="4846320" y="1417320"/>
            <a:ext cx="6583680" cy="1097280"/>
          </a:xfrm>
          <a:prstGeom prst="roundRect">
            <a:avLst/>
          </a:prstGeom>
          <a:solidFill>
            <a:srgbClr val="FEF3C7"/>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7" name="TextBox 6"/>
          <p:cNvSpPr txBox="1"/>
          <p:nvPr/>
        </p:nvSpPr>
        <p:spPr>
          <a:xfrm>
            <a:off x="5029200" y="1508760"/>
            <a:ext cx="6217920" cy="914400"/>
          </a:xfrm>
          <a:prstGeom prst="rect">
            <a:avLst/>
          </a:prstGeom>
          <a:noFill/>
        </p:spPr>
        <p:txBody>
          <a:bodyPr wrap="square" rtlCol="1">
            <a:spAutoFit/>
          </a:bodyPr>
          <a:lstStyle/>
          <a:p>
            <a:pPr algn="r" rtl="1"/>
            <a:r>
              <a:rPr sz="1300" b="1" lang="ar-SA" altLang="en-US">
                <a:solidFill>
                  <a:srgbClr val="B8922E"/>
                </a:solidFill>
                <a:latin typeface="Arial"/>
                <a:cs typeface="Arial"/>
              </a:rPr>
              <a:t>بعد توفير غرفة التأين المرجعية (Farmer Ionization Chamber):</a:t>
            </a:r>
          </a:p>
          <a:p>
            <a:pPr algn="r" rtl="1">
              <a:spcBef>
                <a:spcPts val="300"/>
              </a:spcBef>
            </a:pPr>
            <a:r>
              <a:rPr sz="1250" b="1" lang="ar-SA" altLang="en-US">
                <a:solidFill>
                  <a:srgbClr val="0B192C"/>
                </a:solidFill>
                <a:latin typeface="Arial"/>
                <a:cs typeface="Arial"/>
              </a:rPr>
              <a:t>بدأ العمل الفعلي على إعادة تفعيل وتطوير وحدة معايرة العلاج الإشعاعي وتجهيزها لبدء العمل.</a:t>
            </a:r>
          </a:p>
        </p:txBody>
      </p:sp>
      <p:sp>
        <p:nvSpPr>
          <p:cNvPr id="8" name="Rounded Rectangle 7"/>
          <p:cNvSpPr/>
          <p:nvPr/>
        </p:nvSpPr>
        <p:spPr>
          <a:xfrm>
            <a:off x="4846320" y="2651760"/>
            <a:ext cx="6583680" cy="3429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9" name="TextBox 8"/>
          <p:cNvSpPr txBox="1"/>
          <p:nvPr/>
        </p:nvSpPr>
        <p:spPr>
          <a:xfrm>
            <a:off x="5029200" y="2834640"/>
            <a:ext cx="6217920" cy="3108960"/>
          </a:xfrm>
          <a:prstGeom prst="rect">
            <a:avLst/>
          </a:prstGeom>
          <a:noFill/>
        </p:spPr>
        <p:txBody>
          <a:bodyPr wrap="square" rtlCol="1">
            <a:spAutoFit/>
          </a:bodyPr>
          <a:lstStyle/>
          <a:p>
            <a:pPr algn="r" rtl="1"/>
            <a:r>
              <a:rPr sz="1500" b="1" lang="ar-SA" altLang="en-US">
                <a:solidFill>
                  <a:srgbClr val="0B192C"/>
                </a:solidFill>
                <a:latin typeface="Arial"/>
                <a:cs typeface="Arial"/>
              </a:rPr>
              <a:t>يشمل التطوير الحالي للوحدة:</a:t>
            </a:r>
          </a:p>
          <a:p>
            <a:pPr algn="r" rtl="1">
              <a:spcBef>
                <a:spcPts val="600"/>
              </a:spcBef>
            </a:pPr>
            <a:r>
              <a:rPr sz="1200" b="0" lang="ar-SA" altLang="en-US">
                <a:solidFill>
                  <a:srgbClr val="172033"/>
                </a:solidFill>
                <a:latin typeface="Arial"/>
                <a:cs typeface="Arial"/>
              </a:rPr>
              <a:t>⚙️  تجهيز الوحدة وتحديث غرف القياس.</a:t>
            </a:r>
          </a:p>
          <a:p>
            <a:pPr algn="r" rtl="1">
              <a:spcBef>
                <a:spcPts val="600"/>
              </a:spcBef>
            </a:pPr>
            <a:r>
              <a:rPr sz="1200" b="0" lang="ar-SA" altLang="en-US">
                <a:solidFill>
                  <a:srgbClr val="172033"/>
                </a:solidFill>
                <a:latin typeface="Arial"/>
                <a:cs typeface="Arial"/>
              </a:rPr>
              <a:t>⚙️  تطوير الإجراءات والبروتوكولات الفنية المعتمدة.</a:t>
            </a:r>
          </a:p>
          <a:p>
            <a:pPr algn="r" rtl="1">
              <a:spcBef>
                <a:spcPts val="600"/>
              </a:spcBef>
            </a:pPr>
            <a:r>
              <a:rPr sz="1200" b="0" lang="ar-SA" altLang="en-US">
                <a:solidFill>
                  <a:srgbClr val="172033"/>
                </a:solidFill>
                <a:latin typeface="Arial"/>
                <a:cs typeface="Arial"/>
              </a:rPr>
              <a:t>⚙️  تنظيم إجراءات القياسات والمعايرات الجرعية.</a:t>
            </a:r>
          </a:p>
          <a:p>
            <a:pPr algn="r" rtl="1">
              <a:spcBef>
                <a:spcPts val="600"/>
              </a:spcBef>
            </a:pPr>
            <a:r>
              <a:rPr sz="1200" b="0" lang="ar-SA" altLang="en-US">
                <a:solidFill>
                  <a:srgbClr val="172033"/>
                </a:solidFill>
                <a:latin typeface="Arial"/>
                <a:cs typeface="Arial"/>
              </a:rPr>
              <a:t>⚙️  استخدام منظومة القياس المرجعية (Electrometer + Chamber).</a:t>
            </a:r>
          </a:p>
          <a:p>
            <a:pPr algn="r" rtl="1">
              <a:spcBef>
                <a:spcPts val="600"/>
              </a:spcBef>
            </a:pPr>
            <a:r>
              <a:rPr sz="1200" b="0" lang="ar-SA" altLang="en-US">
                <a:solidFill>
                  <a:srgbClr val="172033"/>
                </a:solidFill>
                <a:latin typeface="Arial"/>
                <a:cs typeface="Arial"/>
              </a:rPr>
              <a:t>⚙️  إعداد وتحديث التوثيق والسجلات الفنية.</a:t>
            </a:r>
          </a:p>
          <a:p>
            <a:pPr algn="r" rtl="1">
              <a:spcBef>
                <a:spcPts val="600"/>
              </a:spcBef>
            </a:pPr>
            <a:r>
              <a:rPr sz="1200" b="0" lang="ar-SA" altLang="en-US">
                <a:solidFill>
                  <a:srgbClr val="172033"/>
                </a:solidFill>
                <a:latin typeface="Arial"/>
                <a:cs typeface="Arial"/>
              </a:rPr>
              <a:t>⚙️  الاستعداد الكامل لبدء الأعمال الفنية والخدمية للوحدة.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Rounded Rectangle 1"/>
          <p:cNvSpPr/>
          <p:nvPr/>
        </p:nvSpPr>
        <p:spPr>
          <a:xfrm>
            <a:off x="457200" y="457200"/>
            <a:ext cx="11277295" cy="5943600"/>
          </a:xfrm>
          <a:prstGeom prst="roundRect">
            <a:avLst/>
          </a:prstGeom>
          <a:solidFill>
            <a:srgbClr val="0B192C"/>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3" name="TextBox 2"/>
          <p:cNvSpPr txBox="1"/>
          <p:nvPr/>
        </p:nvSpPr>
        <p:spPr>
          <a:xfrm>
            <a:off x="914400" y="731520"/>
            <a:ext cx="10362895" cy="1188720"/>
          </a:xfrm>
          <a:prstGeom prst="rect">
            <a:avLst/>
          </a:prstGeom>
          <a:noFill/>
        </p:spPr>
        <p:txBody>
          <a:bodyPr wrap="none" rtlCol="1">
            <a:spAutoFit/>
          </a:bodyPr>
          <a:lstStyle/>
          <a:p>
            <a:pPr algn="ctr" rtl="1"/>
            <a:r>
              <a:rPr sz="1300" b="1" lang="ar-SA" altLang="en-US">
                <a:solidFill>
                  <a:srgbClr val="D4AF37"/>
                </a:solidFill>
                <a:latin typeface="Arial"/>
                <a:cs typeface="Arial"/>
              </a:rPr>
              <a:t>الشريحة 8 — التحول والانتقال المشترك</a:t>
            </a:r>
          </a:p>
          <a:p>
            <a:pPr algn="ctr" rtl="1">
              <a:spcBef>
                <a:spcPts val="400"/>
              </a:spcBef>
            </a:pPr>
            <a:r>
              <a:rPr sz="2300" b="1" lang="ar-SA" altLang="en-US">
                <a:solidFill>
                  <a:srgbClr val="F1F5F9"/>
                </a:solidFill>
                <a:latin typeface="Arial"/>
                <a:cs typeface="Arial"/>
              </a:rPr>
              <a:t>من الشهادة الورقية إلى المنظومة الرقمية: لماذا تم إنشاء CAL-QR؟</a:t>
            </a:r>
          </a:p>
        </p:txBody>
      </p:sp>
      <p:sp>
        <p:nvSpPr>
          <p:cNvPr id="4" name="Rounded Rectangle 3"/>
          <p:cNvSpPr/>
          <p:nvPr/>
        </p:nvSpPr>
        <p:spPr>
          <a:xfrm>
            <a:off x="1371600" y="2011680"/>
            <a:ext cx="9448495" cy="1051560"/>
          </a:xfrm>
          <a:prstGeom prst="roundRect">
            <a:avLst/>
          </a:prstGeom>
          <a:solidFill>
            <a:srgbClr val="16263D"/>
          </a:solidFill>
          <a:ln w="19050">
            <a:solidFill>
              <a:srgbClr val="2D41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5" name="TextBox 4"/>
          <p:cNvSpPr txBox="1"/>
          <p:nvPr/>
        </p:nvSpPr>
        <p:spPr>
          <a:xfrm>
            <a:off x="1554480" y="2103120"/>
            <a:ext cx="9082735" cy="868680"/>
          </a:xfrm>
          <a:prstGeom prst="rect">
            <a:avLst/>
          </a:prstGeom>
          <a:noFill/>
        </p:spPr>
        <p:txBody>
          <a:bodyPr wrap="none" rtlCol="1">
            <a:spAutoFit/>
          </a:bodyPr>
          <a:lstStyle/>
          <a:p>
            <a:pPr algn="ctr" rtl="1"/>
            <a:r>
              <a:rPr sz="1250" b="1" lang="ar-SA" altLang="en-US">
                <a:solidFill>
                  <a:srgbClr val="D4AF37"/>
                </a:solidFill>
                <a:latin typeface="Arial"/>
                <a:cs typeface="Arial"/>
              </a:rPr>
              <a:t>بعد الانتهاء من تطوير شهادات المعايرة علميًا وفنيًا وفق متطلبات ISO/IEC 17025:2017، ظهرت حاجة جديدة:</a:t>
            </a:r>
          </a:p>
          <a:p>
            <a:pPr algn="ctr" rtl="1">
              <a:spcBef>
                <a:spcPts val="300"/>
              </a:spcBef>
            </a:pPr>
            <a:r>
              <a:rPr sz="1200" b="0" lang="ar-SA" altLang="en-US">
                <a:solidFill>
                  <a:srgbClr val="F1F5F9"/>
                </a:solidFill>
                <a:latin typeface="Arial"/>
                <a:cs typeface="Arial"/>
              </a:rPr>
              <a:t>«كيف يمكن إدارة هذه الشهادات وحفظها واسترجاعها بطريقة إلكترونية منظمة؟ ومن هنا بدأت فكرة إنشاء منظومة رقمية خاصة بشهادات المعايرة»</a:t>
            </a:r>
          </a:p>
        </p:txBody>
      </p:sp>
      <p:sp>
        <p:nvSpPr>
          <p:cNvPr id="6" name="Rounded Rectangle 5"/>
          <p:cNvSpPr/>
          <p:nvPr/>
        </p:nvSpPr>
        <p:spPr>
          <a:xfrm>
            <a:off x="9765792" y="3291840"/>
            <a:ext cx="1645920" cy="1097280"/>
          </a:xfrm>
          <a:prstGeom prst="roundRect">
            <a:avLst/>
          </a:prstGeom>
          <a:solidFill>
            <a:srgbClr val="16263D"/>
          </a:solidFill>
          <a:ln w="19050">
            <a:solidFill>
              <a:srgbClr val="2D41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7" name="TextBox 6"/>
          <p:cNvSpPr txBox="1"/>
          <p:nvPr/>
        </p:nvSpPr>
        <p:spPr>
          <a:xfrm>
            <a:off x="9811512" y="3474720"/>
            <a:ext cx="1554480" cy="731520"/>
          </a:xfrm>
          <a:prstGeom prst="rect">
            <a:avLst/>
          </a:prstGeom>
          <a:noFill/>
        </p:spPr>
        <p:txBody>
          <a:bodyPr wrap="none" rtlCol="1">
            <a:spAutoFit/>
          </a:bodyPr>
          <a:lstStyle/>
          <a:p>
            <a:pPr algn="ctr" rtl="1"/>
            <a:r>
              <a:rPr sz="1150" b="1" lang="ar-SA" altLang="en-US">
                <a:solidFill>
                  <a:srgbClr val="F1F5F9"/>
                </a:solidFill>
                <a:latin typeface="Arial"/>
                <a:cs typeface="Arial"/>
              </a:rPr>
              <a:t>1. تطوير الشهادة</a:t>
            </a:r>
          </a:p>
        </p:txBody>
      </p:sp>
      <p:sp>
        <p:nvSpPr>
          <p:cNvPr id="8" name="TextBox 7"/>
          <p:cNvSpPr txBox="1"/>
          <p:nvPr/>
        </p:nvSpPr>
        <p:spPr>
          <a:xfrm>
            <a:off x="9601200" y="3657600"/>
            <a:ext cx="182880" cy="365760"/>
          </a:xfrm>
          <a:prstGeom prst="rect">
            <a:avLst/>
          </a:prstGeom>
          <a:noFill/>
        </p:spPr>
        <p:txBody>
          <a:bodyPr wrap="none" rtlCol="1">
            <a:spAutoFit/>
          </a:bodyPr>
          <a:lstStyle/>
          <a:p>
            <a:pPr algn="ctr" rtl="1"/>
            <a:r>
              <a:rPr sz="1400" b="1" lang="ar-SA" altLang="en-US">
                <a:solidFill>
                  <a:srgbClr val="D4AF37"/>
                </a:solidFill>
                <a:latin typeface="Arial"/>
                <a:cs typeface="Arial"/>
              </a:rPr>
              <a:t>←</a:t>
            </a:r>
          </a:p>
        </p:txBody>
      </p:sp>
      <p:sp>
        <p:nvSpPr>
          <p:cNvPr id="9" name="Rounded Rectangle 8"/>
          <p:cNvSpPr/>
          <p:nvPr/>
        </p:nvSpPr>
        <p:spPr>
          <a:xfrm>
            <a:off x="7964424" y="3291840"/>
            <a:ext cx="1645920" cy="1097280"/>
          </a:xfrm>
          <a:prstGeom prst="roundRect">
            <a:avLst/>
          </a:prstGeom>
          <a:solidFill>
            <a:srgbClr val="16263D"/>
          </a:solidFill>
          <a:ln w="19050">
            <a:solidFill>
              <a:srgbClr val="2D41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0" name="TextBox 9"/>
          <p:cNvSpPr txBox="1"/>
          <p:nvPr/>
        </p:nvSpPr>
        <p:spPr>
          <a:xfrm>
            <a:off x="8010144" y="3474720"/>
            <a:ext cx="1554480" cy="731520"/>
          </a:xfrm>
          <a:prstGeom prst="rect">
            <a:avLst/>
          </a:prstGeom>
          <a:noFill/>
        </p:spPr>
        <p:txBody>
          <a:bodyPr wrap="none" rtlCol="1">
            <a:spAutoFit/>
          </a:bodyPr>
          <a:lstStyle/>
          <a:p>
            <a:pPr algn="ctr" rtl="1"/>
            <a:r>
              <a:rPr sz="1150" b="1" lang="ar-SA" altLang="en-US">
                <a:solidFill>
                  <a:srgbClr val="F1F5F9"/>
                </a:solidFill>
                <a:latin typeface="Arial"/>
                <a:cs typeface="Arial"/>
              </a:rPr>
              <a:t>2. تحديد البيانات والحقول</a:t>
            </a:r>
          </a:p>
        </p:txBody>
      </p:sp>
      <p:sp>
        <p:nvSpPr>
          <p:cNvPr id="11" name="TextBox 10"/>
          <p:cNvSpPr txBox="1"/>
          <p:nvPr/>
        </p:nvSpPr>
        <p:spPr>
          <a:xfrm>
            <a:off x="7799832" y="3657600"/>
            <a:ext cx="182880" cy="365760"/>
          </a:xfrm>
          <a:prstGeom prst="rect">
            <a:avLst/>
          </a:prstGeom>
          <a:noFill/>
        </p:spPr>
        <p:txBody>
          <a:bodyPr wrap="none" rtlCol="1">
            <a:spAutoFit/>
          </a:bodyPr>
          <a:lstStyle/>
          <a:p>
            <a:pPr algn="ctr" rtl="1"/>
            <a:r>
              <a:rPr sz="1400" b="1" lang="ar-SA" altLang="en-US">
                <a:solidFill>
                  <a:srgbClr val="D4AF37"/>
                </a:solidFill>
                <a:latin typeface="Arial"/>
                <a:cs typeface="Arial"/>
              </a:rPr>
              <a:t>←</a:t>
            </a:r>
          </a:p>
        </p:txBody>
      </p:sp>
      <p:sp>
        <p:nvSpPr>
          <p:cNvPr id="12" name="Rounded Rectangle 11"/>
          <p:cNvSpPr/>
          <p:nvPr/>
        </p:nvSpPr>
        <p:spPr>
          <a:xfrm>
            <a:off x="6163056" y="3291840"/>
            <a:ext cx="1645920" cy="1097280"/>
          </a:xfrm>
          <a:prstGeom prst="roundRect">
            <a:avLst/>
          </a:prstGeom>
          <a:solidFill>
            <a:srgbClr val="16263D"/>
          </a:solidFill>
          <a:ln w="19050">
            <a:solidFill>
              <a:srgbClr val="2D41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3" name="TextBox 12"/>
          <p:cNvSpPr txBox="1"/>
          <p:nvPr/>
        </p:nvSpPr>
        <p:spPr>
          <a:xfrm>
            <a:off x="6208776" y="3474720"/>
            <a:ext cx="1554480" cy="731520"/>
          </a:xfrm>
          <a:prstGeom prst="rect">
            <a:avLst/>
          </a:prstGeom>
          <a:noFill/>
        </p:spPr>
        <p:txBody>
          <a:bodyPr wrap="none" rtlCol="1">
            <a:spAutoFit/>
          </a:bodyPr>
          <a:lstStyle/>
          <a:p>
            <a:pPr algn="ctr" rtl="1"/>
            <a:r>
              <a:rPr sz="1150" b="1" lang="ar-SA" altLang="en-US">
                <a:solidFill>
                  <a:srgbClr val="F1F5F9"/>
                </a:solidFill>
                <a:latin typeface="Arial"/>
                <a:cs typeface="Arial"/>
              </a:rPr>
              <a:t>3. آلية إصدار الشهادة</a:t>
            </a:r>
          </a:p>
        </p:txBody>
      </p:sp>
      <p:sp>
        <p:nvSpPr>
          <p:cNvPr id="14" name="TextBox 13"/>
          <p:cNvSpPr txBox="1"/>
          <p:nvPr/>
        </p:nvSpPr>
        <p:spPr>
          <a:xfrm>
            <a:off x="5998464" y="3657600"/>
            <a:ext cx="182880" cy="365760"/>
          </a:xfrm>
          <a:prstGeom prst="rect">
            <a:avLst/>
          </a:prstGeom>
          <a:noFill/>
        </p:spPr>
        <p:txBody>
          <a:bodyPr wrap="none" rtlCol="1">
            <a:spAutoFit/>
          </a:bodyPr>
          <a:lstStyle/>
          <a:p>
            <a:pPr algn="ctr" rtl="1"/>
            <a:r>
              <a:rPr sz="1400" b="1" lang="ar-SA" altLang="en-US">
                <a:solidFill>
                  <a:srgbClr val="D4AF37"/>
                </a:solidFill>
                <a:latin typeface="Arial"/>
                <a:cs typeface="Arial"/>
              </a:rPr>
              <a:t>←</a:t>
            </a:r>
          </a:p>
        </p:txBody>
      </p:sp>
      <p:sp>
        <p:nvSpPr>
          <p:cNvPr id="15" name="Rounded Rectangle 14"/>
          <p:cNvSpPr/>
          <p:nvPr/>
        </p:nvSpPr>
        <p:spPr>
          <a:xfrm>
            <a:off x="4361688" y="3291840"/>
            <a:ext cx="1645920" cy="1097280"/>
          </a:xfrm>
          <a:prstGeom prst="roundRect">
            <a:avLst/>
          </a:prstGeom>
          <a:solidFill>
            <a:srgbClr val="16263D"/>
          </a:solidFill>
          <a:ln w="19050">
            <a:solidFill>
              <a:srgbClr val="2D41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6" name="TextBox 15"/>
          <p:cNvSpPr txBox="1"/>
          <p:nvPr/>
        </p:nvSpPr>
        <p:spPr>
          <a:xfrm>
            <a:off x="4407408" y="3474720"/>
            <a:ext cx="1554480" cy="731520"/>
          </a:xfrm>
          <a:prstGeom prst="rect">
            <a:avLst/>
          </a:prstGeom>
          <a:noFill/>
        </p:spPr>
        <p:txBody>
          <a:bodyPr wrap="none" rtlCol="1">
            <a:spAutoFit/>
          </a:bodyPr>
          <a:lstStyle/>
          <a:p>
            <a:pPr algn="ctr" rtl="1"/>
            <a:r>
              <a:rPr sz="1150" b="1" lang="ar-SA" altLang="en-US">
                <a:solidFill>
                  <a:srgbClr val="F1F5F9"/>
                </a:solidFill>
                <a:latin typeface="Arial"/>
                <a:cs typeface="Arial"/>
              </a:rPr>
              <a:t>4. الأرشفة والاسترجاع</a:t>
            </a:r>
          </a:p>
        </p:txBody>
      </p:sp>
      <p:sp>
        <p:nvSpPr>
          <p:cNvPr id="17" name="TextBox 16"/>
          <p:cNvSpPr txBox="1"/>
          <p:nvPr/>
        </p:nvSpPr>
        <p:spPr>
          <a:xfrm>
            <a:off x="4197096" y="3657600"/>
            <a:ext cx="182880" cy="365760"/>
          </a:xfrm>
          <a:prstGeom prst="rect">
            <a:avLst/>
          </a:prstGeom>
          <a:noFill/>
        </p:spPr>
        <p:txBody>
          <a:bodyPr wrap="none" rtlCol="1">
            <a:spAutoFit/>
          </a:bodyPr>
          <a:lstStyle/>
          <a:p>
            <a:pPr algn="ctr" rtl="1"/>
            <a:r>
              <a:rPr sz="1400" b="1" lang="ar-SA" altLang="en-US">
                <a:solidFill>
                  <a:srgbClr val="D4AF37"/>
                </a:solidFill>
                <a:latin typeface="Arial"/>
                <a:cs typeface="Arial"/>
              </a:rPr>
              <a:t>←</a:t>
            </a:r>
          </a:p>
        </p:txBody>
      </p:sp>
      <p:sp>
        <p:nvSpPr>
          <p:cNvPr id="18" name="Rounded Rectangle 17"/>
          <p:cNvSpPr/>
          <p:nvPr/>
        </p:nvSpPr>
        <p:spPr>
          <a:xfrm>
            <a:off x="2560320" y="3291840"/>
            <a:ext cx="1645920" cy="1097280"/>
          </a:xfrm>
          <a:prstGeom prst="roundRect">
            <a:avLst/>
          </a:prstGeom>
          <a:solidFill>
            <a:srgbClr val="16263D"/>
          </a:solidFill>
          <a:ln w="19050">
            <a:solidFill>
              <a:srgbClr val="2D41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9" name="TextBox 18"/>
          <p:cNvSpPr txBox="1"/>
          <p:nvPr/>
        </p:nvSpPr>
        <p:spPr>
          <a:xfrm>
            <a:off x="2606040" y="3474720"/>
            <a:ext cx="1554480" cy="731520"/>
          </a:xfrm>
          <a:prstGeom prst="rect">
            <a:avLst/>
          </a:prstGeom>
          <a:noFill/>
        </p:spPr>
        <p:txBody>
          <a:bodyPr wrap="none" rtlCol="1">
            <a:spAutoFit/>
          </a:bodyPr>
          <a:lstStyle/>
          <a:p>
            <a:pPr algn="ctr" rtl="1"/>
            <a:r>
              <a:rPr sz="1150" b="1" lang="ar-SA" altLang="en-US">
                <a:solidFill>
                  <a:srgbClr val="F1F5F9"/>
                </a:solidFill>
                <a:latin typeface="Arial"/>
                <a:cs typeface="Arial"/>
              </a:rPr>
              <a:t>5. منظومة رقمية</a:t>
            </a:r>
          </a:p>
        </p:txBody>
      </p:sp>
      <p:sp>
        <p:nvSpPr>
          <p:cNvPr id="20" name="TextBox 19"/>
          <p:cNvSpPr txBox="1"/>
          <p:nvPr/>
        </p:nvSpPr>
        <p:spPr>
          <a:xfrm>
            <a:off x="2395728" y="3657600"/>
            <a:ext cx="182880" cy="365760"/>
          </a:xfrm>
          <a:prstGeom prst="rect">
            <a:avLst/>
          </a:prstGeom>
          <a:noFill/>
        </p:spPr>
        <p:txBody>
          <a:bodyPr wrap="none" rtlCol="1">
            <a:spAutoFit/>
          </a:bodyPr>
          <a:lstStyle/>
          <a:p>
            <a:pPr algn="ctr" rtl="1"/>
            <a:r>
              <a:rPr sz="1400" b="1" lang="ar-SA" altLang="en-US">
                <a:solidFill>
                  <a:srgbClr val="D4AF37"/>
                </a:solidFill>
                <a:latin typeface="Arial"/>
                <a:cs typeface="Arial"/>
              </a:rPr>
              <a:t>←</a:t>
            </a:r>
          </a:p>
        </p:txBody>
      </p:sp>
      <p:sp>
        <p:nvSpPr>
          <p:cNvPr id="21" name="Rounded Rectangle 20"/>
          <p:cNvSpPr/>
          <p:nvPr/>
        </p:nvSpPr>
        <p:spPr>
          <a:xfrm>
            <a:off x="758952" y="3291840"/>
            <a:ext cx="1645920" cy="1097280"/>
          </a:xfrm>
          <a:prstGeom prst="roundRect">
            <a:avLst/>
          </a:prstGeom>
          <a:solidFill>
            <a:srgbClr val="16263D"/>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22" name="TextBox 21"/>
          <p:cNvSpPr txBox="1"/>
          <p:nvPr/>
        </p:nvSpPr>
        <p:spPr>
          <a:xfrm>
            <a:off x="804672" y="3474720"/>
            <a:ext cx="1554480" cy="731520"/>
          </a:xfrm>
          <a:prstGeom prst="rect">
            <a:avLst/>
          </a:prstGeom>
          <a:noFill/>
        </p:spPr>
        <p:txBody>
          <a:bodyPr wrap="none" rtlCol="1">
            <a:spAutoFit/>
          </a:bodyPr>
          <a:lstStyle/>
          <a:p>
            <a:pPr algn="ctr" rtl="1"/>
            <a:r>
              <a:rPr sz="1150" b="1" lang="ar-SA" altLang="en-US">
                <a:solidFill>
                  <a:srgbClr val="D4AF37"/>
                </a:solidFill>
                <a:latin typeface="Arial"/>
                <a:cs typeface="Arial"/>
              </a:rPr>
              <a:t>6. إضافة QR Code</a:t>
            </a:r>
          </a:p>
        </p:txBody>
      </p:sp>
      <p:sp>
        <p:nvSpPr>
          <p:cNvPr id="23" name="Rounded Rectangle 22"/>
          <p:cNvSpPr/>
          <p:nvPr/>
        </p:nvSpPr>
        <p:spPr>
          <a:xfrm>
            <a:off x="1371600" y="4663440"/>
            <a:ext cx="9448495" cy="1188720"/>
          </a:xfrm>
          <a:prstGeom prst="roundRect">
            <a:avLst/>
          </a:prstGeom>
          <a:solidFill>
            <a:srgbClr val="1E3050"/>
          </a:solidFill>
          <a:ln w="19050">
            <a:solidFill>
              <a:srgbClr val="B8922E"/>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24" name="TextBox 23"/>
          <p:cNvSpPr txBox="1"/>
          <p:nvPr/>
        </p:nvSpPr>
        <p:spPr>
          <a:xfrm>
            <a:off x="1554480" y="4800600"/>
            <a:ext cx="9082735" cy="914400"/>
          </a:xfrm>
          <a:prstGeom prst="rect">
            <a:avLst/>
          </a:prstGeom>
          <a:noFill/>
        </p:spPr>
        <p:txBody>
          <a:bodyPr wrap="none" rtlCol="1">
            <a:spAutoFit/>
          </a:bodyPr>
          <a:lstStyle/>
          <a:p>
            <a:pPr algn="ctr" rtl="1"/>
            <a:r>
              <a:rPr sz="1600" b="1" lang="ar-SA" altLang="en-US">
                <a:solidFill>
                  <a:srgbClr val="D4AF37"/>
                </a:solidFill>
                <a:latin typeface="Arial"/>
                <a:cs typeface="Arial"/>
              </a:rPr>
              <a:t>«وهنا يبدأ دور الزميل إدريس في الجانب البرمجي»</a:t>
            </a:r>
          </a:p>
          <a:p>
            <a:pPr algn="ctr" rtl="1">
              <a:spcBef>
                <a:spcPts val="400"/>
              </a:spcBef>
            </a:pPr>
            <a:r>
              <a:rPr sz="1150" b="0" lang="ar-SA" altLang="en-US">
                <a:solidFill>
                  <a:srgbClr val="F1F5F9"/>
                </a:solidFill>
                <a:latin typeface="Arial"/>
                <a:cs typeface="Arial"/>
              </a:rPr>
              <a:t>تحويل المتطلبات الفنية والمترولوجية إلى حل رقمي متكامل يجمع بين قاعدة البيانات المحلية، آلية الإصدار، والتوقيع الرقمي، ورمز الاستجابة السريعة.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rIns="0" tIns="0" bIns="0" rtlCol="1">
            <a:spAutoFit/>
          </a:bodyPr>
          <a:lstStyle/>
          <a:p>
            <a:pPr algn="r" rtl="1"/>
            <a:r>
              <a:rPr sz="1100" b="1" lang="ar-SA" altLang="en-US">
                <a:solidFill>
                  <a:srgbClr val="D4AF37"/>
                </a:solidFill>
                <a:latin typeface="Arial"/>
                <a:cs typeface="Arial"/>
              </a:rPr>
              <a:t>الشريحة 9 — إدريس: منظومة CAL-QR</a:t>
            </a:r>
          </a:p>
          <a:p>
            <a:pPr algn="r" rtl="1">
              <a:spcBef>
                <a:spcPts val="300"/>
              </a:spcBef>
            </a:pPr>
            <a:r>
              <a:rPr sz="2200" b="1" lang="ar-SA" altLang="en-US">
                <a:solidFill>
                  <a:srgbClr val="F1F5F9"/>
                </a:solidFill>
                <a:latin typeface="Arial"/>
                <a:cs typeface="Arial"/>
              </a:rPr>
              <a:t>منظومة CAL-QR: الفكرة والمتطلبات ودور البرمجة</a:t>
            </a:r>
          </a:p>
        </p:txBody>
      </p:sp>
      <p:sp>
        <p:nvSpPr>
          <p:cNvPr id="3" name="Rectangle 2"/>
          <p:cNvSpPr/>
          <p:nvPr/>
        </p:nvSpPr>
        <p:spPr>
          <a:xfrm>
            <a:off x="731520" y="1207008"/>
            <a:ext cx="10728655" cy="18288"/>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4" name="TextBox 3"/>
          <p:cNvSpPr txBox="1"/>
          <p:nvPr/>
        </p:nvSpPr>
        <p:spPr>
          <a:xfrm>
            <a:off x="731520" y="6355080"/>
            <a:ext cx="10728655" cy="320040"/>
          </a:xfrm>
          <a:prstGeom prst="rect">
            <a:avLst/>
          </a:prstGeom>
          <a:noFill/>
        </p:spPr>
        <p:txBody>
          <a:bodyPr wrap="none" lIns="0" rIns="0" tIns="0" bIns="0" rtlCol="1">
            <a:spAutoFit/>
          </a:bodyPr>
          <a:lstStyle/>
          <a:p>
            <a:pPr algn="r" rtl="1"/>
            <a:r>
              <a:rPr sz="950" b="0" lang="ar-SA" altLang="en-US">
                <a:solidFill>
                  <a:srgbClr val="94A3B8"/>
                </a:solidFill>
                <a:latin typeface="Arial"/>
                <a:cs typeface="Arial"/>
              </a:rPr>
              <a:t>مؤسسة الطاقة الذرية  |  اجتماع اللجنة العلمية الدائمة لسنة 2026م  |  شريحة 9</a:t>
            </a:r>
          </a:p>
        </p:txBody>
      </p:sp>
      <p:pic>
        <p:nvPicPr>
          <p:cNvPr id="5" name="Picture 4" descr="cal-qr logo.png"/>
          <p:cNvPicPr>
            <a:picLocks noChangeAspect="1"/>
          </p:cNvPicPr>
          <p:nvPr/>
        </p:nvPicPr>
        <p:blipFill>
          <a:blip r:embed="rId2"/>
          <a:stretch>
            <a:fillRect/>
          </a:stretch>
        </p:blipFill>
        <p:spPr>
          <a:xfrm>
            <a:off x="731520" y="1417320"/>
            <a:ext cx="3291840" cy="3291840"/>
          </a:xfrm>
          <a:prstGeom prst="rect">
            <a:avLst/>
          </a:prstGeom>
        </p:spPr>
      </p:pic>
      <p:sp>
        <p:nvSpPr>
          <p:cNvPr id="6" name="TextBox 5"/>
          <p:cNvSpPr txBox="1"/>
          <p:nvPr/>
        </p:nvSpPr>
        <p:spPr>
          <a:xfrm>
            <a:off x="731520" y="4846320"/>
            <a:ext cx="3291840" cy="1280160"/>
          </a:xfrm>
          <a:prstGeom prst="rect">
            <a:avLst/>
          </a:prstGeom>
          <a:noFill/>
        </p:spPr>
        <p:txBody>
          <a:bodyPr wrap="square" rtlCol="1">
            <a:spAutoFit/>
          </a:bodyPr>
          <a:lstStyle/>
          <a:p>
            <a:pPr algn="r" rtl="1"/>
            <a:r>
              <a:rPr sz="1100" b="1" lang="ar-SA" altLang="en-US">
                <a:solidFill>
                  <a:srgbClr val="D4AF37"/>
                </a:solidFill>
                <a:latin typeface="Arial"/>
                <a:cs typeface="Arial"/>
              </a:rPr>
              <a:t>Digital Calibration Certificate System – CAL-QR</a:t>
            </a:r>
          </a:p>
          <a:p>
            <a:pPr algn="r" rtl="1">
              <a:spcBef>
                <a:spcPts val="200"/>
              </a:spcBef>
            </a:pPr>
            <a:r>
              <a:rPr sz="1000" b="0" lang="ar-SA" altLang="en-US">
                <a:solidFill>
                  <a:srgbClr val="F1F5F9"/>
                </a:solidFill>
                <a:latin typeface="Arial"/>
                <a:cs typeface="Arial"/>
              </a:rPr>
              <a:t>فكرة المنظومة: منظومة رقمية مخصصة لإدارة شهادات المعايرة، بدءًا من إدخال البيانات، مرورًا بإصدار الشهادة، وصولًا إلى حفظها وأرشفتها والوصول إليها عبر QR Code.</a:t>
            </a:r>
          </a:p>
        </p:txBody>
      </p:sp>
      <p:sp>
        <p:nvSpPr>
          <p:cNvPr id="7" name="Rounded Rectangle 6"/>
          <p:cNvSpPr/>
          <p:nvPr/>
        </p:nvSpPr>
        <p:spPr>
          <a:xfrm>
            <a:off x="4297680" y="1417320"/>
            <a:ext cx="7132320" cy="2423160"/>
          </a:xfrm>
          <a:prstGeom prst="roundRect">
            <a:avLst/>
          </a:prstGeom>
          <a:solidFill>
            <a:srgbClr val="16263D"/>
          </a:solidFill>
          <a:ln w="19050">
            <a:solidFill>
              <a:srgbClr val="2D41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8" name="TextBox 7"/>
          <p:cNvSpPr txBox="1"/>
          <p:nvPr/>
        </p:nvSpPr>
        <p:spPr>
          <a:xfrm>
            <a:off x="4480560" y="1536192"/>
            <a:ext cx="6766560" cy="2148840"/>
          </a:xfrm>
          <a:prstGeom prst="rect">
            <a:avLst/>
          </a:prstGeom>
          <a:noFill/>
        </p:spPr>
        <p:txBody>
          <a:bodyPr wrap="square" rtlCol="1">
            <a:spAutoFit/>
          </a:bodyPr>
          <a:lstStyle/>
          <a:p>
            <a:pPr algn="r" rtl="1"/>
            <a:r>
              <a:rPr sz="1350" b="1" lang="ar-SA" altLang="en-US">
                <a:solidFill>
                  <a:srgbClr val="D4AF37"/>
                </a:solidFill>
                <a:latin typeface="Arial"/>
                <a:cs typeface="Arial"/>
              </a:rPr>
              <a:t>المتطلبات العلمية والفنية (تم تحديدها قبل البرمجة وتشمل):</a:t>
            </a:r>
          </a:p>
          <a:p>
            <a:pPr algn="r" rtl="1">
              <a:spcBef>
                <a:spcPts val="400"/>
              </a:spcBef>
            </a:pPr>
            <a:r>
              <a:rPr sz="1100" b="0" lang="ar-SA" altLang="en-US">
                <a:solidFill>
                  <a:srgbClr val="F1F5F9"/>
                </a:solidFill>
                <a:latin typeface="Arial"/>
                <a:cs typeface="Arial"/>
              </a:rPr>
              <a:t>• محتوى شهادة المعايرة. • بيانات الجهاز. • بيانات المعايرة. • النتائج.</a:t>
            </a:r>
          </a:p>
          <a:p>
            <a:pPr algn="r" rtl="1">
              <a:spcBef>
                <a:spcPts val="300"/>
              </a:spcBef>
            </a:pPr>
            <a:r>
              <a:rPr sz="1100" b="0" lang="ar-SA" altLang="en-US">
                <a:solidFill>
                  <a:srgbClr val="F1F5F9"/>
                </a:solidFill>
                <a:latin typeface="Arial"/>
                <a:cs typeface="Arial"/>
              </a:rPr>
              <a:t>• الحقول المطلوبة. • طريقة عرض البيانات. • متطلبات التوثيق. • آلية إصدار الشهادة.</a:t>
            </a:r>
          </a:p>
          <a:p>
            <a:pPr algn="r" rtl="1">
              <a:spcBef>
                <a:spcPts val="400"/>
              </a:spcBef>
            </a:pPr>
            <a:r>
              <a:rPr sz="1000" b="0" lang="ar-SA" altLang="en-US">
                <a:solidFill>
                  <a:srgbClr val="CBD5E1"/>
                </a:solidFill>
                <a:latin typeface="Arial"/>
                <a:cs typeface="Arial"/>
              </a:rPr>
              <a:t>جميع هذه المتطلبات اعتمدت فكرياً وعلمياً وفق ISO/IEC 17025 لتشكل الأساس البرمجي للمنظومة.</a:t>
            </a:r>
          </a:p>
        </p:txBody>
      </p:sp>
      <p:sp>
        <p:nvSpPr>
          <p:cNvPr id="9" name="Rounded Rectangle 8"/>
          <p:cNvSpPr/>
          <p:nvPr/>
        </p:nvSpPr>
        <p:spPr>
          <a:xfrm>
            <a:off x="4297680" y="3977639"/>
            <a:ext cx="7132320" cy="2240280"/>
          </a:xfrm>
          <a:prstGeom prst="roundRect">
            <a:avLst/>
          </a:prstGeom>
          <a:solidFill>
            <a:srgbClr val="16263D"/>
          </a:solidFill>
          <a:ln w="19050">
            <a:solidFill>
              <a:srgbClr val="2D41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0" name="TextBox 9"/>
          <p:cNvSpPr txBox="1"/>
          <p:nvPr/>
        </p:nvSpPr>
        <p:spPr>
          <a:xfrm>
            <a:off x="4480560" y="4069080"/>
            <a:ext cx="6766560" cy="1965960"/>
          </a:xfrm>
          <a:prstGeom prst="rect">
            <a:avLst/>
          </a:prstGeom>
          <a:noFill/>
        </p:spPr>
        <p:txBody>
          <a:bodyPr wrap="square" rtlCol="1">
            <a:spAutoFit/>
          </a:bodyPr>
          <a:lstStyle/>
          <a:p>
            <a:pPr algn="r" rtl="1"/>
            <a:r>
              <a:rPr sz="1350" b="1" lang="ar-SA" altLang="en-US">
                <a:solidFill>
                  <a:srgbClr val="D4AF37"/>
                </a:solidFill>
                <a:latin typeface="Arial"/>
                <a:cs typeface="Arial"/>
              </a:rPr>
              <a:t>دور إدريس (تحويل هذه المتطلبات إلى نظام إلكتروني من خلال):</a:t>
            </a:r>
          </a:p>
          <a:p>
            <a:pPr algn="r" rtl="1">
              <a:spcBef>
                <a:spcPts val="400"/>
              </a:spcBef>
            </a:pPr>
            <a:r>
              <a:rPr sz="1150" b="0" lang="ar-SA" altLang="en-US">
                <a:solidFill>
                  <a:srgbClr val="F1F5F9"/>
                </a:solidFill>
                <a:latin typeface="Arial"/>
                <a:cs typeface="Arial"/>
              </a:rPr>
              <a:t>✔ تصميم قاعدة البيانات. • إنشاء واجهة النظام. • برمجة وظائف إصدار الشهادة.</a:t>
            </a:r>
          </a:p>
          <a:p>
            <a:pPr algn="r" rtl="1">
              <a:spcBef>
                <a:spcPts val="300"/>
              </a:spcBef>
            </a:pPr>
            <a:r>
              <a:rPr sz="1150" b="0" lang="ar-SA" altLang="en-US">
                <a:solidFill>
                  <a:srgbClr val="F1F5F9"/>
                </a:solidFill>
                <a:latin typeface="Arial"/>
                <a:cs typeface="Arial"/>
              </a:rPr>
              <a:t>✔ تنظيم وتخزين البيانات. • تطوير البحث والاسترجاع. • إنشاء QR Code وربطه بالشهادة.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rIns="0" tIns="0" bIns="0" rtlCol="1">
            <a:spAutoFit/>
          </a:bodyPr>
          <a:lstStyle/>
          <a:p>
            <a:pPr algn="r" rtl="1"/>
            <a:r>
              <a:rPr sz="1100" b="1" lang="ar-SA" altLang="en-US">
                <a:solidFill>
                  <a:srgbClr val="D4AF37"/>
                </a:solidFill>
                <a:latin typeface="Arial"/>
                <a:cs typeface="Arial"/>
              </a:rPr>
              <a:t>الشريحة 10 — آلية العمل والوظائف</a:t>
            </a:r>
          </a:p>
          <a:p>
            <a:pPr algn="r" rtl="1">
              <a:spcBef>
                <a:spcPts val="300"/>
              </a:spcBef>
            </a:pPr>
            <a:r>
              <a:rPr sz="2200" b="1" lang="ar-SA" altLang="en-US">
                <a:solidFill>
                  <a:srgbClr val="F1F5F9"/>
                </a:solidFill>
                <a:latin typeface="Arial"/>
                <a:cs typeface="Arial"/>
              </a:rPr>
              <a:t>CAL-QR: آلية العمل والوظائف الرئيسية</a:t>
            </a:r>
          </a:p>
        </p:txBody>
      </p:sp>
      <p:sp>
        <p:nvSpPr>
          <p:cNvPr id="3" name="Rectangle 2"/>
          <p:cNvSpPr/>
          <p:nvPr/>
        </p:nvSpPr>
        <p:spPr>
          <a:xfrm>
            <a:off x="731520" y="1207008"/>
            <a:ext cx="10728655" cy="18288"/>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4" name="TextBox 3"/>
          <p:cNvSpPr txBox="1"/>
          <p:nvPr/>
        </p:nvSpPr>
        <p:spPr>
          <a:xfrm>
            <a:off x="731520" y="6355080"/>
            <a:ext cx="10728655" cy="320040"/>
          </a:xfrm>
          <a:prstGeom prst="rect">
            <a:avLst/>
          </a:prstGeom>
          <a:noFill/>
        </p:spPr>
        <p:txBody>
          <a:bodyPr wrap="none" lIns="0" rIns="0" tIns="0" bIns="0" rtlCol="1">
            <a:spAutoFit/>
          </a:bodyPr>
          <a:lstStyle/>
          <a:p>
            <a:pPr algn="r" rtl="1"/>
            <a:r>
              <a:rPr sz="950" b="0" lang="ar-SA" altLang="en-US">
                <a:solidFill>
                  <a:srgbClr val="94A3B8"/>
                </a:solidFill>
                <a:latin typeface="Arial"/>
                <a:cs typeface="Arial"/>
              </a:rPr>
              <a:t>مؤسسة الطاقة الذرية  |  اجتماع اللجنة العلمية الدائمة لسنة 2026م  |  شريحة 10</a:t>
            </a:r>
          </a:p>
        </p:txBody>
      </p:sp>
      <p:sp>
        <p:nvSpPr>
          <p:cNvPr id="5" name="Rounded Rectangle 4"/>
          <p:cNvSpPr/>
          <p:nvPr/>
        </p:nvSpPr>
        <p:spPr>
          <a:xfrm>
            <a:off x="6217920" y="1417320"/>
            <a:ext cx="5212080" cy="4663440"/>
          </a:xfrm>
          <a:prstGeom prst="roundRect">
            <a:avLst/>
          </a:prstGeom>
          <a:solidFill>
            <a:srgbClr val="16263D"/>
          </a:solidFill>
          <a:ln w="19050">
            <a:solidFill>
              <a:srgbClr val="2D41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6" name="TextBox 5"/>
          <p:cNvSpPr txBox="1"/>
          <p:nvPr/>
        </p:nvSpPr>
        <p:spPr>
          <a:xfrm>
            <a:off x="6400800" y="1554480"/>
            <a:ext cx="4846320" cy="4297680"/>
          </a:xfrm>
          <a:prstGeom prst="rect">
            <a:avLst/>
          </a:prstGeom>
          <a:noFill/>
        </p:spPr>
        <p:txBody>
          <a:bodyPr wrap="square" rtlCol="1">
            <a:spAutoFit/>
          </a:bodyPr>
          <a:lstStyle/>
          <a:p>
            <a:pPr algn="r" rtl="1"/>
            <a:r>
              <a:rPr sz="1500" b="1" lang="ar-SA" altLang="en-US">
                <a:solidFill>
                  <a:srgbClr val="D4AF37"/>
                </a:solidFill>
                <a:latin typeface="Arial"/>
                <a:cs typeface="Arial"/>
              </a:rPr>
              <a:t>آلية عمل المنظومة (Workflow):</a:t>
            </a:r>
          </a:p>
          <a:p>
            <a:pPr algn="r" rtl="1">
              <a:spcBef>
                <a:spcPts val="400"/>
              </a:spcBef>
            </a:pPr>
            <a:r>
              <a:rPr sz="1200" b="0" lang="ar-SA" altLang="en-US">
                <a:solidFill>
                  <a:srgbClr val="F1F5F9"/>
                </a:solidFill>
                <a:latin typeface="Arial"/>
                <a:cs typeface="Arial"/>
              </a:rPr>
              <a:t>⬇  1. إدخال بيانات الجهاز</a:t>
            </a:r>
          </a:p>
          <a:p>
            <a:pPr algn="r" rtl="1">
              <a:spcBef>
                <a:spcPts val="400"/>
              </a:spcBef>
            </a:pPr>
            <a:r>
              <a:rPr sz="1200" b="0" lang="ar-SA" altLang="en-US">
                <a:solidFill>
                  <a:srgbClr val="F1F5F9"/>
                </a:solidFill>
                <a:latin typeface="Arial"/>
                <a:cs typeface="Arial"/>
              </a:rPr>
              <a:t>⬇  2. إدخال بيانات المعايرة والنتائج</a:t>
            </a:r>
          </a:p>
          <a:p>
            <a:pPr algn="r" rtl="1">
              <a:spcBef>
                <a:spcPts val="400"/>
              </a:spcBef>
            </a:pPr>
            <a:r>
              <a:rPr sz="1200" b="0" lang="ar-SA" altLang="en-US">
                <a:solidFill>
                  <a:srgbClr val="F1F5F9"/>
                </a:solidFill>
                <a:latin typeface="Arial"/>
                <a:cs typeface="Arial"/>
              </a:rPr>
              <a:t>⬇  3. إنشاء شهادة المعايرة</a:t>
            </a:r>
          </a:p>
          <a:p>
            <a:pPr algn="r" rtl="1">
              <a:spcBef>
                <a:spcPts val="400"/>
              </a:spcBef>
            </a:pPr>
            <a:r>
              <a:rPr sz="1200" b="0" lang="ar-SA" altLang="en-US">
                <a:solidFill>
                  <a:srgbClr val="F1F5F9"/>
                </a:solidFill>
                <a:latin typeface="Arial"/>
                <a:cs typeface="Arial"/>
              </a:rPr>
              <a:t>⬇  4. تسجيل الشهادة في قاعدة البيانات</a:t>
            </a:r>
          </a:p>
          <a:p>
            <a:pPr algn="r" rtl="1">
              <a:spcBef>
                <a:spcPts val="400"/>
              </a:spcBef>
            </a:pPr>
            <a:r>
              <a:rPr sz="1200" b="0" lang="ar-SA" altLang="en-US">
                <a:solidFill>
                  <a:srgbClr val="F1F5F9"/>
                </a:solidFill>
                <a:latin typeface="Arial"/>
                <a:cs typeface="Arial"/>
              </a:rPr>
              <a:t>⬇  5. أرشفة الشهادة</a:t>
            </a:r>
          </a:p>
          <a:p>
            <a:pPr algn="r" rtl="1">
              <a:spcBef>
                <a:spcPts val="400"/>
              </a:spcBef>
            </a:pPr>
            <a:r>
              <a:rPr sz="1200" b="0" lang="ar-SA" altLang="en-US">
                <a:solidFill>
                  <a:srgbClr val="F1F5F9"/>
                </a:solidFill>
                <a:latin typeface="Arial"/>
                <a:cs typeface="Arial"/>
              </a:rPr>
              <a:t>⬇  6. إنشاء QR Code</a:t>
            </a:r>
          </a:p>
          <a:p>
            <a:pPr algn="r" rtl="1">
              <a:spcBef>
                <a:spcPts val="400"/>
              </a:spcBef>
            </a:pPr>
            <a:r>
              <a:rPr sz="1200" b="0" lang="ar-SA" altLang="en-US">
                <a:solidFill>
                  <a:srgbClr val="F1F5F9"/>
                </a:solidFill>
                <a:latin typeface="Arial"/>
                <a:cs typeface="Arial"/>
              </a:rPr>
              <a:t>⬇  7. البحث والاسترجاع والتحقق</a:t>
            </a:r>
          </a:p>
        </p:txBody>
      </p:sp>
      <p:sp>
        <p:nvSpPr>
          <p:cNvPr id="7" name="Rounded Rectangle 6"/>
          <p:cNvSpPr/>
          <p:nvPr/>
        </p:nvSpPr>
        <p:spPr>
          <a:xfrm>
            <a:off x="731520" y="1417320"/>
            <a:ext cx="5212080" cy="3291840"/>
          </a:xfrm>
          <a:prstGeom prst="roundRect">
            <a:avLst/>
          </a:prstGeom>
          <a:solidFill>
            <a:srgbClr val="16263D"/>
          </a:solidFill>
          <a:ln w="19050">
            <a:solidFill>
              <a:srgbClr val="2D41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8" name="TextBox 7"/>
          <p:cNvSpPr txBox="1"/>
          <p:nvPr/>
        </p:nvSpPr>
        <p:spPr>
          <a:xfrm>
            <a:off x="914400" y="1508760"/>
            <a:ext cx="4846320" cy="3108960"/>
          </a:xfrm>
          <a:prstGeom prst="rect">
            <a:avLst/>
          </a:prstGeom>
          <a:noFill/>
        </p:spPr>
        <p:txBody>
          <a:bodyPr wrap="square" rtlCol="1">
            <a:spAutoFit/>
          </a:bodyPr>
          <a:lstStyle/>
          <a:p>
            <a:pPr algn="r" rtl="1"/>
            <a:r>
              <a:rPr sz="1400" b="1" lang="ar-SA" altLang="en-US">
                <a:solidFill>
                  <a:srgbClr val="D4AF37"/>
                </a:solidFill>
                <a:latin typeface="Arial"/>
                <a:cs typeface="Arial"/>
              </a:rPr>
              <a:t>أهم الوظائف المنجزة (7 وظائف رئيسية):</a:t>
            </a:r>
          </a:p>
          <a:p>
            <a:pPr algn="r" rtl="1">
              <a:spcBef>
                <a:spcPts val="200"/>
              </a:spcBef>
            </a:pPr>
            <a:r>
              <a:rPr sz="1100" b="0" lang="ar-SA" altLang="en-US">
                <a:solidFill>
                  <a:srgbClr val="F1F5F9"/>
                </a:solidFill>
                <a:latin typeface="Arial"/>
                <a:cs typeface="Arial"/>
              </a:rPr>
              <a:t>• إدارة بيانات الأجهزة.</a:t>
            </a:r>
          </a:p>
          <a:p>
            <a:pPr algn="r" rtl="1">
              <a:spcBef>
                <a:spcPts val="200"/>
              </a:spcBef>
            </a:pPr>
            <a:r>
              <a:rPr sz="1100" b="0" lang="ar-SA" altLang="en-US">
                <a:solidFill>
                  <a:srgbClr val="F1F5F9"/>
                </a:solidFill>
                <a:latin typeface="Arial"/>
                <a:cs typeface="Arial"/>
              </a:rPr>
              <a:t>• إدارة بيانات المعايرة.</a:t>
            </a:r>
          </a:p>
          <a:p>
            <a:pPr algn="r" rtl="1">
              <a:spcBef>
                <a:spcPts val="200"/>
              </a:spcBef>
            </a:pPr>
            <a:r>
              <a:rPr sz="1100" b="0" lang="ar-SA" altLang="en-US">
                <a:solidFill>
                  <a:srgbClr val="F1F5F9"/>
                </a:solidFill>
                <a:latin typeface="Arial"/>
                <a:cs typeface="Arial"/>
              </a:rPr>
              <a:t>• إصدار الشهادات.</a:t>
            </a:r>
          </a:p>
          <a:p>
            <a:pPr algn="r" rtl="1">
              <a:spcBef>
                <a:spcPts val="200"/>
              </a:spcBef>
            </a:pPr>
            <a:r>
              <a:rPr sz="1100" b="0" lang="ar-SA" altLang="en-US">
                <a:solidFill>
                  <a:srgbClr val="F1F5F9"/>
                </a:solidFill>
                <a:latin typeface="Arial"/>
                <a:cs typeface="Arial"/>
              </a:rPr>
              <a:t>• حفظ وأرشفة الشهادات.</a:t>
            </a:r>
          </a:p>
          <a:p>
            <a:pPr algn="r" rtl="1">
              <a:spcBef>
                <a:spcPts val="200"/>
              </a:spcBef>
            </a:pPr>
            <a:r>
              <a:rPr sz="1100" b="0" lang="ar-SA" altLang="en-US">
                <a:solidFill>
                  <a:srgbClr val="F1F5F9"/>
                </a:solidFill>
                <a:latin typeface="Arial"/>
                <a:cs typeface="Arial"/>
              </a:rPr>
              <a:t>• البحث والاسترجاع.</a:t>
            </a:r>
          </a:p>
          <a:p>
            <a:pPr algn="r" rtl="1">
              <a:spcBef>
                <a:spcPts val="200"/>
              </a:spcBef>
            </a:pPr>
            <a:r>
              <a:rPr sz="1100" b="0" lang="ar-SA" altLang="en-US">
                <a:solidFill>
                  <a:srgbClr val="F1F5F9"/>
                </a:solidFill>
                <a:latin typeface="Arial"/>
                <a:cs typeface="Arial"/>
              </a:rPr>
              <a:t>• إنشاء QR Code.</a:t>
            </a:r>
          </a:p>
          <a:p>
            <a:pPr algn="r" rtl="1">
              <a:spcBef>
                <a:spcPts val="200"/>
              </a:spcBef>
            </a:pPr>
            <a:r>
              <a:rPr sz="1100" b="0" lang="ar-SA" altLang="en-US">
                <a:solidFill>
                  <a:srgbClr val="F1F5F9"/>
                </a:solidFill>
                <a:latin typeface="Arial"/>
                <a:cs typeface="Arial"/>
              </a:rPr>
              <a:t>• تسهيل الوصول إلى بيانات الشهادة.</a:t>
            </a:r>
          </a:p>
        </p:txBody>
      </p:sp>
      <p:sp>
        <p:nvSpPr>
          <p:cNvPr id="9" name="Rounded Rectangle 8"/>
          <p:cNvSpPr/>
          <p:nvPr/>
        </p:nvSpPr>
        <p:spPr>
          <a:xfrm>
            <a:off x="731520" y="4846320"/>
            <a:ext cx="5212080" cy="1234440"/>
          </a:xfrm>
          <a:prstGeom prst="roundRect">
            <a:avLst/>
          </a:prstGeom>
          <a:solidFill>
            <a:srgbClr val="1E3050"/>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0" name="TextBox 9"/>
          <p:cNvSpPr txBox="1"/>
          <p:nvPr/>
        </p:nvSpPr>
        <p:spPr>
          <a:xfrm>
            <a:off x="914400" y="4983480"/>
            <a:ext cx="4846320" cy="960120"/>
          </a:xfrm>
          <a:prstGeom prst="rect">
            <a:avLst/>
          </a:prstGeom>
          <a:noFill/>
        </p:spPr>
        <p:txBody>
          <a:bodyPr wrap="square" rtlCol="1">
            <a:spAutoFit/>
          </a:bodyPr>
          <a:lstStyle/>
          <a:p>
            <a:pPr algn="r" rtl="1"/>
            <a:r>
              <a:rPr sz="1300" b="1" lang="ar-SA" altLang="en-US">
                <a:solidFill>
                  <a:srgbClr val="D4AF37"/>
                </a:solidFill>
                <a:latin typeface="Arial"/>
                <a:cs typeface="Arial"/>
              </a:rPr>
              <a:t>العرض البرمجي:</a:t>
            </a:r>
          </a:p>
          <a:p>
            <a:pPr algn="r" rtl="1">
              <a:spcBef>
                <a:spcPts val="200"/>
              </a:spcBef>
            </a:pPr>
            <a:r>
              <a:rPr sz="1200" b="1" lang="ar-SA" altLang="en-US">
                <a:solidFill>
                  <a:srgbClr val="F1F5F9"/>
                </a:solidFill>
                <a:latin typeface="Arial"/>
                <a:cs typeface="Arial"/>
              </a:rPr>
              <a:t>«يقوم إدريس بشرح واجهة المنظومة وقاعدة البيانات وآلية البرمجة والوظائف التي تم تطويرها»</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rIns="0" tIns="0" bIns="0" rtlCol="1">
            <a:spAutoFit/>
          </a:bodyPr>
          <a:lstStyle/>
          <a:p>
            <a:pPr algn="r" rtl="1"/>
            <a:r>
              <a:rPr sz="1100" b="1" lang="ar-SA" altLang="en-US">
                <a:solidFill>
                  <a:srgbClr val="D4AF37"/>
                </a:solidFill>
                <a:latin typeface="Arial"/>
                <a:cs typeface="Arial"/>
              </a:rPr>
              <a:t>الشريحة 11 — القيمة المضافة</a:t>
            </a:r>
          </a:p>
          <a:p>
            <a:pPr algn="r" rtl="1">
              <a:spcBef>
                <a:spcPts val="300"/>
              </a:spcBef>
            </a:pPr>
            <a:r>
              <a:rPr sz="2200" b="1" lang="ar-SA" altLang="en-US">
                <a:solidFill>
                  <a:srgbClr val="F1F5F9"/>
                </a:solidFill>
                <a:latin typeface="Arial"/>
                <a:cs typeface="Arial"/>
              </a:rPr>
              <a:t>CAL-QR: القيمة المضافة ونقلة التحول الرقمي</a:t>
            </a:r>
          </a:p>
        </p:txBody>
      </p:sp>
      <p:sp>
        <p:nvSpPr>
          <p:cNvPr id="3" name="Rectangle 2"/>
          <p:cNvSpPr/>
          <p:nvPr/>
        </p:nvSpPr>
        <p:spPr>
          <a:xfrm>
            <a:off x="731520" y="1207008"/>
            <a:ext cx="10728655" cy="18288"/>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4" name="TextBox 3"/>
          <p:cNvSpPr txBox="1"/>
          <p:nvPr/>
        </p:nvSpPr>
        <p:spPr>
          <a:xfrm>
            <a:off x="731520" y="6355080"/>
            <a:ext cx="10728655" cy="320040"/>
          </a:xfrm>
          <a:prstGeom prst="rect">
            <a:avLst/>
          </a:prstGeom>
          <a:noFill/>
        </p:spPr>
        <p:txBody>
          <a:bodyPr wrap="none" lIns="0" rIns="0" tIns="0" bIns="0" rtlCol="1">
            <a:spAutoFit/>
          </a:bodyPr>
          <a:lstStyle/>
          <a:p>
            <a:pPr algn="r" rtl="1"/>
            <a:r>
              <a:rPr sz="950" b="0" lang="ar-SA" altLang="en-US">
                <a:solidFill>
                  <a:srgbClr val="94A3B8"/>
                </a:solidFill>
                <a:latin typeface="Arial"/>
                <a:cs typeface="Arial"/>
              </a:rPr>
              <a:t>مؤسسة الطاقة الذرية  |  اجتماع اللجنة العلمية الدائمة لسنة 2026م  |  شريحة 11</a:t>
            </a:r>
          </a:p>
        </p:txBody>
      </p:sp>
      <p:sp>
        <p:nvSpPr>
          <p:cNvPr id="5" name="Rounded Rectangle 4"/>
          <p:cNvSpPr/>
          <p:nvPr/>
        </p:nvSpPr>
        <p:spPr>
          <a:xfrm>
            <a:off x="731520" y="1371600"/>
            <a:ext cx="10728655" cy="640080"/>
          </a:xfrm>
          <a:prstGeom prst="roundRect">
            <a:avLst/>
          </a:prstGeom>
          <a:solidFill>
            <a:srgbClr val="16263D"/>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6" name="TextBox 5"/>
          <p:cNvSpPr txBox="1"/>
          <p:nvPr/>
        </p:nvSpPr>
        <p:spPr>
          <a:xfrm>
            <a:off x="914400" y="1463040"/>
            <a:ext cx="10362895" cy="457200"/>
          </a:xfrm>
          <a:prstGeom prst="rect">
            <a:avLst/>
          </a:prstGeom>
          <a:noFill/>
        </p:spPr>
        <p:txBody>
          <a:bodyPr wrap="none" rtlCol="1">
            <a:spAutoFit/>
          </a:bodyPr>
          <a:lstStyle/>
          <a:p>
            <a:pPr algn="ctr" rtl="1"/>
            <a:r>
              <a:rPr sz="1350" b="1" lang="ar-SA" altLang="en-US">
                <a:solidFill>
                  <a:srgbClr val="F1F5F9"/>
                </a:solidFill>
                <a:latin typeface="Arial"/>
                <a:cs typeface="Arial"/>
              </a:rPr>
              <a:t>ماذا أضافت المنظومة؟ نقل إدارة شهادات المعايرة من الأسلوب التقليدي إلى أسلوب رقمي أكثر تنظيمًا وموثوقية.</a:t>
            </a:r>
          </a:p>
        </p:txBody>
      </p:sp>
      <p:sp>
        <p:nvSpPr>
          <p:cNvPr id="7" name="Rounded Rectangle 6"/>
          <p:cNvSpPr/>
          <p:nvPr/>
        </p:nvSpPr>
        <p:spPr>
          <a:xfrm>
            <a:off x="731520" y="2194560"/>
            <a:ext cx="10728655" cy="868680"/>
          </a:xfrm>
          <a:prstGeom prst="roundRect">
            <a:avLst/>
          </a:prstGeom>
          <a:solidFill>
            <a:srgbClr val="16263D"/>
          </a:solidFill>
          <a:ln w="19050">
            <a:solidFill>
              <a:srgbClr val="2D41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8" name="TextBox 7"/>
          <p:cNvSpPr txBox="1"/>
          <p:nvPr/>
        </p:nvSpPr>
        <p:spPr>
          <a:xfrm>
            <a:off x="6217920" y="2359152"/>
            <a:ext cx="4937760" cy="548640"/>
          </a:xfrm>
          <a:prstGeom prst="rect">
            <a:avLst/>
          </a:prstGeom>
          <a:noFill/>
        </p:spPr>
        <p:txBody>
          <a:bodyPr wrap="none" rtlCol="1">
            <a:spAutoFit/>
          </a:bodyPr>
          <a:lstStyle/>
          <a:p>
            <a:pPr algn="r" rtl="1"/>
            <a:r>
              <a:rPr sz="1300" b="0" lang="ar-SA" altLang="en-US">
                <a:solidFill>
                  <a:srgbClr val="F59E0B"/>
                </a:solidFill>
                <a:latin typeface="Arial"/>
                <a:cs typeface="Arial"/>
              </a:rPr>
              <a:t>❌  من: أرشفة تقليدية ورقية</a:t>
            </a:r>
          </a:p>
        </p:txBody>
      </p:sp>
      <p:sp>
        <p:nvSpPr>
          <p:cNvPr id="9" name="TextBox 8"/>
          <p:cNvSpPr txBox="1"/>
          <p:nvPr/>
        </p:nvSpPr>
        <p:spPr>
          <a:xfrm>
            <a:off x="5394960" y="2377440"/>
            <a:ext cx="731520" cy="457200"/>
          </a:xfrm>
          <a:prstGeom prst="rect">
            <a:avLst/>
          </a:prstGeom>
          <a:noFill/>
        </p:spPr>
        <p:txBody>
          <a:bodyPr wrap="none" rtlCol="1">
            <a:spAutoFit/>
          </a:bodyPr>
          <a:lstStyle/>
          <a:p>
            <a:pPr algn="ctr" rtl="1"/>
            <a:r>
              <a:rPr sz="1600" b="1" lang="ar-SA" altLang="en-US">
                <a:solidFill>
                  <a:srgbClr val="D4AF37"/>
                </a:solidFill>
                <a:latin typeface="Arial"/>
                <a:cs typeface="Arial"/>
              </a:rPr>
              <a:t>←</a:t>
            </a:r>
          </a:p>
        </p:txBody>
      </p:sp>
      <p:sp>
        <p:nvSpPr>
          <p:cNvPr id="10" name="TextBox 9"/>
          <p:cNvSpPr txBox="1"/>
          <p:nvPr/>
        </p:nvSpPr>
        <p:spPr>
          <a:xfrm>
            <a:off x="914400" y="2359152"/>
            <a:ext cx="4389120" cy="548640"/>
          </a:xfrm>
          <a:prstGeom prst="rect">
            <a:avLst/>
          </a:prstGeom>
          <a:noFill/>
        </p:spPr>
        <p:txBody>
          <a:bodyPr wrap="none" rtlCol="1">
            <a:spAutoFit/>
          </a:bodyPr>
          <a:lstStyle/>
          <a:p>
            <a:pPr algn="r" rtl="1"/>
            <a:r>
              <a:rPr sz="1300" b="1" lang="ar-SA" altLang="en-US">
                <a:solidFill>
                  <a:srgbClr val="10B981"/>
                </a:solidFill>
                <a:latin typeface="Arial"/>
                <a:cs typeface="Arial"/>
              </a:rPr>
              <a:t>✅  إلى: أرشفة إلكترونية رقمية آمنة ومحمية</a:t>
            </a:r>
          </a:p>
        </p:txBody>
      </p:sp>
      <p:sp>
        <p:nvSpPr>
          <p:cNvPr id="11" name="Rounded Rectangle 10"/>
          <p:cNvSpPr/>
          <p:nvPr/>
        </p:nvSpPr>
        <p:spPr>
          <a:xfrm>
            <a:off x="731520" y="3200400"/>
            <a:ext cx="10728655" cy="868680"/>
          </a:xfrm>
          <a:prstGeom prst="roundRect">
            <a:avLst/>
          </a:prstGeom>
          <a:solidFill>
            <a:srgbClr val="16263D"/>
          </a:solidFill>
          <a:ln w="19050">
            <a:solidFill>
              <a:srgbClr val="2D41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2" name="TextBox 11"/>
          <p:cNvSpPr txBox="1"/>
          <p:nvPr/>
        </p:nvSpPr>
        <p:spPr>
          <a:xfrm>
            <a:off x="6217920" y="3364992"/>
            <a:ext cx="4937760" cy="548640"/>
          </a:xfrm>
          <a:prstGeom prst="rect">
            <a:avLst/>
          </a:prstGeom>
          <a:noFill/>
        </p:spPr>
        <p:txBody>
          <a:bodyPr wrap="none" rtlCol="1">
            <a:spAutoFit/>
          </a:bodyPr>
          <a:lstStyle/>
          <a:p>
            <a:pPr algn="r" rtl="1"/>
            <a:r>
              <a:rPr sz="1300" b="0" lang="ar-SA" altLang="en-US">
                <a:solidFill>
                  <a:srgbClr val="F59E0B"/>
                </a:solidFill>
                <a:latin typeface="Arial"/>
                <a:cs typeface="Arial"/>
              </a:rPr>
              <a:t>❌  من: البحث اليدوي المتعب عن الشهادة</a:t>
            </a:r>
          </a:p>
        </p:txBody>
      </p:sp>
      <p:sp>
        <p:nvSpPr>
          <p:cNvPr id="13" name="TextBox 12"/>
          <p:cNvSpPr txBox="1"/>
          <p:nvPr/>
        </p:nvSpPr>
        <p:spPr>
          <a:xfrm>
            <a:off x="5394960" y="3383280"/>
            <a:ext cx="731520" cy="457200"/>
          </a:xfrm>
          <a:prstGeom prst="rect">
            <a:avLst/>
          </a:prstGeom>
          <a:noFill/>
        </p:spPr>
        <p:txBody>
          <a:bodyPr wrap="none" rtlCol="1">
            <a:spAutoFit/>
          </a:bodyPr>
          <a:lstStyle/>
          <a:p>
            <a:pPr algn="ctr" rtl="1"/>
            <a:r>
              <a:rPr sz="1600" b="1" lang="ar-SA" altLang="en-US">
                <a:solidFill>
                  <a:srgbClr val="D4AF37"/>
                </a:solidFill>
                <a:latin typeface="Arial"/>
                <a:cs typeface="Arial"/>
              </a:rPr>
              <a:t>←</a:t>
            </a:r>
          </a:p>
        </p:txBody>
      </p:sp>
      <p:sp>
        <p:nvSpPr>
          <p:cNvPr id="14" name="TextBox 13"/>
          <p:cNvSpPr txBox="1"/>
          <p:nvPr/>
        </p:nvSpPr>
        <p:spPr>
          <a:xfrm>
            <a:off x="914400" y="3364992"/>
            <a:ext cx="4389120" cy="548640"/>
          </a:xfrm>
          <a:prstGeom prst="rect">
            <a:avLst/>
          </a:prstGeom>
          <a:noFill/>
        </p:spPr>
        <p:txBody>
          <a:bodyPr wrap="none" rtlCol="1">
            <a:spAutoFit/>
          </a:bodyPr>
          <a:lstStyle/>
          <a:p>
            <a:pPr algn="r" rtl="1"/>
            <a:r>
              <a:rPr sz="1300" b="1" lang="ar-SA" altLang="en-US">
                <a:solidFill>
                  <a:srgbClr val="10B981"/>
                </a:solidFill>
                <a:latin typeface="Arial"/>
                <a:cs typeface="Arial"/>
              </a:rPr>
              <a:t>✅  إلى: البحث والاسترجاع الرقمي اللحظي</a:t>
            </a:r>
          </a:p>
        </p:txBody>
      </p:sp>
      <p:sp>
        <p:nvSpPr>
          <p:cNvPr id="15" name="Rounded Rectangle 14"/>
          <p:cNvSpPr/>
          <p:nvPr/>
        </p:nvSpPr>
        <p:spPr>
          <a:xfrm>
            <a:off x="731520" y="4206240"/>
            <a:ext cx="10728655" cy="868680"/>
          </a:xfrm>
          <a:prstGeom prst="roundRect">
            <a:avLst/>
          </a:prstGeom>
          <a:solidFill>
            <a:srgbClr val="16263D"/>
          </a:solidFill>
          <a:ln w="19050">
            <a:solidFill>
              <a:srgbClr val="2D41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16" name="TextBox 15"/>
          <p:cNvSpPr txBox="1"/>
          <p:nvPr/>
        </p:nvSpPr>
        <p:spPr>
          <a:xfrm>
            <a:off x="6217920" y="4370832"/>
            <a:ext cx="4937760" cy="548640"/>
          </a:xfrm>
          <a:prstGeom prst="rect">
            <a:avLst/>
          </a:prstGeom>
          <a:noFill/>
        </p:spPr>
        <p:txBody>
          <a:bodyPr wrap="none" rtlCol="1">
            <a:spAutoFit/>
          </a:bodyPr>
          <a:lstStyle/>
          <a:p>
            <a:pPr algn="r" rtl="1"/>
            <a:r>
              <a:rPr sz="1300" b="0" lang="ar-SA" altLang="en-US">
                <a:solidFill>
                  <a:srgbClr val="F59E0B"/>
                </a:solidFill>
                <a:latin typeface="Arial"/>
                <a:cs typeface="Arial"/>
              </a:rPr>
              <a:t>❌  من: شهادة منفصلة عن قاعدة البيانات</a:t>
            </a:r>
          </a:p>
        </p:txBody>
      </p:sp>
      <p:sp>
        <p:nvSpPr>
          <p:cNvPr id="17" name="TextBox 16"/>
          <p:cNvSpPr txBox="1"/>
          <p:nvPr/>
        </p:nvSpPr>
        <p:spPr>
          <a:xfrm>
            <a:off x="5394960" y="4389120"/>
            <a:ext cx="731520" cy="457200"/>
          </a:xfrm>
          <a:prstGeom prst="rect">
            <a:avLst/>
          </a:prstGeom>
          <a:noFill/>
        </p:spPr>
        <p:txBody>
          <a:bodyPr wrap="none" rtlCol="1">
            <a:spAutoFit/>
          </a:bodyPr>
          <a:lstStyle/>
          <a:p>
            <a:pPr algn="ctr" rtl="1"/>
            <a:r>
              <a:rPr sz="1600" b="1" lang="ar-SA" altLang="en-US">
                <a:solidFill>
                  <a:srgbClr val="D4AF37"/>
                </a:solidFill>
                <a:latin typeface="Arial"/>
                <a:cs typeface="Arial"/>
              </a:rPr>
              <a:t>←</a:t>
            </a:r>
          </a:p>
        </p:txBody>
      </p:sp>
      <p:sp>
        <p:nvSpPr>
          <p:cNvPr id="18" name="TextBox 17"/>
          <p:cNvSpPr txBox="1"/>
          <p:nvPr/>
        </p:nvSpPr>
        <p:spPr>
          <a:xfrm>
            <a:off x="914400" y="4370832"/>
            <a:ext cx="4389120" cy="548640"/>
          </a:xfrm>
          <a:prstGeom prst="rect">
            <a:avLst/>
          </a:prstGeom>
          <a:noFill/>
        </p:spPr>
        <p:txBody>
          <a:bodyPr wrap="none" rtlCol="1">
            <a:spAutoFit/>
          </a:bodyPr>
          <a:lstStyle/>
          <a:p>
            <a:pPr algn="r" rtl="1"/>
            <a:r>
              <a:rPr sz="1300" b="1" lang="ar-SA" altLang="en-US">
                <a:solidFill>
                  <a:srgbClr val="10B981"/>
                </a:solidFill>
                <a:latin typeface="Arial"/>
                <a:cs typeface="Arial"/>
              </a:rPr>
              <a:t>✅  إلى: شهادة مرتبطة ببياناتها داخل قاعدة البيانات</a:t>
            </a:r>
          </a:p>
        </p:txBody>
      </p:sp>
      <p:sp>
        <p:nvSpPr>
          <p:cNvPr id="19" name="Rounded Rectangle 18"/>
          <p:cNvSpPr/>
          <p:nvPr/>
        </p:nvSpPr>
        <p:spPr>
          <a:xfrm>
            <a:off x="731520" y="5212080"/>
            <a:ext cx="10728655" cy="868680"/>
          </a:xfrm>
          <a:prstGeom prst="roundRect">
            <a:avLst/>
          </a:prstGeom>
          <a:solidFill>
            <a:srgbClr val="16263D"/>
          </a:solidFill>
          <a:ln w="19050">
            <a:solidFill>
              <a:srgbClr val="2D41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20" name="TextBox 19"/>
          <p:cNvSpPr txBox="1"/>
          <p:nvPr/>
        </p:nvSpPr>
        <p:spPr>
          <a:xfrm>
            <a:off x="6217920" y="5376672"/>
            <a:ext cx="4937760" cy="548640"/>
          </a:xfrm>
          <a:prstGeom prst="rect">
            <a:avLst/>
          </a:prstGeom>
          <a:noFill/>
        </p:spPr>
        <p:txBody>
          <a:bodyPr wrap="none" rtlCol="1">
            <a:spAutoFit/>
          </a:bodyPr>
          <a:lstStyle/>
          <a:p>
            <a:pPr algn="r" rtl="1"/>
            <a:r>
              <a:rPr sz="1300" b="0" lang="ar-SA" altLang="en-US">
                <a:solidFill>
                  <a:srgbClr val="F59E0B"/>
                </a:solidFill>
                <a:latin typeface="Arial"/>
                <a:cs typeface="Arial"/>
              </a:rPr>
              <a:t>❌  من: الوصول التقليدي البطيء للوثيقة</a:t>
            </a:r>
          </a:p>
        </p:txBody>
      </p:sp>
      <p:sp>
        <p:nvSpPr>
          <p:cNvPr id="21" name="TextBox 20"/>
          <p:cNvSpPr txBox="1"/>
          <p:nvPr/>
        </p:nvSpPr>
        <p:spPr>
          <a:xfrm>
            <a:off x="5394960" y="5394960"/>
            <a:ext cx="731520" cy="457200"/>
          </a:xfrm>
          <a:prstGeom prst="rect">
            <a:avLst/>
          </a:prstGeom>
          <a:noFill/>
        </p:spPr>
        <p:txBody>
          <a:bodyPr wrap="none" rtlCol="1">
            <a:spAutoFit/>
          </a:bodyPr>
          <a:lstStyle/>
          <a:p>
            <a:pPr algn="ctr" rtl="1"/>
            <a:r>
              <a:rPr sz="1600" b="1" lang="ar-SA" altLang="en-US">
                <a:solidFill>
                  <a:srgbClr val="D4AF37"/>
                </a:solidFill>
                <a:latin typeface="Arial"/>
                <a:cs typeface="Arial"/>
              </a:rPr>
              <a:t>←</a:t>
            </a:r>
          </a:p>
        </p:txBody>
      </p:sp>
      <p:sp>
        <p:nvSpPr>
          <p:cNvPr id="22" name="TextBox 21"/>
          <p:cNvSpPr txBox="1"/>
          <p:nvPr/>
        </p:nvSpPr>
        <p:spPr>
          <a:xfrm>
            <a:off x="914400" y="5376672"/>
            <a:ext cx="4389120" cy="548640"/>
          </a:xfrm>
          <a:prstGeom prst="rect">
            <a:avLst/>
          </a:prstGeom>
          <a:noFill/>
        </p:spPr>
        <p:txBody>
          <a:bodyPr wrap="none" rtlCol="1">
            <a:spAutoFit/>
          </a:bodyPr>
          <a:lstStyle/>
          <a:p>
            <a:pPr algn="r" rtl="1"/>
            <a:r>
              <a:rPr sz="1300" b="1" lang="ar-SA" altLang="en-US">
                <a:solidFill>
                  <a:srgbClr val="10B981"/>
                </a:solidFill>
                <a:latin typeface="Arial"/>
                <a:cs typeface="Arial"/>
              </a:rPr>
              <a:t>✅  إلى: الوصول السريع والتحقق الفوري باستخدام QR Code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rIns="0" tIns="0" bIns="0" rtlCol="1">
            <a:spAutoFit/>
          </a:bodyPr>
          <a:lstStyle/>
          <a:p>
            <a:pPr algn="r" rtl="1"/>
            <a:r>
              <a:rPr sz="1100" b="1" lang="ar-SA" altLang="en-US">
                <a:solidFill>
                  <a:srgbClr val="D4AF37"/>
                </a:solidFill>
                <a:latin typeface="Arial"/>
                <a:cs typeface="Arial"/>
              </a:rPr>
              <a:t>الشريحة 12 — منظومة مصادر المشعة</a:t>
            </a:r>
          </a:p>
          <a:p>
            <a:pPr algn="r" rtl="1">
              <a:spcBef>
                <a:spcPts val="300"/>
              </a:spcBef>
            </a:pPr>
            <a:r>
              <a:rPr sz="2200" b="1" lang="ar-SA" altLang="en-US">
                <a:solidFill>
                  <a:srgbClr val="F1F5F9"/>
                </a:solidFill>
                <a:latin typeface="Arial"/>
                <a:cs typeface="Arial"/>
              </a:rPr>
              <a:t>منظومة مصادر المشعة: الرؤية والأهداف</a:t>
            </a:r>
          </a:p>
        </p:txBody>
      </p:sp>
      <p:sp>
        <p:nvSpPr>
          <p:cNvPr id="3" name="Rectangle 2"/>
          <p:cNvSpPr/>
          <p:nvPr/>
        </p:nvSpPr>
        <p:spPr>
          <a:xfrm>
            <a:off x="731520" y="1207008"/>
            <a:ext cx="10728655" cy="18288"/>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4" name="TextBox 3"/>
          <p:cNvSpPr txBox="1"/>
          <p:nvPr/>
        </p:nvSpPr>
        <p:spPr>
          <a:xfrm>
            <a:off x="731520" y="6355080"/>
            <a:ext cx="10728655" cy="320040"/>
          </a:xfrm>
          <a:prstGeom prst="rect">
            <a:avLst/>
          </a:prstGeom>
          <a:noFill/>
        </p:spPr>
        <p:txBody>
          <a:bodyPr wrap="none" lIns="0" rIns="0" tIns="0" bIns="0" rtlCol="1">
            <a:spAutoFit/>
          </a:bodyPr>
          <a:lstStyle/>
          <a:p>
            <a:pPr algn="r" rtl="1"/>
            <a:r>
              <a:rPr sz="950" b="0" lang="ar-SA" altLang="en-US">
                <a:solidFill>
                  <a:srgbClr val="94A3B8"/>
                </a:solidFill>
                <a:latin typeface="Arial"/>
                <a:cs typeface="Arial"/>
              </a:rPr>
              <a:t>مؤسسة الطاقة الذرية  |  اجتماع اللجنة العلمية الدائمة لسنة 2026م  |  شريحة 12</a:t>
            </a:r>
          </a:p>
        </p:txBody>
      </p:sp>
      <p:pic>
        <p:nvPicPr>
          <p:cNvPr id="5" name="Picture 4" descr="07_sources.png"/>
          <p:cNvPicPr>
            <a:picLocks noChangeAspect="1"/>
          </p:cNvPicPr>
          <p:nvPr/>
        </p:nvPicPr>
        <p:blipFill>
          <a:blip r:embed="rId2"/>
          <a:stretch>
            <a:fillRect/>
          </a:stretch>
        </p:blipFill>
        <p:spPr>
          <a:xfrm>
            <a:off x="914400" y="1417320"/>
            <a:ext cx="2926080" cy="2926080"/>
          </a:xfrm>
          <a:prstGeom prst="rect">
            <a:avLst/>
          </a:prstGeom>
        </p:spPr>
      </p:pic>
      <p:sp>
        <p:nvSpPr>
          <p:cNvPr id="6" name="TextBox 5"/>
          <p:cNvSpPr txBox="1"/>
          <p:nvPr/>
        </p:nvSpPr>
        <p:spPr>
          <a:xfrm>
            <a:off x="731520" y="4480560"/>
            <a:ext cx="3291840" cy="1645920"/>
          </a:xfrm>
          <a:prstGeom prst="rect">
            <a:avLst/>
          </a:prstGeom>
          <a:noFill/>
        </p:spPr>
        <p:txBody>
          <a:bodyPr wrap="square" rtlCol="1">
            <a:spAutoFit/>
          </a:bodyPr>
          <a:lstStyle/>
          <a:p>
            <a:pPr algn="r" rtl="1"/>
            <a:r>
              <a:rPr sz="1100" b="1" lang="ar-SA" altLang="en-US">
                <a:solidFill>
                  <a:srgbClr val="D4AF37"/>
                </a:solidFill>
                <a:latin typeface="Arial"/>
                <a:cs typeface="Arial"/>
              </a:rPr>
              <a:t>Radioactive Source Inventory &amp; Tracking System</a:t>
            </a:r>
          </a:p>
          <a:p>
            <a:pPr algn="r" rtl="1">
              <a:spcBef>
                <a:spcPts val="300"/>
              </a:spcBef>
            </a:pPr>
            <a:r>
              <a:rPr sz="1050" b="0" lang="ar-SA" altLang="en-US">
                <a:solidFill>
                  <a:srgbClr val="F1F5F9"/>
                </a:solidFill>
                <a:latin typeface="Arial"/>
                <a:cs typeface="Arial"/>
              </a:rPr>
              <a:t>مشروع رقمي مستقل: إلى جانب منظومة شهادات المعايرة، تم تطوير منظومة رقمية مستقلة لإدارة وحصر وتوثيق مصادر المشعة على مستوى مركز البحوث النووية – تاجوراء.</a:t>
            </a:r>
          </a:p>
        </p:txBody>
      </p:sp>
      <p:sp>
        <p:nvSpPr>
          <p:cNvPr id="7" name="Rounded Rectangle 6"/>
          <p:cNvSpPr/>
          <p:nvPr/>
        </p:nvSpPr>
        <p:spPr>
          <a:xfrm>
            <a:off x="4297680" y="1417320"/>
            <a:ext cx="7132320" cy="4663440"/>
          </a:xfrm>
          <a:prstGeom prst="roundRect">
            <a:avLst/>
          </a:prstGeom>
          <a:solidFill>
            <a:srgbClr val="16263D"/>
          </a:solidFill>
          <a:ln w="19050">
            <a:solidFill>
              <a:srgbClr val="2D41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8" name="TextBox 7"/>
          <p:cNvSpPr txBox="1"/>
          <p:nvPr/>
        </p:nvSpPr>
        <p:spPr>
          <a:xfrm>
            <a:off x="4480560" y="1600200"/>
            <a:ext cx="6766560" cy="4297680"/>
          </a:xfrm>
          <a:prstGeom prst="rect">
            <a:avLst/>
          </a:prstGeom>
          <a:noFill/>
        </p:spPr>
        <p:txBody>
          <a:bodyPr wrap="square" rtlCol="1">
            <a:spAutoFit/>
          </a:bodyPr>
          <a:lstStyle/>
          <a:p>
            <a:pPr algn="r" rtl="1"/>
            <a:r>
              <a:rPr sz="1600" b="1" lang="ar-SA" altLang="en-US">
                <a:solidFill>
                  <a:srgbClr val="D4AF37"/>
                </a:solidFill>
                <a:latin typeface="Arial"/>
                <a:cs typeface="Arial"/>
              </a:rPr>
              <a:t>أهداف منظومة مصادر المشعة:</a:t>
            </a:r>
          </a:p>
          <a:p>
            <a:pPr algn="r" rtl="1">
              <a:spcBef>
                <a:spcPts val="600"/>
              </a:spcBef>
            </a:pPr>
            <a:r>
              <a:rPr sz="1250" b="0" lang="ar-SA" altLang="en-US">
                <a:solidFill>
                  <a:srgbClr val="F1F5F9"/>
                </a:solidFill>
                <a:latin typeface="Arial"/>
                <a:cs typeface="Arial"/>
              </a:rPr>
              <a:t>🎯  حصر كافة مصادر المشعة بالمركز.</a:t>
            </a:r>
          </a:p>
          <a:p>
            <a:pPr algn="r" rtl="1">
              <a:spcBef>
                <a:spcPts val="600"/>
              </a:spcBef>
            </a:pPr>
            <a:r>
              <a:rPr sz="1250" b="0" lang="ar-SA" altLang="en-US">
                <a:solidFill>
                  <a:srgbClr val="F1F5F9"/>
                </a:solidFill>
                <a:latin typeface="Arial"/>
                <a:cs typeface="Arial"/>
              </a:rPr>
              <a:t>🎯  تسجيل بيانات ومواصفات كل مصدر بدقة.</a:t>
            </a:r>
          </a:p>
          <a:p>
            <a:pPr algn="r" rtl="1">
              <a:spcBef>
                <a:spcPts val="600"/>
              </a:spcBef>
            </a:pPr>
            <a:r>
              <a:rPr sz="1250" b="0" lang="ar-SA" altLang="en-US">
                <a:solidFill>
                  <a:srgbClr val="F1F5F9"/>
                </a:solidFill>
                <a:latin typeface="Arial"/>
                <a:cs typeface="Arial"/>
              </a:rPr>
              <a:t>🎯  تنظيم المعلومات داخل قاعدة بيانات محلية آمنة.</a:t>
            </a:r>
          </a:p>
          <a:p>
            <a:pPr algn="r" rtl="1">
              <a:spcBef>
                <a:spcPts val="600"/>
              </a:spcBef>
            </a:pPr>
            <a:r>
              <a:rPr sz="1250" b="0" lang="ar-SA" altLang="en-US">
                <a:solidFill>
                  <a:srgbClr val="F1F5F9"/>
                </a:solidFill>
                <a:latin typeface="Arial"/>
                <a:cs typeface="Arial"/>
              </a:rPr>
              <a:t>🎯  تسهيل وسرعة الوصول إلى البيانات التشغيلية.</a:t>
            </a:r>
          </a:p>
          <a:p>
            <a:pPr algn="r" rtl="1">
              <a:spcBef>
                <a:spcPts val="600"/>
              </a:spcBef>
            </a:pPr>
            <a:r>
              <a:rPr sz="1250" b="0" lang="ar-SA" altLang="en-US">
                <a:solidFill>
                  <a:srgbClr val="F1F5F9"/>
                </a:solidFill>
                <a:latin typeface="Arial"/>
                <a:cs typeface="Arial"/>
              </a:rPr>
              <a:t>🎯  توثيق بيانات المصادر وتاريخ حركتها.</a:t>
            </a:r>
          </a:p>
          <a:p>
            <a:pPr algn="r" rtl="1">
              <a:spcBef>
                <a:spcPts val="600"/>
              </a:spcBef>
            </a:pPr>
            <a:r>
              <a:rPr sz="1250" b="0" lang="ar-SA" altLang="en-US">
                <a:solidFill>
                  <a:srgbClr val="F1F5F9"/>
                </a:solidFill>
                <a:latin typeface="Arial"/>
                <a:cs typeface="Arial"/>
              </a:rPr>
              <a:t>🎯  دعم المتابعة الفنية والإدارية والأمان الإشعاعي.</a:t>
            </a:r>
          </a:p>
          <a:p>
            <a:pPr algn="r" rtl="1">
              <a:spcBef>
                <a:spcPts val="600"/>
              </a:spcBef>
            </a:pPr>
            <a:r>
              <a:rPr sz="1250" b="0" lang="ar-SA" altLang="en-US">
                <a:solidFill>
                  <a:srgbClr val="F1F5F9"/>
                </a:solidFill>
                <a:latin typeface="Arial"/>
                <a:cs typeface="Arial"/>
              </a:rPr>
              <a:t>🎯  تحسين إدارة السجلات والمعلومات والجاهزية الرقابية.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lIns="0" rIns="0" tIns="0" bIns="0" rtlCol="1">
            <a:spAutoFit/>
          </a:bodyPr>
          <a:lstStyle/>
          <a:p>
            <a:pPr algn="r" rtl="1"/>
            <a:r>
              <a:rPr sz="1100" b="1" lang="ar-SA" altLang="en-US">
                <a:solidFill>
                  <a:srgbClr val="D4AF37"/>
                </a:solidFill>
                <a:latin typeface="Arial"/>
                <a:cs typeface="Arial"/>
              </a:rPr>
              <a:t>الشريحة 13 — البرمجة والوظائف</a:t>
            </a:r>
          </a:p>
          <a:p>
            <a:pPr algn="r" rtl="1">
              <a:spcBef>
                <a:spcPts val="300"/>
              </a:spcBef>
            </a:pPr>
            <a:r>
              <a:rPr sz="2200" b="1" lang="ar-SA" altLang="en-US">
                <a:solidFill>
                  <a:srgbClr val="F1F5F9"/>
                </a:solidFill>
                <a:latin typeface="Arial"/>
                <a:cs typeface="Arial"/>
              </a:rPr>
              <a:t>منظومة مصادر المشعة: البرمجة والوظائف ومسار العمل</a:t>
            </a:r>
          </a:p>
        </p:txBody>
      </p:sp>
      <p:sp>
        <p:nvSpPr>
          <p:cNvPr id="3" name="Rectangle 2"/>
          <p:cNvSpPr/>
          <p:nvPr/>
        </p:nvSpPr>
        <p:spPr>
          <a:xfrm>
            <a:off x="731520" y="1207008"/>
            <a:ext cx="10728655" cy="18288"/>
          </a:xfrm>
          <a:prstGeom prst="rect">
            <a:avLst/>
          </a:prstGeom>
          <a:solidFill>
            <a:srgbClr val="D4AF37"/>
          </a:solidFill>
          <a:ln>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4" name="TextBox 3"/>
          <p:cNvSpPr txBox="1"/>
          <p:nvPr/>
        </p:nvSpPr>
        <p:spPr>
          <a:xfrm>
            <a:off x="731520" y="6355080"/>
            <a:ext cx="10728655" cy="320040"/>
          </a:xfrm>
          <a:prstGeom prst="rect">
            <a:avLst/>
          </a:prstGeom>
          <a:noFill/>
        </p:spPr>
        <p:txBody>
          <a:bodyPr wrap="none" lIns="0" rIns="0" tIns="0" bIns="0" rtlCol="1">
            <a:spAutoFit/>
          </a:bodyPr>
          <a:lstStyle/>
          <a:p>
            <a:pPr algn="r" rtl="1"/>
            <a:r>
              <a:rPr sz="950" b="0" lang="ar-SA" altLang="en-US">
                <a:solidFill>
                  <a:srgbClr val="94A3B8"/>
                </a:solidFill>
                <a:latin typeface="Arial"/>
                <a:cs typeface="Arial"/>
              </a:rPr>
              <a:t>مؤسسة الطاقة الذرية  |  اجتماع اللجنة العلمية الدائمة لسنة 2026م  |  شريحة 13</a:t>
            </a:r>
          </a:p>
        </p:txBody>
      </p:sp>
      <p:sp>
        <p:nvSpPr>
          <p:cNvPr id="5" name="Rounded Rectangle 4"/>
          <p:cNvSpPr/>
          <p:nvPr/>
        </p:nvSpPr>
        <p:spPr>
          <a:xfrm>
            <a:off x="5303520" y="1417320"/>
            <a:ext cx="6126480" cy="4663440"/>
          </a:xfrm>
          <a:prstGeom prst="roundRect">
            <a:avLst/>
          </a:prstGeom>
          <a:solidFill>
            <a:srgbClr val="16263D"/>
          </a:solidFill>
          <a:ln w="19050">
            <a:solidFill>
              <a:srgbClr val="2D41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6" name="TextBox 5"/>
          <p:cNvSpPr txBox="1"/>
          <p:nvPr/>
        </p:nvSpPr>
        <p:spPr>
          <a:xfrm>
            <a:off x="5486400" y="1554480"/>
            <a:ext cx="5760720" cy="4389120"/>
          </a:xfrm>
          <a:prstGeom prst="rect">
            <a:avLst/>
          </a:prstGeom>
          <a:noFill/>
        </p:spPr>
        <p:txBody>
          <a:bodyPr wrap="square" rtlCol="1">
            <a:spAutoFit/>
          </a:bodyPr>
          <a:lstStyle/>
          <a:p>
            <a:pPr algn="r" rtl="1"/>
            <a:r>
              <a:rPr sz="1350" b="1" lang="ar-SA" altLang="en-US">
                <a:solidFill>
                  <a:srgbClr val="D4AF37"/>
                </a:solidFill>
                <a:latin typeface="Arial"/>
                <a:cs typeface="Arial"/>
              </a:rPr>
              <a:t>الجانب العلمي والفني (تم تحديد):</a:t>
            </a:r>
          </a:p>
          <a:p>
            <a:pPr algn="r" rtl="1">
              <a:spcBef>
                <a:spcPts val="200"/>
              </a:spcBef>
            </a:pPr>
            <a:r>
              <a:rPr sz="1100" b="0" lang="ar-SA" altLang="en-US">
                <a:solidFill>
                  <a:srgbClr val="F1F5F9"/>
                </a:solidFill>
                <a:latin typeface="Arial"/>
                <a:cs typeface="Arial"/>
              </a:rPr>
              <a:t>• البيانات المطلوب تسجيلها.</a:t>
            </a:r>
          </a:p>
          <a:p>
            <a:pPr algn="r" rtl="1">
              <a:spcBef>
                <a:spcPts val="200"/>
              </a:spcBef>
            </a:pPr>
            <a:r>
              <a:rPr sz="1100" b="0" lang="ar-SA" altLang="en-US">
                <a:solidFill>
                  <a:srgbClr val="F1F5F9"/>
                </a:solidFill>
                <a:latin typeface="Arial"/>
                <a:cs typeface="Arial"/>
              </a:rPr>
              <a:t>• المعلومات الخاصة بكل مصدر.</a:t>
            </a:r>
          </a:p>
          <a:p>
            <a:pPr algn="r" rtl="1">
              <a:spcBef>
                <a:spcPts val="200"/>
              </a:spcBef>
            </a:pPr>
            <a:r>
              <a:rPr sz="1100" b="0" lang="ar-SA" altLang="en-US">
                <a:solidFill>
                  <a:srgbClr val="F1F5F9"/>
                </a:solidFill>
                <a:latin typeface="Arial"/>
                <a:cs typeface="Arial"/>
              </a:rPr>
              <a:t>• المتطلبات الفنية.</a:t>
            </a:r>
          </a:p>
          <a:p>
            <a:pPr algn="r" rtl="1">
              <a:spcBef>
                <a:spcPts val="200"/>
              </a:spcBef>
            </a:pPr>
            <a:r>
              <a:rPr sz="1100" b="0" lang="ar-SA" altLang="en-US">
                <a:solidFill>
                  <a:srgbClr val="F1F5F9"/>
                </a:solidFill>
                <a:latin typeface="Arial"/>
                <a:cs typeface="Arial"/>
              </a:rPr>
              <a:t>• آلية تنظيم البيانات.</a:t>
            </a:r>
          </a:p>
          <a:p>
            <a:pPr algn="r" rtl="1">
              <a:spcBef>
                <a:spcPts val="200"/>
              </a:spcBef>
            </a:pPr>
            <a:r>
              <a:rPr sz="1100" b="0" lang="ar-SA" altLang="en-US">
                <a:solidFill>
                  <a:srgbClr val="F1F5F9"/>
                </a:solidFill>
                <a:latin typeface="Arial"/>
                <a:cs typeface="Arial"/>
              </a:rPr>
              <a:t>• احتياجات المتابعة والتوثيق.</a:t>
            </a:r>
          </a:p>
          <a:p>
            <a:pPr algn="r" rtl="1">
              <a:spcBef>
                <a:spcPts val="600"/>
              </a:spcBef>
            </a:pPr>
            <a:r>
              <a:rPr sz="1300" b="1" lang="ar-SA" altLang="en-US">
                <a:solidFill>
                  <a:srgbClr val="D4AF37"/>
                </a:solidFill>
                <a:latin typeface="Arial"/>
                <a:cs typeface="Arial"/>
              </a:rPr>
              <a:t>الجانب البرمجي (دور إدريس - تحويل المتطلبات إلى منظومة رقمية من خلال):</a:t>
            </a:r>
          </a:p>
          <a:p>
            <a:pPr algn="r" rtl="1">
              <a:spcBef>
                <a:spcPts val="200"/>
              </a:spcBef>
            </a:pPr>
            <a:r>
              <a:rPr sz="1100" b="0" lang="ar-SA" altLang="en-US">
                <a:solidFill>
                  <a:srgbClr val="F1F5F9"/>
                </a:solidFill>
                <a:latin typeface="Arial"/>
                <a:cs typeface="Arial"/>
              </a:rPr>
              <a:t>✔ تصميم قاعدة البيانات.</a:t>
            </a:r>
          </a:p>
          <a:p>
            <a:pPr algn="r" rtl="1">
              <a:spcBef>
                <a:spcPts val="200"/>
              </a:spcBef>
            </a:pPr>
            <a:r>
              <a:rPr sz="1100" b="0" lang="ar-SA" altLang="en-US">
                <a:solidFill>
                  <a:srgbClr val="F1F5F9"/>
                </a:solidFill>
                <a:latin typeface="Arial"/>
                <a:cs typeface="Arial"/>
              </a:rPr>
              <a:t>✔ إنشاء واجهة المستخدم.</a:t>
            </a:r>
          </a:p>
          <a:p>
            <a:pPr algn="r" rtl="1">
              <a:spcBef>
                <a:spcPts val="200"/>
              </a:spcBef>
            </a:pPr>
            <a:r>
              <a:rPr sz="1100" b="0" lang="ar-SA" altLang="en-US">
                <a:solidFill>
                  <a:srgbClr val="F1F5F9"/>
                </a:solidFill>
                <a:latin typeface="Arial"/>
                <a:cs typeface="Arial"/>
              </a:rPr>
              <a:t>✔ إدخال وتحديث بيانات المصادر.</a:t>
            </a:r>
          </a:p>
          <a:p>
            <a:pPr algn="r" rtl="1">
              <a:spcBef>
                <a:spcPts val="200"/>
              </a:spcBef>
            </a:pPr>
            <a:r>
              <a:rPr sz="1100" b="0" lang="ar-SA" altLang="en-US">
                <a:solidFill>
                  <a:srgbClr val="F1F5F9"/>
                </a:solidFill>
                <a:latin typeface="Arial"/>
                <a:cs typeface="Arial"/>
              </a:rPr>
              <a:t>✔ البحث والاسترجاع.</a:t>
            </a:r>
          </a:p>
          <a:p>
            <a:pPr algn="r" rtl="1">
              <a:spcBef>
                <a:spcPts val="200"/>
              </a:spcBef>
            </a:pPr>
            <a:r>
              <a:rPr sz="1100" b="0" lang="ar-SA" altLang="en-US">
                <a:solidFill>
                  <a:srgbClr val="F1F5F9"/>
                </a:solidFill>
                <a:latin typeface="Arial"/>
                <a:cs typeface="Arial"/>
              </a:rPr>
              <a:t>✔ تنظيم البيانات.</a:t>
            </a:r>
          </a:p>
          <a:p>
            <a:pPr algn="r" rtl="1">
              <a:spcBef>
                <a:spcPts val="200"/>
              </a:spcBef>
            </a:pPr>
            <a:r>
              <a:rPr sz="1100" b="0" lang="ar-SA" altLang="en-US">
                <a:solidFill>
                  <a:srgbClr val="F1F5F9"/>
                </a:solidFill>
                <a:latin typeface="Arial"/>
                <a:cs typeface="Arial"/>
              </a:rPr>
              <a:t>✔ تطوير وظائف المتابعة والتوثيق.</a:t>
            </a:r>
          </a:p>
        </p:txBody>
      </p:sp>
      <p:sp>
        <p:nvSpPr>
          <p:cNvPr id="7" name="Rounded Rectangle 6"/>
          <p:cNvSpPr/>
          <p:nvPr/>
        </p:nvSpPr>
        <p:spPr>
          <a:xfrm>
            <a:off x="731520" y="1417320"/>
            <a:ext cx="4297680" cy="4663440"/>
          </a:xfrm>
          <a:prstGeom prst="roundRect">
            <a:avLst/>
          </a:prstGeom>
          <a:solidFill>
            <a:srgbClr val="1E3050"/>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8" name="TextBox 7"/>
          <p:cNvSpPr txBox="1"/>
          <p:nvPr/>
        </p:nvSpPr>
        <p:spPr>
          <a:xfrm>
            <a:off x="914400" y="1600200"/>
            <a:ext cx="3931920" cy="4297680"/>
          </a:xfrm>
          <a:prstGeom prst="rect">
            <a:avLst/>
          </a:prstGeom>
          <a:noFill/>
        </p:spPr>
        <p:txBody>
          <a:bodyPr wrap="square" rtlCol="1">
            <a:spAutoFit/>
          </a:bodyPr>
          <a:lstStyle/>
          <a:p>
            <a:pPr algn="r" rtl="1"/>
            <a:r>
              <a:rPr sz="1500" b="1" lang="ar-SA" altLang="en-US">
                <a:solidFill>
                  <a:srgbClr val="D4AF37"/>
                </a:solidFill>
                <a:latin typeface="Arial"/>
                <a:cs typeface="Arial"/>
              </a:rPr>
              <a:t>مسار العمل (Workflow):</a:t>
            </a:r>
          </a:p>
          <a:p>
            <a:pPr algn="r" rtl="1">
              <a:spcBef>
                <a:spcPts val="600"/>
              </a:spcBef>
            </a:pPr>
            <a:r>
              <a:rPr sz="1250" b="1" lang="ar-SA" altLang="en-US">
                <a:solidFill>
                  <a:srgbClr val="F1F5F9"/>
                </a:solidFill>
                <a:latin typeface="Arial"/>
                <a:cs typeface="Arial"/>
              </a:rPr>
              <a:t>1. إدخال بيانات المصدر</a:t>
            </a:r>
          </a:p>
          <a:p>
            <a:pPr algn="ctr" rtl="1">
              <a:spcBef>
                <a:spcPts val="200"/>
              </a:spcBef>
            </a:pPr>
            <a:r>
              <a:rPr sz="1300" b="0" lang="ar-SA" altLang="en-US">
                <a:solidFill>
                  <a:srgbClr val="D4AF37"/>
                </a:solidFill>
                <a:latin typeface="Arial"/>
                <a:cs typeface="Arial"/>
              </a:rPr>
              <a:t>⬇</a:t>
            </a:r>
          </a:p>
          <a:p>
            <a:pPr algn="r" rtl="1">
              <a:spcBef>
                <a:spcPts val="600"/>
              </a:spcBef>
            </a:pPr>
            <a:r>
              <a:rPr sz="1250" b="1" lang="ar-SA" altLang="en-US">
                <a:solidFill>
                  <a:srgbClr val="F1F5F9"/>
                </a:solidFill>
                <a:latin typeface="Arial"/>
                <a:cs typeface="Arial"/>
              </a:rPr>
              <a:t>2. تسجيل المصدر</a:t>
            </a:r>
          </a:p>
          <a:p>
            <a:pPr algn="ctr" rtl="1">
              <a:spcBef>
                <a:spcPts val="200"/>
              </a:spcBef>
            </a:pPr>
            <a:r>
              <a:rPr sz="1300" b="0" lang="ar-SA" altLang="en-US">
                <a:solidFill>
                  <a:srgbClr val="D4AF37"/>
                </a:solidFill>
                <a:latin typeface="Arial"/>
                <a:cs typeface="Arial"/>
              </a:rPr>
              <a:t>⬇</a:t>
            </a:r>
          </a:p>
          <a:p>
            <a:pPr algn="r" rtl="1">
              <a:spcBef>
                <a:spcPts val="600"/>
              </a:spcBef>
            </a:pPr>
            <a:r>
              <a:rPr sz="1250" b="1" lang="ar-SA" altLang="en-US">
                <a:solidFill>
                  <a:srgbClr val="F1F5F9"/>
                </a:solidFill>
                <a:latin typeface="Arial"/>
                <a:cs typeface="Arial"/>
              </a:rPr>
              <a:t>3. حفظ البيانات</a:t>
            </a:r>
          </a:p>
          <a:p>
            <a:pPr algn="ctr" rtl="1">
              <a:spcBef>
                <a:spcPts val="200"/>
              </a:spcBef>
            </a:pPr>
            <a:r>
              <a:rPr sz="1300" b="0" lang="ar-SA" altLang="en-US">
                <a:solidFill>
                  <a:srgbClr val="D4AF37"/>
                </a:solidFill>
                <a:latin typeface="Arial"/>
                <a:cs typeface="Arial"/>
              </a:rPr>
              <a:t>⬇</a:t>
            </a:r>
          </a:p>
          <a:p>
            <a:pPr algn="r" rtl="1">
              <a:spcBef>
                <a:spcPts val="600"/>
              </a:spcBef>
            </a:pPr>
            <a:r>
              <a:rPr sz="1250" b="1" lang="ar-SA" altLang="en-US">
                <a:solidFill>
                  <a:srgbClr val="F1F5F9"/>
                </a:solidFill>
                <a:latin typeface="Arial"/>
                <a:cs typeface="Arial"/>
              </a:rPr>
              <a:t>4. تحديث ومتابعة البيانات</a:t>
            </a:r>
          </a:p>
          <a:p>
            <a:pPr algn="ctr" rtl="1">
              <a:spcBef>
                <a:spcPts val="200"/>
              </a:spcBef>
            </a:pPr>
            <a:r>
              <a:rPr sz="1300" b="0" lang="ar-SA" altLang="en-US">
                <a:solidFill>
                  <a:srgbClr val="D4AF37"/>
                </a:solidFill>
                <a:latin typeface="Arial"/>
                <a:cs typeface="Arial"/>
              </a:rPr>
              <a:t>⬇</a:t>
            </a:r>
          </a:p>
          <a:p>
            <a:pPr algn="r" rtl="1">
              <a:spcBef>
                <a:spcPts val="600"/>
              </a:spcBef>
            </a:pPr>
            <a:r>
              <a:rPr sz="1250" b="1" lang="ar-SA" altLang="en-US">
                <a:solidFill>
                  <a:srgbClr val="F1F5F9"/>
                </a:solidFill>
                <a:latin typeface="Arial"/>
                <a:cs typeface="Arial"/>
              </a:rPr>
              <a:t>5. البحث والاسترجاع</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92C"/>
        </a:solidFill>
        <a:effectLst/>
      </p:bgPr>
    </p:bg>
    <p:spTree>
      <p:nvGrpSpPr>
        <p:cNvPr id="1" name=""/>
        <p:cNvGrpSpPr/>
        <p:nvPr/>
      </p:nvGrpSpPr>
      <p:grpSpPr/>
      <p:sp>
        <p:nvSpPr>
          <p:cNvPr id="2" name="Rounded Rectangle 1"/>
          <p:cNvSpPr/>
          <p:nvPr/>
        </p:nvSpPr>
        <p:spPr>
          <a:xfrm>
            <a:off x="457200" y="457200"/>
            <a:ext cx="11277295" cy="5943600"/>
          </a:xfrm>
          <a:prstGeom prst="roundRect">
            <a:avLst/>
          </a:prstGeom>
          <a:solidFill>
            <a:srgbClr val="0B192C"/>
          </a:solidFill>
          <a:ln w="19050">
            <a:solidFill>
              <a:srgbClr val="D4AF37"/>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3" name="TextBox 2"/>
          <p:cNvSpPr txBox="1"/>
          <p:nvPr/>
        </p:nvSpPr>
        <p:spPr>
          <a:xfrm>
            <a:off x="914400" y="731520"/>
            <a:ext cx="10362895" cy="731520"/>
          </a:xfrm>
          <a:prstGeom prst="rect">
            <a:avLst/>
          </a:prstGeom>
          <a:noFill/>
        </p:spPr>
        <p:txBody>
          <a:bodyPr wrap="none" rtlCol="1">
            <a:spAutoFit/>
          </a:bodyPr>
          <a:lstStyle/>
          <a:p>
            <a:pPr algn="ctr" rtl="1"/>
            <a:r>
              <a:rPr sz="2300" b="1" lang="ar-SA" altLang="en-US">
                <a:solidFill>
                  <a:srgbClr val="F1F5F9"/>
                </a:solidFill>
                <a:latin typeface="Arial"/>
                <a:cs typeface="Arial"/>
              </a:rPr>
              <a:t>الشريحة 14 — الخلاصة والتوجهات المستقبلية</a:t>
            </a:r>
          </a:p>
        </p:txBody>
      </p:sp>
      <p:sp>
        <p:nvSpPr>
          <p:cNvPr id="4" name="Rounded Rectangle 3"/>
          <p:cNvSpPr/>
          <p:nvPr/>
        </p:nvSpPr>
        <p:spPr>
          <a:xfrm>
            <a:off x="6035040" y="1508760"/>
            <a:ext cx="5394960" cy="3931920"/>
          </a:xfrm>
          <a:prstGeom prst="roundRect">
            <a:avLst/>
          </a:prstGeom>
          <a:solidFill>
            <a:srgbClr val="16263D"/>
          </a:solidFill>
          <a:ln w="19050">
            <a:solidFill>
              <a:srgbClr val="2D41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5" name="TextBox 4"/>
          <p:cNvSpPr txBox="1"/>
          <p:nvPr/>
        </p:nvSpPr>
        <p:spPr>
          <a:xfrm>
            <a:off x="6217920" y="1645920"/>
            <a:ext cx="5029200" cy="3657600"/>
          </a:xfrm>
          <a:prstGeom prst="rect">
            <a:avLst/>
          </a:prstGeom>
          <a:noFill/>
        </p:spPr>
        <p:txBody>
          <a:bodyPr wrap="square" rtlCol="1">
            <a:spAutoFit/>
          </a:bodyPr>
          <a:lstStyle/>
          <a:p>
            <a:pPr algn="r" rtl="1"/>
            <a:r>
              <a:rPr sz="1500" b="1" lang="ar-SA" altLang="en-US">
                <a:solidFill>
                  <a:srgbClr val="D4AF37"/>
                </a:solidFill>
                <a:latin typeface="Arial"/>
                <a:cs typeface="Arial"/>
              </a:rPr>
              <a:t>أهم ما تم تطويره:</a:t>
            </a:r>
          </a:p>
          <a:p>
            <a:pPr algn="r" rtl="1">
              <a:spcBef>
                <a:spcPts val="400"/>
              </a:spcBef>
            </a:pPr>
            <a:r>
              <a:rPr sz="1200" b="1" lang="ar-SA" altLang="en-US">
                <a:solidFill>
                  <a:srgbClr val="F1F5F9"/>
                </a:solidFill>
                <a:latin typeface="Arial"/>
                <a:cs typeface="Arial"/>
              </a:rPr>
              <a:t>1. تطوير شهادات المعايرة</a:t>
            </a:r>
          </a:p>
          <a:p>
            <a:pPr algn="r" rtl="1">
              <a:spcBef>
                <a:spcPts val="100"/>
              </a:spcBef>
            </a:pPr>
            <a:r>
              <a:rPr sz="1050" b="0" lang="ar-SA" altLang="en-US">
                <a:solidFill>
                  <a:srgbClr val="CBD5E1"/>
                </a:solidFill>
                <a:latin typeface="Arial"/>
                <a:cs typeface="Arial"/>
              </a:rPr>
              <a:t>   علميًا وفنيًا وفق متطلبات ISO/IEC 17025:2017.</a:t>
            </a:r>
          </a:p>
          <a:p>
            <a:pPr algn="r" rtl="1">
              <a:spcBef>
                <a:spcPts val="400"/>
              </a:spcBef>
            </a:pPr>
            <a:r>
              <a:rPr sz="1200" b="1" lang="ar-SA" altLang="en-US">
                <a:solidFill>
                  <a:srgbClr val="F1F5F9"/>
                </a:solidFill>
                <a:latin typeface="Arial"/>
                <a:cs typeface="Arial"/>
              </a:rPr>
              <a:t>2. إعادة تفعيل وتطوير معايرة العلاج الإشعاعي</a:t>
            </a:r>
          </a:p>
          <a:p>
            <a:pPr algn="r" rtl="1">
              <a:spcBef>
                <a:spcPts val="100"/>
              </a:spcBef>
            </a:pPr>
            <a:r>
              <a:rPr sz="1050" b="0" lang="ar-SA" altLang="en-US">
                <a:solidFill>
                  <a:srgbClr val="CBD5E1"/>
                </a:solidFill>
                <a:latin typeface="Arial"/>
                <a:cs typeface="Arial"/>
              </a:rPr>
              <a:t>   بعد توفير غرفة التأين المرجعية Farmer Chamber.</a:t>
            </a:r>
          </a:p>
          <a:p>
            <a:pPr algn="r" rtl="1">
              <a:spcBef>
                <a:spcPts val="400"/>
              </a:spcBef>
            </a:pPr>
            <a:r>
              <a:rPr sz="1200" b="1" lang="ar-SA" altLang="en-US">
                <a:solidFill>
                  <a:srgbClr val="F1F5F9"/>
                </a:solidFill>
                <a:latin typeface="Arial"/>
                <a:cs typeface="Arial"/>
              </a:rPr>
              <a:t>3. تطوير منظومة CAL-QR</a:t>
            </a:r>
          </a:p>
          <a:p>
            <a:pPr algn="r" rtl="1">
              <a:spcBef>
                <a:spcPts val="100"/>
              </a:spcBef>
            </a:pPr>
            <a:r>
              <a:rPr sz="1050" b="0" lang="ar-SA" altLang="en-US">
                <a:solidFill>
                  <a:srgbClr val="CBD5E1"/>
                </a:solidFill>
                <a:latin typeface="Arial"/>
                <a:cs typeface="Arial"/>
              </a:rPr>
              <a:t>   لإصدار وحفظ وأرشفة شهادات المعايرة ودعمها بـ QR Code.</a:t>
            </a:r>
          </a:p>
          <a:p>
            <a:pPr algn="r" rtl="1">
              <a:spcBef>
                <a:spcPts val="400"/>
              </a:spcBef>
            </a:pPr>
            <a:r>
              <a:rPr sz="1200" b="1" lang="ar-SA" altLang="en-US">
                <a:solidFill>
                  <a:srgbClr val="F1F5F9"/>
                </a:solidFill>
                <a:latin typeface="Arial"/>
                <a:cs typeface="Arial"/>
              </a:rPr>
              <a:t>4. تطوير منظومة مصادر المشعة</a:t>
            </a:r>
          </a:p>
          <a:p>
            <a:pPr algn="r" rtl="1">
              <a:spcBef>
                <a:spcPts val="100"/>
              </a:spcBef>
            </a:pPr>
            <a:r>
              <a:rPr sz="1050" b="0" lang="ar-SA" altLang="en-US">
                <a:solidFill>
                  <a:srgbClr val="CBD5E1"/>
                </a:solidFill>
                <a:latin typeface="Arial"/>
                <a:cs typeface="Arial"/>
              </a:rPr>
              <a:t>   لحصر وتنظيم وتوثيق بيانات المصادر رقمياً.</a:t>
            </a:r>
          </a:p>
        </p:txBody>
      </p:sp>
      <p:sp>
        <p:nvSpPr>
          <p:cNvPr id="6" name="Rounded Rectangle 5"/>
          <p:cNvSpPr/>
          <p:nvPr/>
        </p:nvSpPr>
        <p:spPr>
          <a:xfrm>
            <a:off x="731520" y="1508760"/>
            <a:ext cx="5120640" cy="3931920"/>
          </a:xfrm>
          <a:prstGeom prst="roundRect">
            <a:avLst/>
          </a:prstGeom>
          <a:solidFill>
            <a:srgbClr val="16263D"/>
          </a:solidFill>
          <a:ln w="19050">
            <a:solidFill>
              <a:srgbClr val="2D415F"/>
            </a:solidFill>
          </a:ln>
        </p:spPr>
        <p:style>
          <a:lnRef idx="1">
            <a:schemeClr val="accent1"/>
          </a:lnRef>
          <a:fillRef idx="3">
            <a:schemeClr val="accent1"/>
          </a:fillRef>
          <a:effectRef idx="2">
            <a:schemeClr val="accent1"/>
          </a:effectRef>
          <a:fontRef idx="minor">
            <a:schemeClr val="lt1"/>
          </a:fontRef>
        </p:style>
        <p:txBody>
          <a:bodyPr rtlCol="1" anchor="ctr"/>
          <a:lstStyle/>
          <a:p>
            <a:pPr algn="ctr" rtl="1"/>
          </a:p>
        </p:txBody>
      </p:sp>
      <p:sp>
        <p:nvSpPr>
          <p:cNvPr id="7" name="TextBox 6"/>
          <p:cNvSpPr txBox="1"/>
          <p:nvPr/>
        </p:nvSpPr>
        <p:spPr>
          <a:xfrm>
            <a:off x="914400" y="1645920"/>
            <a:ext cx="4754880" cy="3657600"/>
          </a:xfrm>
          <a:prstGeom prst="rect">
            <a:avLst/>
          </a:prstGeom>
          <a:noFill/>
        </p:spPr>
        <p:txBody>
          <a:bodyPr wrap="square" rtlCol="1">
            <a:spAutoFit/>
          </a:bodyPr>
          <a:lstStyle/>
          <a:p>
            <a:pPr algn="r" rtl="1"/>
            <a:r>
              <a:rPr sz="1500" b="1" lang="ar-SA" altLang="en-US">
                <a:solidFill>
                  <a:srgbClr val="D4AF37"/>
                </a:solidFill>
                <a:latin typeface="Arial"/>
                <a:cs typeface="Arial"/>
              </a:rPr>
              <a:t>التوجه المستقبلي:</a:t>
            </a:r>
          </a:p>
          <a:p>
            <a:pPr algn="r" rtl="1">
              <a:spcBef>
                <a:spcPts val="300"/>
              </a:spcBef>
            </a:pPr>
            <a:r>
              <a:rPr sz="1100" b="0" lang="ar-SA" altLang="en-US">
                <a:solidFill>
                  <a:srgbClr val="F1F5F9"/>
                </a:solidFill>
                <a:latin typeface="Arial"/>
                <a:cs typeface="Arial"/>
              </a:rPr>
              <a:t>🔹 استكمال تطوير وحدة معايرة العلاج الإشعاعي.</a:t>
            </a:r>
          </a:p>
          <a:p>
            <a:pPr algn="r" rtl="1">
              <a:spcBef>
                <a:spcPts val="300"/>
              </a:spcBef>
            </a:pPr>
            <a:r>
              <a:rPr sz="1100" b="0" lang="ar-SA" altLang="en-US">
                <a:solidFill>
                  <a:srgbClr val="F1F5F9"/>
                </a:solidFill>
                <a:latin typeface="Arial"/>
                <a:cs typeface="Arial"/>
              </a:rPr>
              <a:t>🔹 تطوير الإجراءات الفنية بالقسم.</a:t>
            </a:r>
          </a:p>
          <a:p>
            <a:pPr algn="r" rtl="1">
              <a:spcBef>
                <a:spcPts val="300"/>
              </a:spcBef>
            </a:pPr>
            <a:r>
              <a:rPr sz="1100" b="0" lang="ar-SA" altLang="en-US">
                <a:solidFill>
                  <a:srgbClr val="F1F5F9"/>
                </a:solidFill>
                <a:latin typeface="Arial"/>
                <a:cs typeface="Arial"/>
              </a:rPr>
              <a:t>🔹 استمرار تحديث شهادات المعايرة.</a:t>
            </a:r>
          </a:p>
          <a:p>
            <a:pPr algn="r" rtl="1">
              <a:spcBef>
                <a:spcPts val="300"/>
              </a:spcBef>
            </a:pPr>
            <a:r>
              <a:rPr sz="1100" b="0" lang="ar-SA" altLang="en-US">
                <a:solidFill>
                  <a:srgbClr val="F1F5F9"/>
                </a:solidFill>
                <a:latin typeface="Arial"/>
                <a:cs typeface="Arial"/>
              </a:rPr>
              <a:t>🔹 التوسع في الأرشفة الإلكترونية.</a:t>
            </a:r>
          </a:p>
          <a:p>
            <a:pPr algn="r" rtl="1">
              <a:spcBef>
                <a:spcPts val="300"/>
              </a:spcBef>
            </a:pPr>
            <a:r>
              <a:rPr sz="1100" b="0" lang="ar-SA" altLang="en-US">
                <a:solidFill>
                  <a:srgbClr val="F1F5F9"/>
                </a:solidFill>
                <a:latin typeface="Arial"/>
                <a:cs typeface="Arial"/>
              </a:rPr>
              <a:t>🔹 تطوير منظومات إدارة البيانات والسجلات.</a:t>
            </a:r>
          </a:p>
          <a:p>
            <a:pPr algn="r" rtl="1">
              <a:spcBef>
                <a:spcPts val="300"/>
              </a:spcBef>
            </a:pPr>
            <a:r>
              <a:rPr sz="1100" b="0" lang="ar-SA" altLang="en-US">
                <a:solidFill>
                  <a:srgbClr val="F1F5F9"/>
                </a:solidFill>
                <a:latin typeface="Arial"/>
                <a:cs typeface="Arial"/>
              </a:rPr>
              <a:t>🔹 تحسين عمليات البحث والاسترجاع والمتابعة.</a:t>
            </a:r>
          </a:p>
          <a:p>
            <a:pPr algn="r" rtl="1">
              <a:spcBef>
                <a:spcPts val="300"/>
              </a:spcBef>
            </a:pPr>
            <a:r>
              <a:rPr sz="1100" b="0" lang="ar-SA" altLang="en-US">
                <a:solidFill>
                  <a:srgbClr val="F1F5F9"/>
                </a:solidFill>
                <a:latin typeface="Arial"/>
                <a:cs typeface="Arial"/>
              </a:rPr>
              <a:t>🔹 مواصلة تطوير العمل وفق متطلبات ISO/IEC 17025.</a:t>
            </a:r>
          </a:p>
        </p:txBody>
      </p:sp>
      <p:sp>
        <p:nvSpPr>
          <p:cNvPr id="8" name="TextBox 7"/>
          <p:cNvSpPr txBox="1"/>
          <p:nvPr/>
        </p:nvSpPr>
        <p:spPr>
          <a:xfrm>
            <a:off x="914400" y="5532120"/>
            <a:ext cx="10362895" cy="457200"/>
          </a:xfrm>
          <a:prstGeom prst="rect">
            <a:avLst/>
          </a:prstGeom>
          <a:noFill/>
        </p:spPr>
        <p:txBody>
          <a:bodyPr wrap="none" rtlCol="1">
            <a:spAutoFit/>
          </a:bodyPr>
          <a:lstStyle/>
          <a:p>
            <a:pPr algn="ctr" rtl="1"/>
            <a:r>
              <a:rPr sz="1400" b="1" lang="ar-SA" altLang="en-US">
                <a:solidFill>
                  <a:srgbClr val="D4AF37"/>
                </a:solidFill>
                <a:latin typeface="Arial"/>
                <a:cs typeface="Arial"/>
              </a:rPr>
              <a:t>شكراً لكم  |  والله ولي التوفيق</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